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401" r:id="rId2"/>
    <p:sldId id="539" r:id="rId3"/>
    <p:sldId id="1192" r:id="rId4"/>
    <p:sldId id="1207" r:id="rId5"/>
    <p:sldId id="1210" r:id="rId6"/>
    <p:sldId id="1211" r:id="rId7"/>
    <p:sldId id="1213" r:id="rId8"/>
    <p:sldId id="1212" r:id="rId9"/>
    <p:sldId id="1214" r:id="rId10"/>
    <p:sldId id="1215" r:id="rId11"/>
    <p:sldId id="1203" r:id="rId12"/>
    <p:sldId id="1194" r:id="rId13"/>
    <p:sldId id="1216" r:id="rId14"/>
    <p:sldId id="1195" r:id="rId15"/>
    <p:sldId id="1217" r:id="rId16"/>
    <p:sldId id="1218" r:id="rId17"/>
    <p:sldId id="1219" r:id="rId18"/>
    <p:sldId id="1196" r:id="rId19"/>
    <p:sldId id="1220" r:id="rId20"/>
    <p:sldId id="1221" r:id="rId21"/>
    <p:sldId id="1230" r:id="rId22"/>
    <p:sldId id="1222" r:id="rId23"/>
    <p:sldId id="1231" r:id="rId24"/>
    <p:sldId id="1232" r:id="rId25"/>
    <p:sldId id="1223" r:id="rId26"/>
    <p:sldId id="1224" r:id="rId27"/>
    <p:sldId id="1233" r:id="rId28"/>
    <p:sldId id="1225" r:id="rId29"/>
    <p:sldId id="1226" r:id="rId30"/>
    <p:sldId id="1227" r:id="rId31"/>
    <p:sldId id="1234" r:id="rId32"/>
    <p:sldId id="1228" r:id="rId33"/>
    <p:sldId id="1229" r:id="rId34"/>
    <p:sldId id="1235" r:id="rId35"/>
    <p:sldId id="1204" r:id="rId36"/>
    <p:sldId id="1197" r:id="rId37"/>
    <p:sldId id="1198" r:id="rId38"/>
    <p:sldId id="1238" r:id="rId39"/>
    <p:sldId id="1239" r:id="rId40"/>
    <p:sldId id="1240" r:id="rId41"/>
    <p:sldId id="1241" r:id="rId42"/>
    <p:sldId id="1205" r:id="rId43"/>
    <p:sldId id="1199" r:id="rId44"/>
    <p:sldId id="1200" r:id="rId45"/>
    <p:sldId id="1242" r:id="rId46"/>
    <p:sldId id="1243" r:id="rId47"/>
    <p:sldId id="1244" r:id="rId48"/>
    <p:sldId id="1245" r:id="rId49"/>
    <p:sldId id="1247" r:id="rId50"/>
    <p:sldId id="1246" r:id="rId51"/>
    <p:sldId id="1248" r:id="rId52"/>
    <p:sldId id="1249" r:id="rId53"/>
    <p:sldId id="1250" r:id="rId54"/>
    <p:sldId id="1251" r:id="rId55"/>
    <p:sldId id="1252" r:id="rId56"/>
    <p:sldId id="1253" r:id="rId57"/>
    <p:sldId id="1254" r:id="rId58"/>
    <p:sldId id="1255" r:id="rId59"/>
    <p:sldId id="1257" r:id="rId60"/>
    <p:sldId id="1258" r:id="rId61"/>
    <p:sldId id="1206" r:id="rId62"/>
    <p:sldId id="1201" r:id="rId63"/>
    <p:sldId id="1202" r:id="rId64"/>
    <p:sldId id="1259" r:id="rId65"/>
    <p:sldId id="1261" r:id="rId66"/>
    <p:sldId id="1262" r:id="rId67"/>
    <p:sldId id="1263" r:id="rId68"/>
    <p:sldId id="1264" r:id="rId69"/>
    <p:sldId id="1265" r:id="rId70"/>
    <p:sldId id="1267" r:id="rId71"/>
    <p:sldId id="1268" r:id="rId72"/>
    <p:sldId id="1269" r:id="rId73"/>
    <p:sldId id="1270" r:id="rId74"/>
    <p:sldId id="1271" r:id="rId75"/>
    <p:sldId id="1272" r:id="rId76"/>
    <p:sldId id="1274" r:id="rId77"/>
    <p:sldId id="1275" r:id="rId78"/>
    <p:sldId id="1276" r:id="rId79"/>
    <p:sldId id="1278" r:id="rId80"/>
    <p:sldId id="1277" r:id="rId81"/>
    <p:sldId id="1279" r:id="rId82"/>
    <p:sldId id="1280" r:id="rId83"/>
    <p:sldId id="1284" r:id="rId84"/>
    <p:sldId id="1282" r:id="rId85"/>
    <p:sldId id="1283" r:id="rId86"/>
    <p:sldId id="1060" r:id="rId8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dec" initials="i" lastIdx="0" clrIdx="0">
    <p:extLst>
      <p:ext uri="{19B8F6BF-5375-455C-9EA6-DF929625EA0E}">
        <p15:presenceInfo xmlns:p15="http://schemas.microsoft.com/office/powerpoint/2012/main" userId="ide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1" autoAdjust="0"/>
    <p:restoredTop sz="96198" autoAdjust="0"/>
  </p:normalViewPr>
  <p:slideViewPr>
    <p:cSldViewPr snapToGrid="0">
      <p:cViewPr varScale="1">
        <p:scale>
          <a:sx n="111" d="100"/>
          <a:sy n="111" d="100"/>
        </p:scale>
        <p:origin x="114" y="9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970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E0C60-68F6-40D9-ABDA-7B7A38D95707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2F44-88DC-4021-9448-3D18B23F4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53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718E3-399E-4EA4-8E70-A129803F9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579033-1C11-4C54-A268-C840CC7CD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75995-22CF-413D-8D22-94949B28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D5D676-A754-4FD7-8366-C80951F3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C6C24-18D2-4BA4-BDC6-03633C85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2470AE-B317-4A9D-B700-C93907E4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411" y="6296932"/>
            <a:ext cx="610589" cy="26418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4B9B22B-822F-4DF6-91C7-AFF3BE82B86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3DCF1B-78CB-4B6E-8CA3-2E3ED39DC023}"/>
              </a:ext>
            </a:extLst>
          </p:cNvPr>
          <p:cNvSpPr/>
          <p:nvPr userDrawn="1"/>
        </p:nvSpPr>
        <p:spPr>
          <a:xfrm>
            <a:off x="0" y="-1"/>
            <a:ext cx="777240" cy="720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AC77B77-703B-4597-8942-528188B5FF17}"/>
              </a:ext>
            </a:extLst>
          </p:cNvPr>
          <p:cNvCxnSpPr/>
          <p:nvPr userDrawn="1"/>
        </p:nvCxnSpPr>
        <p:spPr>
          <a:xfrm>
            <a:off x="-33018" y="623777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">
            <a:extLst>
              <a:ext uri="{FF2B5EF4-FFF2-40B4-BE49-F238E27FC236}">
                <a16:creationId xmlns:a16="http://schemas.microsoft.com/office/drawing/2014/main" id="{1CBCC62A-1D62-4EEC-A20B-72A014565FC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03514" y="98253"/>
            <a:ext cx="7130143" cy="51350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B349018F-3BAA-4097-8610-0E27A90B9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853057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60758CB-CB66-4965-89B5-479F78B312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437904" y="878627"/>
            <a:ext cx="5040085" cy="466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098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33C98-CD6C-427D-8499-0D98DB87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69270A-B1CE-427E-89ED-CCC575D47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5D02ED-C55E-4F9D-B994-95610719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720C3-D5E2-4FFE-8262-44CE7B3C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8513ED-5A20-4D35-AC0A-BFA7EC82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7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DAE87-39A3-4BFC-91CD-A3EECB11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AE0C53-AB54-4986-8919-4E62851CF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C60186-FA97-4BEA-973A-5A6BE2289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5D984D-3788-4499-9A31-E63FE010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11C76B-1CD4-4EEF-87A6-6756E527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47B1BC-E527-4B97-8E78-AB67A829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092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17AF1-7778-40D9-8D74-FAC146B2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2CC3ED-B76D-410D-B46F-63B814CF3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B82E97-FDEE-44F1-AAE2-2C7BECB3D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8F018A-BD83-4046-858E-B609FCD43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985A4E-8F96-4514-8A6C-3D9E8EFC1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0B95CA-7B65-42F9-B8E8-EEB4860B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E450F7-5DAF-454C-B116-DFF34AAB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5C0B84-4ED3-4DB0-B7C7-D924B144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0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631B9-28C1-4FB8-92EA-5BC175CC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9222B8-1693-4C22-9FC6-5F4228D7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2E2559-E83E-43FC-8676-455910D0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EA401-0BEB-4C93-8B7D-09A91AC3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50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560039-91DF-4FDD-80FF-2957A87C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886D58-B753-4FDB-BDA9-4D4BA84A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97C352-7E4D-46FE-8B15-4765890A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9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2D6BA-9A96-40C6-BC8F-87332CE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EA2D9-05AF-4E6A-8227-B73BADCF0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0602B0-5226-4E04-8216-E3E74457C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690220-29D2-47E4-B4FD-32810698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D806F0-C8A2-4E36-84C1-3873B052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D1930C-544C-4AE9-91E2-33A00BBB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92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AE082-E8E8-4705-BBF5-CBC4F366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DC365F-8B34-4C5A-9E0B-8F32D1F24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F8ED1F-341F-4DBC-8964-EBDDB0A26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36B4F-EBAA-4839-A899-14136775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C3A25B-75A3-4D39-9D18-FD9B8B97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BF5F0D-0E1B-46B0-9FD5-6B04569A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35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DCF22-C889-4B94-AB42-0F52FE40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B2515F-7F36-42F3-A428-7AEF688FE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01696-6DBA-47D0-AF68-C1B25736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56BAC-9D13-4B8C-8437-F7A59CA0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770A9-8FA0-47F7-A95A-F2D06C72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26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F5B6AD-6AA5-411E-AF44-9D15A51D2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59E8FF-F7C6-4E78-8594-CB5304DF4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52BB50-8889-4257-BEBE-D8F1139D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F2D7F8-D37F-45A2-9D00-C4565E38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516242-A876-42D4-9674-495D9763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85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3413237F-955C-419F-9FDB-083B434F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411" y="6315457"/>
            <a:ext cx="610589" cy="24566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4B9B22B-822F-4DF6-91C7-AFF3BE82B86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F3E21F-15B6-4141-94AF-5E35DB0D2F28}"/>
              </a:ext>
            </a:extLst>
          </p:cNvPr>
          <p:cNvSpPr/>
          <p:nvPr userDrawn="1"/>
        </p:nvSpPr>
        <p:spPr>
          <a:xfrm>
            <a:off x="0" y="-1"/>
            <a:ext cx="777240" cy="720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332747A-825F-43D5-A78E-09767FED6F45}"/>
              </a:ext>
            </a:extLst>
          </p:cNvPr>
          <p:cNvCxnSpPr/>
          <p:nvPr userDrawn="1"/>
        </p:nvCxnSpPr>
        <p:spPr>
          <a:xfrm>
            <a:off x="-33018" y="623777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CED21C-41B2-41E7-9679-65FD2EE302D1}"/>
              </a:ext>
            </a:extLst>
          </p:cNvPr>
          <p:cNvSpPr/>
          <p:nvPr userDrawn="1"/>
        </p:nvSpPr>
        <p:spPr>
          <a:xfrm>
            <a:off x="694944" y="950629"/>
            <a:ext cx="72000" cy="360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9344E7E-1B09-48FB-9A04-4509C9A6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61E5AA-79B4-4DF8-9A98-4AA4498F6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44" y="1767839"/>
            <a:ext cx="10996312" cy="440912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1E9864C-5B3F-4B6B-8550-D5D1262D6C2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040085" cy="466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53632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5A358AA7-4284-4B7D-892B-A0F8C2B4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411" y="6296932"/>
            <a:ext cx="610589" cy="26418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4B9B22B-822F-4DF6-91C7-AFF3BE82B86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060262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0904158-4E78-43A3-926A-680F759A78B6}"/>
              </a:ext>
            </a:extLst>
          </p:cNvPr>
          <p:cNvSpPr/>
          <p:nvPr userDrawn="1"/>
        </p:nvSpPr>
        <p:spPr>
          <a:xfrm>
            <a:off x="0" y="6586283"/>
            <a:ext cx="12213381" cy="271717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F42948EA-1282-4FE9-8B64-4F4A80224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1411" y="6296932"/>
            <a:ext cx="610589" cy="26418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4B9B22B-822F-4DF6-91C7-AFF3BE82B86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0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mailto:27000@111.111.111.111" TargetMode="Externa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mailto:27000@111.111.111.111" TargetMode="Externa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697558"/>
            <a:ext cx="12192000" cy="3040861"/>
          </a:xfrm>
          <a:prstGeom prst="rect">
            <a:avLst/>
          </a:prstGeom>
          <a:gradFill flip="none" rotWithShape="1">
            <a:gsLst>
              <a:gs pos="0">
                <a:srgbClr val="BCD2DF"/>
              </a:gs>
              <a:gs pos="100000">
                <a:srgbClr val="416585"/>
              </a:gs>
              <a:gs pos="100000">
                <a:srgbClr val="3A3838"/>
              </a:gs>
              <a:gs pos="43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364663" y="2038728"/>
            <a:ext cx="75255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디지털 반도체 설계</a:t>
            </a:r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(Digital Front-End)</a:t>
            </a:r>
          </a:p>
          <a:p>
            <a:pPr algn="r"/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Cadence</a:t>
            </a:r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로 배우는 </a:t>
            </a:r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Arm</a:t>
            </a:r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기반 </a:t>
            </a:r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SoC </a:t>
            </a:r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설계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486E7-1D9F-4454-8A8E-71BE5FC47023}"/>
              </a:ext>
            </a:extLst>
          </p:cNvPr>
          <p:cNvSpPr txBox="1"/>
          <p:nvPr/>
        </p:nvSpPr>
        <p:spPr>
          <a:xfrm>
            <a:off x="8673663" y="3507345"/>
            <a:ext cx="3216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</a:t>
            </a:r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장 반도체설계</a:t>
            </a:r>
          </a:p>
        </p:txBody>
      </p:sp>
    </p:spTree>
    <p:extLst>
      <p:ext uri="{BB962C8B-B14F-4D97-AF65-F5344CB8AC3E}">
        <p14:creationId xmlns:p14="http://schemas.microsoft.com/office/powerpoint/2010/main" val="3162367902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3015836" y="1762290"/>
            <a:ext cx="5939188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/>
              <a:t>반도체 설계 소개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2105750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반도체 설계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sz="2400" b="1" dirty="0"/>
              <a:t>반도체 설계 방식의 구분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BC1AAF6-13BA-406C-15D6-B6F2E760F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44" y="1767839"/>
            <a:ext cx="10996312" cy="4409123"/>
          </a:xfrm>
        </p:spPr>
        <p:txBody>
          <a:bodyPr/>
          <a:lstStyle/>
          <a:p>
            <a:r>
              <a:rPr lang="ko-KR" altLang="en-US" dirty="0"/>
              <a:t>반도체설계는 구현 방법에 따라 세 가지 방식으로 구분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Full Custom </a:t>
            </a:r>
            <a:r>
              <a:rPr lang="ko-KR" altLang="en-US" b="1" dirty="0"/>
              <a:t>디자인 </a:t>
            </a:r>
            <a:r>
              <a:rPr lang="en-US" altLang="ko-KR" dirty="0"/>
              <a:t>: </a:t>
            </a:r>
            <a:r>
              <a:rPr lang="ko-KR" altLang="en-US" dirty="0"/>
              <a:t>스키매틱과 레이아웃 작업을 완전히 비어 있는 화면에서 시작하여 </a:t>
            </a:r>
            <a:r>
              <a:rPr lang="en-US" altLang="ko-KR" dirty="0"/>
              <a:t>100% </a:t>
            </a:r>
            <a:r>
              <a:rPr lang="ko-KR" altLang="en-US" dirty="0"/>
              <a:t>직접 진행하는 방식 </a:t>
            </a:r>
            <a:endParaRPr lang="en-US" altLang="ko-KR" dirty="0"/>
          </a:p>
          <a:p>
            <a:endParaRPr lang="en-US" altLang="ko-KR" b="1" dirty="0"/>
          </a:p>
          <a:p>
            <a:r>
              <a:rPr lang="en-US" altLang="ko-KR" b="1" dirty="0"/>
              <a:t>Cell Based </a:t>
            </a:r>
            <a:r>
              <a:rPr lang="ko-KR" altLang="en-US" b="1" dirty="0"/>
              <a:t>디자인 </a:t>
            </a:r>
            <a:r>
              <a:rPr lang="en-US" altLang="ko-KR" dirty="0"/>
              <a:t>: </a:t>
            </a:r>
            <a:r>
              <a:rPr lang="ko-KR" altLang="en-US" dirty="0"/>
              <a:t>공정사가 제공하는 미리 만들어진 셀을 이용하여 디자인하는 방식</a:t>
            </a:r>
            <a:endParaRPr lang="en-US" altLang="ko-KR" dirty="0"/>
          </a:p>
          <a:p>
            <a:endParaRPr lang="en-US" altLang="ko-KR" b="1" dirty="0"/>
          </a:p>
          <a:p>
            <a:r>
              <a:rPr lang="en-US" altLang="ko-KR" b="1" dirty="0"/>
              <a:t>Mixed </a:t>
            </a:r>
            <a:r>
              <a:rPr lang="ko-KR" altLang="en-US" b="1" dirty="0"/>
              <a:t>디자인 </a:t>
            </a:r>
            <a:r>
              <a:rPr lang="en-US" altLang="ko-KR" dirty="0"/>
              <a:t>: Full Custom </a:t>
            </a:r>
            <a:r>
              <a:rPr lang="ko-KR" altLang="en-US" dirty="0"/>
              <a:t>과 </a:t>
            </a:r>
            <a:r>
              <a:rPr lang="en-US" altLang="ko-KR" dirty="0"/>
              <a:t>Cell Based </a:t>
            </a:r>
            <a:r>
              <a:rPr lang="ko-KR" altLang="en-US" dirty="0"/>
              <a:t>디자인을 하나의 칩 안에 모두 구현하는 방식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커스텀 </a:t>
            </a:r>
            <a:r>
              <a:rPr lang="en-US" altLang="ko-KR" dirty="0">
                <a:solidFill>
                  <a:srgbClr val="FF0000"/>
                </a:solidFill>
              </a:rPr>
              <a:t>(Custom) </a:t>
            </a:r>
            <a:r>
              <a:rPr lang="ko-KR" altLang="en-US" dirty="0"/>
              <a:t>이라는 단어는 일상생활에서도 독자적으로 만든 제품이나 독특하게 한정하여 만들어낸 사물 등에 붙이는 표현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821146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2B6C-4CA1-D16B-BBCD-7923DF5E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22E02-EBD4-8651-067C-20CAD834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반도체 설계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2C7BF1-409E-B48E-20A0-D4FBB265EDD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Full Custom </a:t>
            </a:r>
            <a:r>
              <a:rPr lang="ko-KR" altLang="en-US" sz="2400" b="1" dirty="0"/>
              <a:t>디자인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3471DF6-1AB0-C5FE-9C4B-8B52875A8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767839"/>
            <a:ext cx="7504387" cy="4409123"/>
          </a:xfrm>
        </p:spPr>
        <p:txBody>
          <a:bodyPr/>
          <a:lstStyle/>
          <a:p>
            <a:r>
              <a:rPr lang="ko-KR" altLang="en-US" b="1" dirty="0"/>
              <a:t>정의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아날로그 디자인 시</a:t>
            </a:r>
            <a:r>
              <a:rPr lang="en-US" altLang="ko-KR" dirty="0"/>
              <a:t>,</a:t>
            </a:r>
            <a:r>
              <a:rPr lang="ko-KR" altLang="en-US" dirty="0"/>
              <a:t> 스키매틱</a:t>
            </a:r>
            <a:r>
              <a:rPr lang="en-US" altLang="ko-KR" dirty="0"/>
              <a:t>(Schematic)</a:t>
            </a:r>
            <a:r>
              <a:rPr lang="ko-KR" altLang="en-US" dirty="0"/>
              <a:t>과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</a:t>
            </a:r>
            <a:r>
              <a:rPr lang="ko-KR" altLang="en-US" dirty="0"/>
              <a:t>레이아웃</a:t>
            </a:r>
            <a:r>
              <a:rPr lang="en-US" altLang="ko-KR" dirty="0"/>
              <a:t>(Layout) </a:t>
            </a:r>
            <a:r>
              <a:rPr lang="ko-KR" altLang="en-US" dirty="0"/>
              <a:t>작업을 완전히 빈 화면에서 시작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특징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소자를 하나씩 불러오고</a:t>
            </a:r>
            <a:r>
              <a:rPr lang="en-US" altLang="ko-KR" dirty="0"/>
              <a:t>(instance), </a:t>
            </a:r>
          </a:p>
          <a:p>
            <a:pPr marL="0" indent="0">
              <a:buNone/>
            </a:pPr>
            <a:r>
              <a:rPr lang="en-US" altLang="ko-KR" dirty="0"/>
              <a:t>           </a:t>
            </a:r>
            <a:r>
              <a:rPr lang="ko-KR" altLang="en-US" dirty="0"/>
              <a:t>선을 연결하며</a:t>
            </a:r>
            <a:r>
              <a:rPr lang="en-US" altLang="ko-KR" dirty="0"/>
              <a:t>, </a:t>
            </a:r>
            <a:r>
              <a:rPr lang="ko-KR" altLang="en-US" dirty="0"/>
              <a:t>수정하는 작업을 반복적으로 진행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모든 과정이 </a:t>
            </a:r>
            <a:r>
              <a:rPr lang="en-US" altLang="ko-KR" dirty="0"/>
              <a:t>100% </a:t>
            </a:r>
            <a:r>
              <a:rPr lang="ko-KR" altLang="en-US" dirty="0"/>
              <a:t>커스텀하기 때문에 </a:t>
            </a:r>
            <a:r>
              <a:rPr lang="en-US" altLang="ko-KR" b="1" dirty="0"/>
              <a:t>Full-Custom</a:t>
            </a:r>
            <a:r>
              <a:rPr lang="ko-KR" altLang="en-US" dirty="0"/>
              <a:t>이라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최근 용어 </a:t>
            </a:r>
            <a:r>
              <a:rPr lang="en-US" altLang="ko-KR" dirty="0"/>
              <a:t>: Custom IC </a:t>
            </a:r>
            <a:r>
              <a:rPr lang="ko-KR" altLang="en-US" dirty="0"/>
              <a:t>라는 용어도 함께 사용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B81D89-A7DC-9B6C-6A69-031B6BBB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497" y="1316998"/>
            <a:ext cx="3886902" cy="48599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780929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972B0-2680-BCD5-3241-28E44A95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722FC-EDD8-3446-F936-B3D906A44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반도체 설계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CB58A4-7172-FB5F-0A5A-25D594ACD00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485171" cy="466312"/>
          </a:xfrm>
        </p:spPr>
        <p:txBody>
          <a:bodyPr/>
          <a:lstStyle/>
          <a:p>
            <a:r>
              <a:rPr lang="en-US" altLang="ko-KR" sz="2400" b="1" dirty="0"/>
              <a:t>Full Custom </a:t>
            </a:r>
            <a:r>
              <a:rPr lang="ko-KR" altLang="en-US" sz="2400" b="1" dirty="0"/>
              <a:t>디자인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예시</a:t>
            </a:r>
            <a:r>
              <a:rPr lang="en-US" altLang="ko-KR" sz="2400" b="1" dirty="0"/>
              <a:t>) – Full </a:t>
            </a:r>
            <a:r>
              <a:rPr lang="ko-KR" altLang="en-US" sz="2400" b="1" dirty="0"/>
              <a:t>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51990C-741A-77B8-8F9A-A2BD60905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490" y="1610030"/>
            <a:ext cx="6194261" cy="5149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877494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ED7E-B148-C1D2-A407-DE7D17BEC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0E7AC-5451-FAB4-D7E6-DF14721B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반도체 설계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4D054F-8FD7-C097-7C4A-D86EEEFEB40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Cell Based </a:t>
            </a:r>
            <a:r>
              <a:rPr lang="ko-KR" altLang="en-US" sz="2400" b="1" dirty="0"/>
              <a:t>디자인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B489994-0FA2-2194-86A6-C02591595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767839"/>
            <a:ext cx="7504387" cy="4409123"/>
          </a:xfrm>
        </p:spPr>
        <p:txBody>
          <a:bodyPr/>
          <a:lstStyle/>
          <a:p>
            <a:r>
              <a:rPr lang="ko-KR" altLang="en-US" b="1" dirty="0"/>
              <a:t>정의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셀을 그대로 이용하는 디자인으로</a:t>
            </a:r>
            <a:r>
              <a:rPr lang="en-US" altLang="ko-KR" dirty="0"/>
              <a:t>, </a:t>
            </a:r>
            <a:r>
              <a:rPr lang="ko-KR" altLang="en-US" dirty="0"/>
              <a:t>미리 만들어진 셀을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</a:t>
            </a:r>
            <a:r>
              <a:rPr lang="ko-KR" altLang="en-US" dirty="0"/>
              <a:t>이용하여 디자인하는 방식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특징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설계자의 아이디어를 </a:t>
            </a:r>
            <a:r>
              <a:rPr lang="en-US" altLang="ko-KR" dirty="0"/>
              <a:t>Verilog, System Verilog </a:t>
            </a:r>
            <a:r>
              <a:rPr lang="ko-KR" altLang="en-US" dirty="0"/>
              <a:t>등의 </a:t>
            </a:r>
            <a:r>
              <a:rPr lang="en-US" altLang="ko-KR" dirty="0"/>
              <a:t>HDL(Hardware Description Language) </a:t>
            </a:r>
            <a:r>
              <a:rPr lang="ko-KR" altLang="en-US" dirty="0"/>
              <a:t>언어로 기술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이를 디지털 논리 게이트로 변환하는 컴파일 과정을 거침 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en-US" b="1" dirty="0"/>
              <a:t>장점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유연하게 코드 수정이 가능 </a:t>
            </a:r>
            <a:endParaRPr lang="en-US" altLang="ko-KR" dirty="0"/>
          </a:p>
          <a:p>
            <a:pPr lvl="1"/>
            <a:r>
              <a:rPr lang="ko-KR" altLang="en-US" dirty="0"/>
              <a:t>논리 </a:t>
            </a:r>
            <a:r>
              <a:rPr lang="en-US" altLang="ko-KR" dirty="0"/>
              <a:t>, </a:t>
            </a:r>
            <a:r>
              <a:rPr lang="ko-KR" altLang="en-US" dirty="0"/>
              <a:t>산술 계산 회로 뿐 아니라 복잡한 연산을 할 수 있는 구조의 설계 가능 </a:t>
            </a:r>
            <a:endParaRPr lang="en-US" altLang="ko-KR" dirty="0"/>
          </a:p>
          <a:p>
            <a:pPr lvl="1"/>
            <a:r>
              <a:rPr lang="ko-KR" altLang="en-US" dirty="0"/>
              <a:t>하드웨어 가속기와 같은 큰 로직을 만드는 데 적합 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DDC398-F591-4FD3-1474-1DFA4005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408" y="191594"/>
            <a:ext cx="3340812" cy="6348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365258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4B18D-B036-EA1B-7F06-EDCE1314B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2AC83-B083-3BE6-D7AC-F3942D45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반도체 설계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A1193B-1A18-5E1A-FBC9-3992FE20A72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6304978" cy="466312"/>
          </a:xfrm>
        </p:spPr>
        <p:txBody>
          <a:bodyPr/>
          <a:lstStyle/>
          <a:p>
            <a:r>
              <a:rPr lang="en-US" altLang="ko-KR" sz="2400" b="1" dirty="0"/>
              <a:t>Cell Based </a:t>
            </a:r>
            <a:r>
              <a:rPr lang="ko-KR" altLang="en-US" sz="2400" b="1" dirty="0"/>
              <a:t>디자인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예시</a:t>
            </a:r>
            <a:r>
              <a:rPr lang="en-US" altLang="ko-KR" sz="2400" b="1" dirty="0"/>
              <a:t>) – Full </a:t>
            </a:r>
            <a:r>
              <a:rPr lang="ko-KR" altLang="en-US" sz="2400" b="1" dirty="0"/>
              <a:t>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F200C6-768C-47B3-374E-F12852A09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65" y="1462389"/>
            <a:ext cx="6652293" cy="529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2930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2B0A-CD6F-ACA3-75F0-9B0E970F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6264F-9E02-854B-393A-C48AA97F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반도체 설계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26911B-7172-E954-FF05-D7520ED30CC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Mixed </a:t>
            </a:r>
            <a:r>
              <a:rPr lang="ko-KR" altLang="en-US" sz="2400" b="1" dirty="0"/>
              <a:t>디자인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B7A13A6-F9E6-F91F-2BEF-B6BCCE763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r>
              <a:rPr lang="ko-KR" altLang="en-US" b="1" dirty="0"/>
              <a:t>정의</a:t>
            </a:r>
            <a:r>
              <a:rPr lang="ko-KR" altLang="en-US" dirty="0"/>
              <a:t> </a:t>
            </a:r>
            <a:r>
              <a:rPr lang="en-US" altLang="ko-KR" dirty="0"/>
              <a:t>: Full Custom </a:t>
            </a:r>
            <a:r>
              <a:rPr lang="ko-KR" altLang="en-US" dirty="0"/>
              <a:t>및 </a:t>
            </a:r>
            <a:r>
              <a:rPr lang="en-US" altLang="ko-KR" dirty="0"/>
              <a:t>Cell Based </a:t>
            </a:r>
            <a:r>
              <a:rPr lang="ko-KR" altLang="en-US" dirty="0"/>
              <a:t>디자인을 하나의 칩 안에 모두 넣은 형태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예시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하나의 칩 안에서 아날로그 회로는 </a:t>
            </a:r>
            <a:r>
              <a:rPr lang="en-US" altLang="ko-KR" dirty="0"/>
              <a:t>Full Custom </a:t>
            </a:r>
            <a:r>
              <a:rPr lang="ko-KR" altLang="en-US" dirty="0"/>
              <a:t>방식</a:t>
            </a:r>
            <a:r>
              <a:rPr lang="en-US" altLang="ko-KR" dirty="0"/>
              <a:t>, </a:t>
            </a:r>
            <a:r>
              <a:rPr lang="ko-KR" altLang="en-US" dirty="0"/>
              <a:t>디지털 제어 블록은 </a:t>
            </a:r>
            <a:r>
              <a:rPr lang="en-US" altLang="ko-KR" dirty="0"/>
              <a:t>Cell Based </a:t>
            </a:r>
          </a:p>
          <a:p>
            <a:pPr marL="0" indent="0">
              <a:buNone/>
            </a:pPr>
            <a:r>
              <a:rPr lang="en-US" altLang="ko-KR" dirty="0"/>
              <a:t>           </a:t>
            </a:r>
            <a:r>
              <a:rPr lang="ko-KR" altLang="en-US" dirty="0"/>
              <a:t>방식으로 구성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활용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최근 고성능이 요구되는 </a:t>
            </a:r>
            <a:r>
              <a:rPr lang="en-US" altLang="ko-KR" dirty="0"/>
              <a:t>SoC(System On Chip) </a:t>
            </a:r>
            <a:r>
              <a:rPr lang="ko-KR" altLang="en-US" dirty="0"/>
              <a:t>칩과 </a:t>
            </a:r>
            <a:r>
              <a:rPr lang="en-US" altLang="ko-KR" dirty="0"/>
              <a:t>AI </a:t>
            </a:r>
            <a:r>
              <a:rPr lang="ko-KR" altLang="en-US" dirty="0"/>
              <a:t>를 다루는 칩들이 새로운 시장을 개척</a:t>
            </a:r>
            <a:r>
              <a:rPr lang="en-US" altLang="ko-KR" dirty="0"/>
              <a:t> </a:t>
            </a:r>
            <a:r>
              <a:rPr lang="ko-KR" altLang="en-US" dirty="0"/>
              <a:t>중</a:t>
            </a:r>
            <a:endParaRPr lang="en-US" altLang="ko-KR" dirty="0"/>
          </a:p>
          <a:p>
            <a:pPr lvl="1"/>
            <a:r>
              <a:rPr lang="ko-KR" altLang="en-US" dirty="0"/>
              <a:t>따라서 더 많은 관심을 받는 설계방식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특징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많은 기능 회로들을 구현해야 하고 많은 블록을 유기적으로 연결하기 때문에 </a:t>
            </a:r>
            <a:r>
              <a:rPr lang="ko-KR" altLang="en-US" b="1" dirty="0"/>
              <a:t>기술적 난이도가 가장 높은 방식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18851571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B495-05C2-9A4D-C8C2-3B311ED6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6D20C-67DE-CDA9-8976-8E924CFF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반도체 설계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88D99D-3B9B-735B-B95E-3DA26978908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6304978" cy="466312"/>
          </a:xfrm>
        </p:spPr>
        <p:txBody>
          <a:bodyPr/>
          <a:lstStyle/>
          <a:p>
            <a:r>
              <a:rPr lang="en-US" altLang="ko-KR" sz="2400" b="1" dirty="0"/>
              <a:t>Mixed </a:t>
            </a:r>
            <a:r>
              <a:rPr lang="ko-KR" altLang="en-US" sz="2400" b="1" dirty="0"/>
              <a:t>디자인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예시</a:t>
            </a:r>
            <a:r>
              <a:rPr lang="en-US" altLang="ko-KR" sz="2400" b="1" dirty="0"/>
              <a:t>) – Full </a:t>
            </a:r>
            <a:r>
              <a:rPr lang="ko-KR" altLang="en-US" sz="2400" b="1" dirty="0"/>
              <a:t>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528424-226A-F431-AF21-A026913AD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070" y="1755815"/>
            <a:ext cx="8203860" cy="45825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4747794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0859-53FD-F340-A513-D0C930F5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BE32C-7974-FF59-27A8-CAAAE819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반도체 설계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E60A9-FCFA-CB60-E1D3-43BED7DD1F6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sz="2400" b="1" dirty="0"/>
              <a:t>설계 방식 정리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908AE7CB-CF1B-E9E7-4145-18F2F90EA8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0281017"/>
              </p:ext>
            </p:extLst>
          </p:nvPr>
        </p:nvGraphicFramePr>
        <p:xfrm>
          <a:off x="597694" y="1537071"/>
          <a:ext cx="10996612" cy="50046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24789">
                  <a:extLst>
                    <a:ext uri="{9D8B030D-6E8A-4147-A177-3AD203B41FA5}">
                      <a16:colId xmlns:a16="http://schemas.microsoft.com/office/drawing/2014/main" val="1307577349"/>
                    </a:ext>
                  </a:extLst>
                </a:gridCol>
                <a:gridCol w="9071823">
                  <a:extLst>
                    <a:ext uri="{9D8B030D-6E8A-4147-A177-3AD203B41FA5}">
                      <a16:colId xmlns:a16="http://schemas.microsoft.com/office/drawing/2014/main" val="196175334"/>
                    </a:ext>
                  </a:extLst>
                </a:gridCol>
              </a:tblGrid>
              <a:tr h="4914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설계방식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특징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154553354"/>
                  </a:ext>
                </a:extLst>
              </a:tr>
              <a:tr h="14890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Full Custom 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디자인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모든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Circuit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을 설계자가 직접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Design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Cell Library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를 사용하지 않음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공정 특성에 따라 성능이 변하는 아날로그나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RF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설계에 주로 사용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장점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: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우수한 성능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적은 비용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면적 감소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010096646"/>
                  </a:ext>
                </a:extLst>
              </a:tr>
              <a:tr h="14890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Cell Based 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디자인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공정사가 제공하는 표준 셀 라이브러리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(Standard Cell)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와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IO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셀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메모리를 사용하는 설계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디지털 설계에 주로 사용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HDL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언어를 이용한 큰 규모의 칩 설계에 적합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002559962"/>
                  </a:ext>
                </a:extLst>
              </a:tr>
              <a:tr h="11107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Mixed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디자인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Full-Custom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과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Cell-Based Design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을 혼용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칩에 많은 복합적인 기능을 넣을 수 있음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just" fontAlgn="base" latinLnBrk="1">
                        <a:lnSpc>
                          <a:spcPct val="16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</a:rPr>
                        <a:t>기술적 난이도가 가장 높음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53543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899024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3015836" y="1762290"/>
            <a:ext cx="5939188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/>
              <a:t>반도체 설계 방법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30698223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21F5DC41-0D08-8B20-FC88-DC928B7FEB82}"/>
              </a:ext>
            </a:extLst>
          </p:cNvPr>
          <p:cNvSpPr txBox="1">
            <a:spLocks/>
          </p:cNvSpPr>
          <p:nvPr/>
        </p:nvSpPr>
        <p:spPr>
          <a:xfrm>
            <a:off x="852567" y="950629"/>
            <a:ext cx="5040085" cy="466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설계란</a:t>
            </a:r>
            <a:r>
              <a:rPr lang="en-US" altLang="ko-KR" sz="2400" b="1" dirty="0"/>
              <a:t>?</a:t>
            </a:r>
            <a:endParaRPr lang="ko-KR" altLang="en-US" sz="2400" b="1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587178A-4E17-3751-D4AD-2582E9EED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r>
              <a:rPr lang="ko-KR" altLang="en-US" dirty="0"/>
              <a:t>좋은 아이디어를 머릿속에서 상상만으로 그치는 것이 아니라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실제로 그려보거나 만들어보는 구현이 가장 중요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설계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최초에 회로를 그림이나 언어로 만들면 시뮬레이션을 반드시 진행 </a:t>
            </a:r>
            <a:endParaRPr lang="en-US" altLang="ko-KR" dirty="0"/>
          </a:p>
          <a:p>
            <a:pPr lvl="1"/>
            <a:r>
              <a:rPr lang="ko-KR" altLang="en-US" dirty="0"/>
              <a:t>입력을 넣은 뒤 회로의 출력을 확인 했을 때 예상하는 값이거나 비슷한 수준의 결과로 확인이 된다면 그 설계는 성공한 것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</a:rPr>
              <a:t>반도체 </a:t>
            </a:r>
            <a:r>
              <a:rPr lang="ko-KR" altLang="en-US" b="1" dirty="0"/>
              <a:t>설계란</a:t>
            </a:r>
            <a:r>
              <a:rPr lang="en-US" altLang="ko-KR" b="1" dirty="0"/>
              <a:t>?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회로의 입력과 출력은 고정하고 회로의 모습을 실제적인 모습으로 구현해 나가는 것에 집중 </a:t>
            </a:r>
            <a:endParaRPr lang="en-US" altLang="ko-KR" dirty="0"/>
          </a:p>
          <a:p>
            <a:pPr lvl="1"/>
            <a:r>
              <a:rPr lang="ko-KR" altLang="en-US" dirty="0"/>
              <a:t>최종적인 모습이 완성되면 결과 파일로 저장하여 공정사</a:t>
            </a:r>
            <a:r>
              <a:rPr lang="en-US" altLang="ko-KR" dirty="0"/>
              <a:t>(Foundry) </a:t>
            </a:r>
            <a:r>
              <a:rPr lang="ko-KR" altLang="en-US" dirty="0"/>
              <a:t>에 전달하는 것이 설계의 마무리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73637036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F0C4D-70B5-B7B9-F5FF-866E9CBC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AF17F-3029-8C8B-AF9F-EE2D687B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8D92691C-135B-40D5-2ED5-6BA467E5BC40}"/>
              </a:ext>
            </a:extLst>
          </p:cNvPr>
          <p:cNvSpPr txBox="1">
            <a:spLocks/>
          </p:cNvSpPr>
          <p:nvPr/>
        </p:nvSpPr>
        <p:spPr>
          <a:xfrm>
            <a:off x="852567" y="950629"/>
            <a:ext cx="5040085" cy="466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설계란</a:t>
            </a:r>
            <a:r>
              <a:rPr lang="en-US" altLang="ko-KR" sz="2400" b="1" dirty="0"/>
              <a:t>?</a:t>
            </a:r>
            <a:endParaRPr lang="ko-KR" altLang="en-US" sz="2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2DDAAB-169E-0E3F-10B9-BCD2DD89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878296"/>
            <a:ext cx="8248978" cy="370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1051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1.2.1 </a:t>
            </a:r>
            <a:r>
              <a:rPr lang="ko-KR" altLang="en-US" sz="2400" b="1" dirty="0"/>
              <a:t>아날로그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610071-4B49-9F51-5799-E0BAD7EB1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r>
              <a:rPr lang="ko-KR" altLang="en-US" dirty="0"/>
              <a:t>아날로그 반도체 설계 방법 </a:t>
            </a:r>
            <a:endParaRPr lang="en-US" altLang="ko-KR" dirty="0"/>
          </a:p>
          <a:p>
            <a:pPr lvl="1"/>
            <a:r>
              <a:rPr lang="ko-KR" altLang="en-US" dirty="0"/>
              <a:t>전반부 </a:t>
            </a:r>
            <a:r>
              <a:rPr lang="en-US" altLang="ko-KR" dirty="0"/>
              <a:t>(Front-End): </a:t>
            </a:r>
            <a:r>
              <a:rPr lang="ko-KR" altLang="en-US" dirty="0"/>
              <a:t>회로를 심볼 </a:t>
            </a:r>
            <a:r>
              <a:rPr lang="en-US" altLang="ko-KR" dirty="0"/>
              <a:t>( </a:t>
            </a:r>
            <a:r>
              <a:rPr lang="ko-KR" altLang="en-US" dirty="0"/>
              <a:t>그림 </a:t>
            </a:r>
            <a:r>
              <a:rPr lang="en-US" altLang="ko-KR" dirty="0"/>
              <a:t>) </a:t>
            </a:r>
            <a:r>
              <a:rPr lang="ko-KR" altLang="en-US" dirty="0"/>
              <a:t>으로 구현한 뒤 시뮬레이션을 하는 단계 </a:t>
            </a:r>
            <a:endParaRPr lang="en-US" altLang="ko-KR" dirty="0"/>
          </a:p>
          <a:p>
            <a:pPr lvl="1"/>
            <a:r>
              <a:rPr lang="ko-KR" altLang="en-US" dirty="0"/>
              <a:t>후반부 </a:t>
            </a:r>
            <a:r>
              <a:rPr lang="en-US" altLang="ko-KR" dirty="0"/>
              <a:t>(Back-End): </a:t>
            </a:r>
            <a:r>
              <a:rPr lang="ko-KR" altLang="en-US" dirty="0"/>
              <a:t>실제의 모습인 레이아웃 </a:t>
            </a:r>
            <a:r>
              <a:rPr lang="en-US" altLang="ko-KR" dirty="0"/>
              <a:t>(Layout) </a:t>
            </a:r>
            <a:r>
              <a:rPr lang="ko-KR" altLang="en-US" dirty="0"/>
              <a:t>으로 구현한 뒤 시뮬레이션을 하는 단계</a:t>
            </a:r>
            <a:endParaRPr lang="en-US" altLang="ko-KR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4D21C5A-13E1-B711-0FB8-288C81A27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649" y="2698792"/>
            <a:ext cx="6810702" cy="41592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0135370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D6A2-C611-58E5-118D-33FD597B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8AFFB-9D27-E6A4-78C4-F71D980C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D6367E-DDC0-9B1B-73CC-37CD0CB8ADC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1.2.1 </a:t>
            </a:r>
            <a:r>
              <a:rPr lang="ko-KR" altLang="en-US" sz="2400" b="1" dirty="0"/>
              <a:t>아날로그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75C02-8AAA-8C47-6B7F-2A3A4234E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(1) </a:t>
            </a:r>
            <a:r>
              <a:rPr lang="ko-KR" altLang="en-US" dirty="0"/>
              <a:t>칩의 스펙 설정 </a:t>
            </a:r>
            <a:endParaRPr lang="en-US" altLang="ko-KR" dirty="0"/>
          </a:p>
          <a:p>
            <a:pPr lvl="1"/>
            <a:r>
              <a:rPr lang="ko-KR" altLang="en-US" dirty="0"/>
              <a:t>칩의 기능</a:t>
            </a:r>
            <a:r>
              <a:rPr lang="en-US" altLang="ko-KR" dirty="0"/>
              <a:t>, </a:t>
            </a:r>
            <a:r>
              <a:rPr lang="ko-KR" altLang="en-US" dirty="0"/>
              <a:t>동작 주파수</a:t>
            </a:r>
            <a:r>
              <a:rPr lang="en-US" altLang="ko-KR" dirty="0"/>
              <a:t>, Area, </a:t>
            </a:r>
            <a:r>
              <a:rPr lang="ko-KR" altLang="en-US" dirty="0"/>
              <a:t>증폭률</a:t>
            </a:r>
            <a:r>
              <a:rPr lang="en-US" altLang="ko-KR" dirty="0"/>
              <a:t>, </a:t>
            </a:r>
            <a:r>
              <a:rPr lang="ko-KR" altLang="en-US" dirty="0"/>
              <a:t>노이즈 등 다양한 요소를 통합적으로 고려하여 스펙을 설정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과도한 스펙은 설계를 매우 어렵게 만들 수 있으므로</a:t>
            </a:r>
            <a:r>
              <a:rPr lang="en-US" altLang="ko-KR" dirty="0"/>
              <a:t>, </a:t>
            </a:r>
            <a:r>
              <a:rPr lang="ko-KR" altLang="en-US" dirty="0"/>
              <a:t>지나친 오버 스펙이 되지 않도록 설정하는 것이 중요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설정한 스펙은 설계 마지막까지 수정하지 않는 </a:t>
            </a:r>
            <a:r>
              <a:rPr lang="ko-KR" altLang="en-US"/>
              <a:t>것이 원칙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(2) Schematic </a:t>
            </a:r>
            <a:r>
              <a:rPr lang="ko-KR" altLang="en-US" dirty="0"/>
              <a:t>작성 </a:t>
            </a:r>
            <a:endParaRPr lang="en-US" altLang="ko-KR" dirty="0"/>
          </a:p>
          <a:p>
            <a:pPr lvl="1"/>
            <a:r>
              <a:rPr lang="en-US" altLang="ko-KR" dirty="0"/>
              <a:t>CADENCE </a:t>
            </a:r>
            <a:r>
              <a:rPr lang="ko-KR" altLang="en-US" dirty="0"/>
              <a:t>사의 </a:t>
            </a:r>
            <a:r>
              <a:rPr lang="en-US" altLang="ko-KR" dirty="0"/>
              <a:t>Composer </a:t>
            </a:r>
            <a:r>
              <a:rPr lang="ko-KR" altLang="en-US" dirty="0"/>
              <a:t>툴을 이용하여 </a:t>
            </a:r>
            <a:r>
              <a:rPr lang="en-US" altLang="ko-KR" dirty="0"/>
              <a:t>Schematic </a:t>
            </a:r>
            <a:r>
              <a:rPr lang="ko-KR" altLang="en-US" dirty="0"/>
              <a:t>을 구현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PDK </a:t>
            </a:r>
            <a:r>
              <a:rPr lang="ko-KR" altLang="en-US" dirty="0"/>
              <a:t>에 들어있는 다양한 소자들을 사용하므로</a:t>
            </a:r>
            <a:r>
              <a:rPr lang="en-US" altLang="ko-KR" dirty="0"/>
              <a:t>, </a:t>
            </a:r>
            <a:r>
              <a:rPr lang="ko-KR" altLang="en-US" dirty="0"/>
              <a:t>공정 정보를 이해한 상태에서 작업하는 것이 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2947401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A621F-25B5-AFFF-0C95-1A92A69E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2E6FDE-E43C-0AD3-3D33-F701B7989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84884E-9AD9-2E29-DF3B-4558A6E8DB8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1.2.1 </a:t>
            </a:r>
            <a:r>
              <a:rPr lang="ko-KR" altLang="en-US" sz="2400" b="1" dirty="0"/>
              <a:t>아날로그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623CF-8372-BD8C-312A-01D37B61F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(3) Pre-layout </a:t>
            </a:r>
            <a:r>
              <a:rPr lang="ko-KR" altLang="en-US" dirty="0"/>
              <a:t>시뮬레이션 </a:t>
            </a:r>
            <a:endParaRPr lang="en-US" altLang="ko-KR" dirty="0"/>
          </a:p>
          <a:p>
            <a:pPr lvl="1"/>
            <a:r>
              <a:rPr lang="ko-KR" altLang="en-US" dirty="0"/>
              <a:t>작성한 </a:t>
            </a:r>
            <a:r>
              <a:rPr lang="en-US" altLang="ko-KR" dirty="0"/>
              <a:t>Schematic </a:t>
            </a:r>
            <a:r>
              <a:rPr lang="ko-KR" altLang="en-US" dirty="0"/>
              <a:t>에 입력을 넣고 출력 결과를 확인하는 방식의 시뮬레이션 </a:t>
            </a:r>
            <a:endParaRPr lang="en-US" altLang="ko-KR" dirty="0"/>
          </a:p>
          <a:p>
            <a:pPr lvl="1"/>
            <a:r>
              <a:rPr lang="en-US" altLang="ko-KR" dirty="0"/>
              <a:t>CADENCE Spectre </a:t>
            </a:r>
            <a:r>
              <a:rPr lang="ko-KR" altLang="en-US" dirty="0"/>
              <a:t>툴을 이용하여 </a:t>
            </a:r>
            <a:r>
              <a:rPr lang="en-US" altLang="ko-KR" dirty="0"/>
              <a:t>Time &amp; Frequency </a:t>
            </a:r>
            <a:r>
              <a:rPr lang="ko-KR" altLang="en-US" dirty="0"/>
              <a:t>및 </a:t>
            </a:r>
            <a:r>
              <a:rPr lang="en-US" altLang="ko-KR" dirty="0"/>
              <a:t>AC, Transient, DC </a:t>
            </a:r>
            <a:r>
              <a:rPr lang="ko-KR" altLang="en-US" dirty="0"/>
              <a:t>등의 분석 가능 </a:t>
            </a:r>
            <a:endParaRPr lang="en-US" altLang="ko-KR" dirty="0"/>
          </a:p>
          <a:p>
            <a:pPr lvl="1"/>
            <a:r>
              <a:rPr lang="ko-KR" altLang="en-US" dirty="0"/>
              <a:t>통합 시뮬레이션 </a:t>
            </a:r>
            <a:r>
              <a:rPr lang="en-US" altLang="ko-KR" dirty="0"/>
              <a:t>: RF </a:t>
            </a:r>
            <a:r>
              <a:rPr lang="ko-KR" altLang="en-US" dirty="0"/>
              <a:t>회로 디자인이라면 </a:t>
            </a:r>
            <a:r>
              <a:rPr lang="en-US" altLang="ko-KR" dirty="0"/>
              <a:t>SpectreRF </a:t>
            </a:r>
            <a:r>
              <a:rPr lang="ko-KR" altLang="en-US" dirty="0"/>
              <a:t>툴</a:t>
            </a:r>
            <a:r>
              <a:rPr lang="en-US" altLang="ko-KR" dirty="0"/>
              <a:t>, Mixed </a:t>
            </a:r>
            <a:r>
              <a:rPr lang="ko-KR" altLang="en-US" dirty="0"/>
              <a:t>디자인이라면 </a:t>
            </a:r>
            <a:r>
              <a:rPr lang="en-US" altLang="ko-KR" dirty="0"/>
              <a:t>MMSIM </a:t>
            </a:r>
            <a:r>
              <a:rPr lang="ko-KR" altLang="en-US" dirty="0"/>
              <a:t>툴을 이용</a:t>
            </a:r>
            <a:endParaRPr lang="en-US" altLang="ko-KR" dirty="0"/>
          </a:p>
          <a:p>
            <a:pPr lvl="1"/>
            <a:r>
              <a:rPr lang="ko-KR" altLang="en-US" dirty="0"/>
              <a:t>빠른 시뮬레이션을 위해서는 </a:t>
            </a:r>
            <a:r>
              <a:rPr lang="en-US" altLang="ko-KR" dirty="0"/>
              <a:t>Spectre APS, Spectre XPS, Spectre X </a:t>
            </a:r>
            <a:r>
              <a:rPr lang="ko-KR" altLang="en-US" dirty="0"/>
              <a:t>툴 사용 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(4) </a:t>
            </a:r>
            <a:r>
              <a:rPr lang="ko-KR" altLang="en-US" dirty="0"/>
              <a:t>레이아웃 작성 </a:t>
            </a:r>
            <a:endParaRPr lang="en-US" altLang="ko-KR" dirty="0"/>
          </a:p>
          <a:p>
            <a:pPr lvl="1"/>
            <a:r>
              <a:rPr lang="en-US" altLang="ko-KR" dirty="0"/>
              <a:t>CADENCE Virtuoso </a:t>
            </a:r>
            <a:r>
              <a:rPr lang="ko-KR" altLang="en-US" dirty="0"/>
              <a:t>툴의 레이아웃 에디터를 이용하여 물리적인 배치와 배선 수행 </a:t>
            </a:r>
            <a:endParaRPr lang="en-US" altLang="ko-KR" dirty="0"/>
          </a:p>
          <a:p>
            <a:pPr lvl="1"/>
            <a:r>
              <a:rPr lang="ko-KR" altLang="en-US" dirty="0"/>
              <a:t>공정사에서 제공하는 </a:t>
            </a:r>
            <a:r>
              <a:rPr lang="en-US" altLang="ko-KR" dirty="0"/>
              <a:t>Design Rule </a:t>
            </a:r>
            <a:r>
              <a:rPr lang="ko-KR" altLang="en-US" dirty="0"/>
              <a:t>문서를 참고하여 공정 정보와 단면구조</a:t>
            </a:r>
            <a:r>
              <a:rPr lang="en-US" altLang="ko-KR" dirty="0"/>
              <a:t>, </a:t>
            </a:r>
            <a:r>
              <a:rPr lang="ko-KR" altLang="en-US" dirty="0"/>
              <a:t>디자인 규칙</a:t>
            </a:r>
            <a:r>
              <a:rPr lang="en-US" altLang="ko-KR" dirty="0"/>
              <a:t>(Rule) </a:t>
            </a:r>
            <a:r>
              <a:rPr lang="ko-KR" altLang="en-US" dirty="0"/>
              <a:t>을 잘 이해한 상태에서 작업하는 것이 필요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(5) DRC, LVS, PEX </a:t>
            </a:r>
          </a:p>
          <a:p>
            <a:pPr lvl="1"/>
            <a:r>
              <a:rPr lang="ko-KR" altLang="en-US" dirty="0"/>
              <a:t>완성된 레이아웃에 대하여 </a:t>
            </a:r>
            <a:r>
              <a:rPr lang="en-US" altLang="ko-KR" dirty="0"/>
              <a:t>DRC(</a:t>
            </a:r>
            <a:r>
              <a:rPr lang="ko-KR" altLang="en-US" dirty="0"/>
              <a:t>설계 규칙 검사</a:t>
            </a:r>
            <a:r>
              <a:rPr lang="en-US" altLang="ko-KR" dirty="0"/>
              <a:t>), LVS(</a:t>
            </a:r>
            <a:r>
              <a:rPr lang="ko-KR" altLang="en-US" dirty="0"/>
              <a:t>회로 비교</a:t>
            </a:r>
            <a:r>
              <a:rPr lang="en-US" altLang="ko-KR" dirty="0"/>
              <a:t>), PEX(</a:t>
            </a:r>
            <a:r>
              <a:rPr lang="ko-KR" altLang="en-US" dirty="0"/>
              <a:t>기생 성분 추출</a:t>
            </a:r>
            <a:r>
              <a:rPr lang="en-US" altLang="ko-KR" dirty="0"/>
              <a:t>) </a:t>
            </a:r>
            <a:r>
              <a:rPr lang="ko-KR" altLang="en-US" dirty="0"/>
              <a:t>검증을 진행 </a:t>
            </a:r>
            <a:endParaRPr lang="en-US" altLang="ko-KR" dirty="0"/>
          </a:p>
          <a:p>
            <a:pPr lvl="1"/>
            <a:r>
              <a:rPr lang="ko-KR" altLang="en-US" dirty="0"/>
              <a:t>전통적으로 </a:t>
            </a:r>
            <a:r>
              <a:rPr lang="en-US" altLang="ko-KR" dirty="0"/>
              <a:t>Assura </a:t>
            </a:r>
            <a:r>
              <a:rPr lang="ko-KR" altLang="en-US" dirty="0"/>
              <a:t>툴을 사용하고 있고</a:t>
            </a:r>
            <a:r>
              <a:rPr lang="en-US" altLang="ko-KR" dirty="0"/>
              <a:t>, </a:t>
            </a:r>
            <a:r>
              <a:rPr lang="ko-KR" altLang="en-US" dirty="0"/>
              <a:t>최근에는 </a:t>
            </a:r>
            <a:r>
              <a:rPr lang="en-US" altLang="ko-KR" dirty="0"/>
              <a:t>PVS, Pegasus </a:t>
            </a:r>
            <a:r>
              <a:rPr lang="ko-KR" altLang="en-US" dirty="0"/>
              <a:t>툴이 출시되어 최신 공정에서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073095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D330-A3D8-0377-6275-5039D2B9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FC487-EAF7-B441-DD97-1D29923A6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846E21-2CA9-DBE1-E673-EC5B40191F1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1.2.1 </a:t>
            </a:r>
            <a:r>
              <a:rPr lang="ko-KR" altLang="en-US" sz="2400" b="1" dirty="0"/>
              <a:t>아날로그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7A4126-507F-5F2C-1F69-130E5D51D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(6) Post Layout </a:t>
            </a:r>
            <a:r>
              <a:rPr lang="ko-KR" altLang="en-US" dirty="0"/>
              <a:t>시뮬레이션 </a:t>
            </a:r>
            <a:endParaRPr lang="en-US" altLang="ko-KR" dirty="0"/>
          </a:p>
          <a:p>
            <a:pPr lvl="1"/>
            <a:r>
              <a:rPr lang="en-US" altLang="ko-KR" dirty="0"/>
              <a:t>Parasitic Extraction </a:t>
            </a:r>
            <a:r>
              <a:rPr lang="ko-KR" altLang="en-US" dirty="0"/>
              <a:t>까지 완료하면</a:t>
            </a:r>
            <a:r>
              <a:rPr lang="en-US" altLang="ko-KR" dirty="0"/>
              <a:t>, </a:t>
            </a:r>
            <a:r>
              <a:rPr lang="ko-KR" altLang="en-US" dirty="0"/>
              <a:t>디자인 내의 </a:t>
            </a:r>
            <a:r>
              <a:rPr lang="en-US" altLang="ko-KR" dirty="0"/>
              <a:t>net </a:t>
            </a:r>
            <a:r>
              <a:rPr lang="ko-KR" altLang="en-US" dirty="0"/>
              <a:t>에 있는 기생 </a:t>
            </a:r>
            <a:r>
              <a:rPr lang="en-US" altLang="ko-KR" dirty="0"/>
              <a:t>R, C </a:t>
            </a:r>
            <a:r>
              <a:rPr lang="ko-KR" altLang="en-US" dirty="0"/>
              <a:t>값을 정확하게 알 수 있으므로 </a:t>
            </a:r>
            <a:r>
              <a:rPr lang="en-US" altLang="ko-KR" dirty="0"/>
              <a:t>Post Layout </a:t>
            </a:r>
            <a:r>
              <a:rPr lang="ko-KR" altLang="en-US" dirty="0"/>
              <a:t>시뮬레이션을 통해 칩의 실제 동작에 가까운 결과를 얻을 수 있음</a:t>
            </a:r>
            <a:endParaRPr lang="en-US" altLang="ko-KR" dirty="0"/>
          </a:p>
          <a:p>
            <a:pPr lvl="1"/>
            <a:r>
              <a:rPr lang="en-US" altLang="ko-KR" dirty="0"/>
              <a:t>Spectre </a:t>
            </a:r>
            <a:r>
              <a:rPr lang="ko-KR" altLang="en-US" dirty="0"/>
              <a:t>툴을 사용하고 </a:t>
            </a:r>
            <a:r>
              <a:rPr lang="en-US" altLang="ko-KR" dirty="0"/>
              <a:t>, </a:t>
            </a:r>
            <a:r>
              <a:rPr lang="ko-KR" altLang="en-US" dirty="0"/>
              <a:t>목적에 맞게 </a:t>
            </a:r>
            <a:r>
              <a:rPr lang="en-US" altLang="ko-KR" dirty="0"/>
              <a:t>SpectreRF, MMSIM </a:t>
            </a:r>
            <a:r>
              <a:rPr lang="ko-KR" altLang="en-US" dirty="0"/>
              <a:t>등을 사용할 수 있음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(7) Tape Out</a:t>
            </a:r>
          </a:p>
          <a:p>
            <a:pPr lvl="1"/>
            <a:r>
              <a:rPr lang="ko-KR" altLang="en-US" dirty="0"/>
              <a:t>최종 디자인을 </a:t>
            </a:r>
            <a:r>
              <a:rPr lang="en-US" altLang="ko-KR" dirty="0"/>
              <a:t>gds </a:t>
            </a:r>
            <a:r>
              <a:rPr lang="ko-KR" altLang="en-US" dirty="0"/>
              <a:t>포맷으로 추출하여 프로젝트 마감 기한 내에 공정사에 제출 </a:t>
            </a:r>
            <a:endParaRPr lang="en-US" altLang="ko-KR" dirty="0"/>
          </a:p>
          <a:p>
            <a:pPr lvl="1"/>
            <a:r>
              <a:rPr lang="ko-KR" altLang="en-US" dirty="0"/>
              <a:t>스펙과 기능을 만족하면서도 공정사에서 제시하는 </a:t>
            </a:r>
            <a:r>
              <a:rPr lang="en-US" altLang="ko-KR" dirty="0"/>
              <a:t>DRC </a:t>
            </a:r>
            <a:r>
              <a:rPr lang="ko-KR" altLang="en-US" dirty="0"/>
              <a:t>와 제한사항에 문제가 없어야 함</a:t>
            </a:r>
            <a:endParaRPr lang="en-US" altLang="ko-KR" dirty="0"/>
          </a:p>
          <a:p>
            <a:pPr lvl="1"/>
            <a:r>
              <a:rPr lang="ko-KR" altLang="en-US" dirty="0"/>
              <a:t>일반적으로 레이아웃된 디자인에 회로 보호용 더미를 추가 후에 제출 </a:t>
            </a:r>
            <a:endParaRPr lang="en-US" altLang="ko-KR" dirty="0"/>
          </a:p>
          <a:p>
            <a:pPr lvl="1"/>
            <a:r>
              <a:rPr lang="ko-KR" altLang="en-US" dirty="0"/>
              <a:t>필연적인 </a:t>
            </a:r>
            <a:r>
              <a:rPr lang="en-US" altLang="ko-KR" dirty="0"/>
              <a:t>DRC </a:t>
            </a:r>
            <a:r>
              <a:rPr lang="ko-KR" altLang="en-US" dirty="0"/>
              <a:t>에러에 대하여 설명하는 </a:t>
            </a:r>
            <a:r>
              <a:rPr lang="en-US" altLang="ko-KR" dirty="0"/>
              <a:t>Waive list</a:t>
            </a:r>
            <a:r>
              <a:rPr lang="ko-KR" altLang="en-US" dirty="0"/>
              <a:t>와 최종 디자인 정보인 </a:t>
            </a:r>
            <a:r>
              <a:rPr lang="en-US" altLang="ko-KR" dirty="0"/>
              <a:t>Device List</a:t>
            </a:r>
            <a:r>
              <a:rPr lang="ko-KR" altLang="en-US" dirty="0"/>
              <a:t>도 작성하여 공정사에 제출함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2697198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5847CB9-841A-9C46-10EB-6CDF6D629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74" y="1638667"/>
            <a:ext cx="6127353" cy="499748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EF57067-11FC-1980-7C94-56EECE451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392" y="1638667"/>
            <a:ext cx="5406694" cy="388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78675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749F-3BEF-08C6-B254-D6EF460F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B3F72-7D8E-59C5-EB39-471536EC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F76C0C-2C2A-7531-AEFB-1CD0DAAD005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58999C3-43C1-E4FF-781E-EC212067E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079628" cy="4859964"/>
          </a:xfrm>
        </p:spPr>
        <p:txBody>
          <a:bodyPr/>
          <a:lstStyle/>
          <a:p>
            <a:pPr marL="457200" indent="-457200">
              <a:buAutoNum type="arabicParenBoth"/>
            </a:pPr>
            <a:r>
              <a:rPr lang="ko-KR" altLang="en-US" dirty="0"/>
              <a:t>칩의 스펙 설정 </a:t>
            </a:r>
            <a:r>
              <a:rPr lang="en-US" altLang="ko-KR" dirty="0"/>
              <a:t>&amp; RTL </a:t>
            </a:r>
            <a:r>
              <a:rPr lang="ko-KR" altLang="en-US" dirty="0"/>
              <a:t>모델링 </a:t>
            </a:r>
            <a:endParaRPr lang="en-US" altLang="ko-KR" dirty="0"/>
          </a:p>
          <a:p>
            <a:pPr lvl="1"/>
            <a:r>
              <a:rPr lang="ko-KR" altLang="en-US" dirty="0"/>
              <a:t>스펙 설정 </a:t>
            </a:r>
            <a:r>
              <a:rPr lang="en-US" altLang="ko-KR" dirty="0"/>
              <a:t>: </a:t>
            </a:r>
            <a:r>
              <a:rPr lang="ko-KR" altLang="en-US" dirty="0"/>
              <a:t>칩의 기능</a:t>
            </a:r>
            <a:r>
              <a:rPr lang="en-US" altLang="ko-KR" dirty="0"/>
              <a:t>, </a:t>
            </a:r>
            <a:r>
              <a:rPr lang="ko-KR" altLang="en-US" dirty="0"/>
              <a:t>동작 시나리오</a:t>
            </a:r>
            <a:r>
              <a:rPr lang="en-US" altLang="ko-KR" dirty="0"/>
              <a:t>, </a:t>
            </a:r>
            <a:r>
              <a:rPr lang="ko-KR" altLang="en-US" dirty="0"/>
              <a:t>동작 주파수</a:t>
            </a:r>
            <a:r>
              <a:rPr lang="en-US" altLang="ko-KR" dirty="0"/>
              <a:t>, Area, Timing, </a:t>
            </a:r>
            <a:r>
              <a:rPr lang="ko-KR" altLang="en-US" dirty="0"/>
              <a:t>동작 환경</a:t>
            </a:r>
            <a:r>
              <a:rPr lang="en-US" altLang="ko-KR" dirty="0"/>
              <a:t>, </a:t>
            </a:r>
            <a:r>
              <a:rPr lang="ko-KR" altLang="en-US" dirty="0"/>
              <a:t>전원 조건 등을 통합적으로 고려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과도한 스펙은 설계를 매우 어렵게 만들 수 있음</a:t>
            </a:r>
            <a:r>
              <a:rPr lang="en-US" altLang="ko-KR" dirty="0"/>
              <a:t>. </a:t>
            </a:r>
            <a:r>
              <a:rPr lang="ko-KR" altLang="en-US" dirty="0"/>
              <a:t>지나친 오버 스펙을 지양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설정한 스펙은 설계 마지막까지 수정하지 않는 것이 원칙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Verilog </a:t>
            </a:r>
            <a:r>
              <a:rPr lang="ko-KR" altLang="en-US" dirty="0"/>
              <a:t>또는 </a:t>
            </a:r>
            <a:r>
              <a:rPr lang="en-US" altLang="ko-KR" dirty="0"/>
              <a:t>System Verilog </a:t>
            </a:r>
            <a:r>
              <a:rPr lang="ko-KR" altLang="en-US" dirty="0"/>
              <a:t>언어로 </a:t>
            </a:r>
            <a:r>
              <a:rPr lang="en-US" altLang="ko-KR" dirty="0"/>
              <a:t>RTL(Register Transfer Level) </a:t>
            </a:r>
            <a:r>
              <a:rPr lang="ko-KR" altLang="en-US" dirty="0"/>
              <a:t>코드를 작성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구현한 </a:t>
            </a:r>
            <a:r>
              <a:rPr lang="en-US" altLang="ko-KR" dirty="0"/>
              <a:t>RTL </a:t>
            </a:r>
            <a:r>
              <a:rPr lang="ko-KR" altLang="en-US" dirty="0"/>
              <a:t>코드 자체가 실리콘 칩이 되므로 높은 코드 퀄리티와 정확한 동작을 보장하는 것이 중요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D07A76-2BCD-43EC-AB91-024A44EE6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6" y="1587655"/>
            <a:ext cx="4823742" cy="393425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C7E2321-CD4B-447A-9CA7-6729FE909D26}"/>
              </a:ext>
            </a:extLst>
          </p:cNvPr>
          <p:cNvSpPr/>
          <p:nvPr/>
        </p:nvSpPr>
        <p:spPr>
          <a:xfrm>
            <a:off x="7781192" y="1696915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924947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040BC-17E6-F82F-3466-98E2C3EA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67A96-9435-B7D2-DAE8-2910E715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F37E09-8BA6-903A-3B81-EC1F2569FF3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E81BE69-A80E-1724-AC9F-E90104C0F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571998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(2) Functional Verification </a:t>
            </a:r>
          </a:p>
          <a:p>
            <a:pPr lvl="1"/>
            <a:r>
              <a:rPr lang="ko-KR" altLang="en-US" dirty="0"/>
              <a:t>작성한 </a:t>
            </a:r>
            <a:r>
              <a:rPr lang="en-US" altLang="ko-KR" dirty="0"/>
              <a:t>Verilog </a:t>
            </a:r>
            <a:r>
              <a:rPr lang="ko-KR" altLang="en-US" dirty="0"/>
              <a:t>형태의 디자인을 대상으로 진행하는 동작 검증 시뮬레이션 </a:t>
            </a:r>
            <a:endParaRPr lang="en-US" altLang="ko-KR" dirty="0"/>
          </a:p>
          <a:p>
            <a:pPr lvl="1"/>
            <a:r>
              <a:rPr lang="ko-KR" altLang="en-US" dirty="0"/>
              <a:t>설계자는 테스트 벤치 </a:t>
            </a:r>
            <a:r>
              <a:rPr lang="en-US" altLang="ko-KR" dirty="0"/>
              <a:t>(Testbench) </a:t>
            </a:r>
            <a:r>
              <a:rPr lang="ko-KR" altLang="en-US" dirty="0"/>
              <a:t>파일을 작성하여 입력으로 사용할 패턴의 형태와 규칙 등을 기술하고</a:t>
            </a:r>
            <a:r>
              <a:rPr lang="en-US" altLang="ko-KR" dirty="0"/>
              <a:t>, </a:t>
            </a:r>
            <a:r>
              <a:rPr lang="ko-KR" altLang="en-US" dirty="0"/>
              <a:t>출력 파형의 저장 여부와 파일 이름을 정할 수 있음 </a:t>
            </a:r>
            <a:endParaRPr lang="en-US" altLang="ko-KR" dirty="0"/>
          </a:p>
          <a:p>
            <a:pPr lvl="1"/>
            <a:r>
              <a:rPr lang="ko-KR" altLang="en-US" dirty="0"/>
              <a:t>입력과 출력을 웨이브 형태로 볼 수 있는 </a:t>
            </a:r>
            <a:r>
              <a:rPr lang="en-US" altLang="ko-KR" dirty="0"/>
              <a:t>Dynamic </a:t>
            </a:r>
            <a:r>
              <a:rPr lang="ko-KR" altLang="en-US" dirty="0"/>
              <a:t>시뮬레이션 타입 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9D4D20-DCDC-4964-BA0E-0B51B4F3B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6" y="1587655"/>
            <a:ext cx="4823742" cy="393425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2253306-E5E7-4FF5-BA74-8E935A9D20D6}"/>
              </a:ext>
            </a:extLst>
          </p:cNvPr>
          <p:cNvSpPr/>
          <p:nvPr/>
        </p:nvSpPr>
        <p:spPr>
          <a:xfrm>
            <a:off x="7781192" y="2198077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16513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040BC-17E6-F82F-3466-98E2C3EA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67A96-9435-B7D2-DAE8-2910E715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F37E09-8BA6-903A-3B81-EC1F2569FF3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E81BE69-A80E-1724-AC9F-E90104C0F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571998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(3) </a:t>
            </a:r>
            <a:r>
              <a:rPr lang="ko-KR" altLang="en-US" dirty="0"/>
              <a:t>합성 </a:t>
            </a:r>
            <a:r>
              <a:rPr lang="en-US" altLang="ko-KR" dirty="0"/>
              <a:t>(Logic Synthesis) </a:t>
            </a:r>
          </a:p>
          <a:p>
            <a:pPr lvl="1"/>
            <a:r>
              <a:rPr lang="ko-KR" altLang="en-US" dirty="0"/>
              <a:t>동작이 검증된 </a:t>
            </a:r>
            <a:r>
              <a:rPr lang="en-US" altLang="ko-KR" dirty="0"/>
              <a:t>HDL </a:t>
            </a:r>
            <a:r>
              <a:rPr lang="ko-KR" altLang="en-US" dirty="0"/>
              <a:t>소스 코드를 공정사에서 제공한 디지털 라이브러리 </a:t>
            </a:r>
            <a:r>
              <a:rPr lang="en-US" altLang="ko-KR" dirty="0"/>
              <a:t>(Standard Cell, IO Cell, Memory)</a:t>
            </a:r>
            <a:r>
              <a:rPr lang="ko-KR" altLang="en-US" dirty="0"/>
              <a:t>를 이용하여 게이트 레벨로 구현 </a:t>
            </a:r>
            <a:endParaRPr lang="en-US" altLang="ko-KR" dirty="0"/>
          </a:p>
          <a:p>
            <a:pPr lvl="1"/>
            <a:r>
              <a:rPr lang="ko-KR" altLang="en-US" dirty="0"/>
              <a:t>소스 코드 형태에서 디지털 논리 게이트로 이루어진 디자인이 되며</a:t>
            </a:r>
            <a:r>
              <a:rPr lang="en-US" altLang="ko-KR" dirty="0"/>
              <a:t>, </a:t>
            </a:r>
            <a:r>
              <a:rPr lang="ko-KR" altLang="en-US" dirty="0"/>
              <a:t>툴의 </a:t>
            </a:r>
            <a:r>
              <a:rPr lang="en-US" altLang="ko-KR" dirty="0"/>
              <a:t>GUI </a:t>
            </a:r>
            <a:r>
              <a:rPr lang="ko-KR" altLang="en-US" dirty="0"/>
              <a:t>를 통해 그림 </a:t>
            </a:r>
            <a:r>
              <a:rPr lang="en-US" altLang="ko-KR" dirty="0"/>
              <a:t>(Schematic) </a:t>
            </a:r>
            <a:r>
              <a:rPr lang="ko-KR" altLang="en-US" dirty="0"/>
              <a:t>으로 확인이 가능 </a:t>
            </a:r>
            <a:endParaRPr lang="en-US" altLang="ko-KR" dirty="0"/>
          </a:p>
          <a:p>
            <a:pPr lvl="1"/>
            <a:r>
              <a:rPr lang="ko-KR" altLang="en-US" dirty="0"/>
              <a:t>설계자가 설정한 스펙을 만족하는 게이트 레벨의 디자인을 만들어 낼 수 있도록 최적화가 진행됨 </a:t>
            </a:r>
            <a:endParaRPr lang="en-US" altLang="ko-KR" dirty="0"/>
          </a:p>
          <a:p>
            <a:pPr lvl="1"/>
            <a:r>
              <a:rPr lang="ko-KR" altLang="en-US" dirty="0"/>
              <a:t>최종적으로 </a:t>
            </a:r>
            <a:r>
              <a:rPr lang="en-US" altLang="ko-KR" dirty="0"/>
              <a:t>Verilog </a:t>
            </a:r>
            <a:r>
              <a:rPr lang="ko-KR" altLang="en-US" dirty="0"/>
              <a:t>문법 형식을 따르는 게이트 레벨 넷리스트로 추출하여 다음 단계에서 사용함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9D4D20-DCDC-4964-BA0E-0B51B4F3B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6" y="1587655"/>
            <a:ext cx="4823742" cy="39342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9DB08B8-E229-47F9-8C6B-EBBED9A1A054}"/>
              </a:ext>
            </a:extLst>
          </p:cNvPr>
          <p:cNvSpPr/>
          <p:nvPr/>
        </p:nvSpPr>
        <p:spPr>
          <a:xfrm>
            <a:off x="7781192" y="2734408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6521365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3129-D57C-B4DC-C9CC-35E16BFC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DA2D7-28E7-E332-B282-BD7B82D6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D3749C-4374-4D79-9560-1F87014290F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54E7B818-B747-F813-10FE-77BE4CD72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457698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(4) Scan Chain </a:t>
            </a:r>
            <a:r>
              <a:rPr lang="ko-KR" altLang="en-US" dirty="0"/>
              <a:t>삽입 </a:t>
            </a:r>
            <a:r>
              <a:rPr lang="en-US" altLang="ko-KR" dirty="0"/>
              <a:t>&amp; </a:t>
            </a:r>
            <a:r>
              <a:rPr lang="ko-KR" altLang="en-US" dirty="0"/>
              <a:t>자동 테스트 패턴 생성 </a:t>
            </a:r>
            <a:endParaRPr lang="en-US" altLang="ko-KR" dirty="0"/>
          </a:p>
          <a:p>
            <a:pPr lvl="1"/>
            <a:r>
              <a:rPr lang="ko-KR" altLang="en-US" dirty="0"/>
              <a:t>칩이 만들어지는 과정에서 공정상의 결함으로 원치 않는 </a:t>
            </a:r>
            <a:r>
              <a:rPr lang="en-US" altLang="ko-KR" dirty="0"/>
              <a:t>connection </a:t>
            </a:r>
            <a:r>
              <a:rPr lang="ko-KR" altLang="en-US" dirty="0"/>
              <a:t>발생가능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(</a:t>
            </a:r>
            <a:r>
              <a:rPr lang="ko-KR" altLang="en-US" dirty="0"/>
              <a:t>예 </a:t>
            </a:r>
            <a:r>
              <a:rPr lang="en-US" altLang="ko-KR" dirty="0"/>
              <a:t>: </a:t>
            </a:r>
            <a:r>
              <a:rPr lang="ko-KR" altLang="en-US" dirty="0"/>
              <a:t>메탈과 메탈간의 연결 </a:t>
            </a:r>
            <a:r>
              <a:rPr lang="en-US" altLang="ko-KR" dirty="0"/>
              <a:t>) 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공정 진행 도중에 낮은 확률로 일어날 수 있는 일이지만</a:t>
            </a:r>
            <a:r>
              <a:rPr lang="en-US" altLang="ko-KR" dirty="0"/>
              <a:t>, </a:t>
            </a:r>
            <a:r>
              <a:rPr lang="ko-KR" altLang="en-US" dirty="0"/>
              <a:t>칩 동작에 심대한 영향을 끼치므로 반드시 테스트해야 함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테스트 원리 </a:t>
            </a:r>
            <a:r>
              <a:rPr lang="en-US" altLang="ko-KR" dirty="0"/>
              <a:t>: </a:t>
            </a:r>
            <a:r>
              <a:rPr lang="ko-KR" altLang="en-US" dirty="0"/>
              <a:t>칩 내부의 모든 플립플롭을 한 줄로 꿰어 낼 수 있는 </a:t>
            </a:r>
            <a:r>
              <a:rPr lang="en-US" altLang="ko-KR" dirty="0"/>
              <a:t>(Stitch) </a:t>
            </a:r>
            <a:r>
              <a:rPr lang="ko-KR" altLang="en-US" dirty="0"/>
              <a:t>채널을 만들고 칩의 외부에서 </a:t>
            </a:r>
            <a:r>
              <a:rPr lang="en-US" altLang="ko-KR" dirty="0"/>
              <a:t>0, 1 </a:t>
            </a:r>
            <a:r>
              <a:rPr lang="ko-KR" altLang="en-US" dirty="0"/>
              <a:t>기반의 테스트 패턴을 밀어 넣은 뒤 동작 결과를 확인 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FC8F20-F3CE-4BDA-886F-46DB4ED41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6" y="1587655"/>
            <a:ext cx="4823742" cy="39342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4834EC-BB26-4F88-A58E-A8BBB1034494}"/>
              </a:ext>
            </a:extLst>
          </p:cNvPr>
          <p:cNvSpPr/>
          <p:nvPr/>
        </p:nvSpPr>
        <p:spPr>
          <a:xfrm>
            <a:off x="7772400" y="3292720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6203364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3129-D57C-B4DC-C9CC-35E16BFC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DA2D7-28E7-E332-B282-BD7B82D6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D3749C-4374-4D79-9560-1F87014290F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54E7B818-B747-F813-10FE-77BE4CD72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457698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(4) Scan Chain </a:t>
            </a:r>
            <a:r>
              <a:rPr lang="ko-KR" altLang="en-US" dirty="0"/>
              <a:t>삽입 </a:t>
            </a:r>
            <a:r>
              <a:rPr lang="en-US" altLang="ko-KR" dirty="0"/>
              <a:t>&amp; </a:t>
            </a:r>
            <a:r>
              <a:rPr lang="ko-KR" altLang="en-US" dirty="0"/>
              <a:t>자동 테스트 패턴 생성 </a:t>
            </a:r>
            <a:endParaRPr lang="en-US" altLang="ko-KR" dirty="0"/>
          </a:p>
          <a:p>
            <a:pPr lvl="1"/>
            <a:r>
              <a:rPr lang="ko-KR" altLang="en-US" dirty="0"/>
              <a:t>테스트를 위한 구현</a:t>
            </a:r>
            <a:r>
              <a:rPr lang="en-US" altLang="ko-KR" dirty="0"/>
              <a:t>-0: </a:t>
            </a:r>
            <a:r>
              <a:rPr lang="ko-KR" altLang="en-US" dirty="0"/>
              <a:t>모든 플립플롭을 </a:t>
            </a:r>
            <a:r>
              <a:rPr lang="en-US" altLang="ko-KR" dirty="0"/>
              <a:t>Scan </a:t>
            </a:r>
            <a:r>
              <a:rPr lang="ko-KR" altLang="en-US" dirty="0"/>
              <a:t>채널이 있는 셀로 교체 후 </a:t>
            </a:r>
            <a:r>
              <a:rPr lang="en-US" altLang="ko-KR" dirty="0"/>
              <a:t>DFT </a:t>
            </a:r>
            <a:r>
              <a:rPr lang="ko-KR" altLang="en-US" dirty="0"/>
              <a:t>컴파일러를 이용하여 한 줄로 </a:t>
            </a:r>
            <a:r>
              <a:rPr lang="en-US" altLang="ko-KR" dirty="0"/>
              <a:t>Stitch </a:t>
            </a:r>
            <a:r>
              <a:rPr lang="ko-KR" altLang="en-US" dirty="0"/>
              <a:t>진행 </a:t>
            </a:r>
            <a:endParaRPr lang="en-US" altLang="ko-KR" dirty="0"/>
          </a:p>
          <a:p>
            <a:pPr lvl="1"/>
            <a:r>
              <a:rPr lang="ko-KR" altLang="en-US" dirty="0"/>
              <a:t>테스트를 위한 구현</a:t>
            </a:r>
            <a:r>
              <a:rPr lang="en-US" altLang="ko-KR" dirty="0"/>
              <a:t>-1: </a:t>
            </a:r>
            <a:r>
              <a:rPr lang="ko-KR" altLang="en-US" dirty="0"/>
              <a:t>모든 플립플롭을 테스트할 수 있는 패턴을 자동으로 생성 </a:t>
            </a:r>
            <a:r>
              <a:rPr lang="en-US" altLang="ko-KR" dirty="0"/>
              <a:t>. </a:t>
            </a:r>
            <a:r>
              <a:rPr lang="ko-KR" altLang="en-US" dirty="0"/>
              <a:t>이에 더하여</a:t>
            </a:r>
            <a:r>
              <a:rPr lang="en-US" altLang="ko-KR" dirty="0"/>
              <a:t>, </a:t>
            </a:r>
            <a:r>
              <a:rPr lang="ko-KR" altLang="en-US" dirty="0"/>
              <a:t>모든 플립플롭이 엮여 있는지 자세히 검증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모든 작업 후</a:t>
            </a:r>
            <a:r>
              <a:rPr lang="en-US" altLang="ko-KR" dirty="0"/>
              <a:t>, </a:t>
            </a:r>
            <a:r>
              <a:rPr lang="ko-KR" altLang="en-US" dirty="0"/>
              <a:t>스펙을 여전히 만족하는지 검증</a:t>
            </a:r>
            <a:r>
              <a:rPr lang="en-US" altLang="ko-KR" dirty="0"/>
              <a:t>. </a:t>
            </a:r>
            <a:r>
              <a:rPr lang="ko-KR" altLang="en-US" dirty="0"/>
              <a:t>만약 이상 없다면 게이트 레벨 넷리스트를 출력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FC8F20-F3CE-4BDA-886F-46DB4ED41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6" y="1587655"/>
            <a:ext cx="4823742" cy="39342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AC944E-50D9-4AC3-A6B4-AFC41724CBBA}"/>
              </a:ext>
            </a:extLst>
          </p:cNvPr>
          <p:cNvSpPr/>
          <p:nvPr/>
        </p:nvSpPr>
        <p:spPr>
          <a:xfrm>
            <a:off x="7772400" y="3292720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9244475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1C68-C1EE-9ABF-948A-3F705CB8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D0617-0AEA-51D1-83D3-F874ECA8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FA5D0C-5A97-E606-2D54-02B4E30ED79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37BB2AC-0980-7727-BCD9-C7D633701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642336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(5) Pre-Layout Equivalence Check </a:t>
            </a:r>
          </a:p>
          <a:p>
            <a:pPr lvl="1"/>
            <a:r>
              <a:rPr lang="ko-KR" altLang="en-US" dirty="0"/>
              <a:t>등가성 검증으로서 합성 전</a:t>
            </a:r>
            <a:r>
              <a:rPr lang="en-US" altLang="ko-KR" dirty="0"/>
              <a:t>, </a:t>
            </a:r>
            <a:r>
              <a:rPr lang="ko-KR" altLang="en-US" dirty="0"/>
              <a:t>후 비교 </a:t>
            </a:r>
            <a:endParaRPr lang="en-US" altLang="ko-KR" dirty="0"/>
          </a:p>
          <a:p>
            <a:pPr lvl="1"/>
            <a:r>
              <a:rPr lang="ko-KR" altLang="en-US" dirty="0"/>
              <a:t>합성 전의 </a:t>
            </a:r>
            <a:r>
              <a:rPr lang="en-US" altLang="ko-KR" dirty="0"/>
              <a:t>RTL </a:t>
            </a:r>
            <a:r>
              <a:rPr lang="ko-KR" altLang="en-US" dirty="0"/>
              <a:t>코드와 합성 후의 게이트 레벨 넷리스트가 동일한 동작을 하는지 검증 </a:t>
            </a:r>
            <a:endParaRPr lang="en-US" altLang="ko-KR" dirty="0"/>
          </a:p>
          <a:p>
            <a:pPr lvl="1"/>
            <a:r>
              <a:rPr lang="ko-KR" altLang="en-US" dirty="0"/>
              <a:t>입력 패턴을 만들어 </a:t>
            </a:r>
            <a:r>
              <a:rPr lang="en-US" altLang="ko-KR" dirty="0"/>
              <a:t>RTL </a:t>
            </a:r>
            <a:r>
              <a:rPr lang="ko-KR" altLang="en-US" dirty="0"/>
              <a:t>코드와 게이트 레벨 넷리스트에 동일하게 넣고 출력이 일치해야 함 </a:t>
            </a:r>
            <a:endParaRPr lang="en-US" altLang="ko-KR" dirty="0"/>
          </a:p>
          <a:p>
            <a:pPr lvl="1"/>
            <a:r>
              <a:rPr lang="ko-KR" altLang="en-US" dirty="0"/>
              <a:t>설계 변경이나 합성 툴의 오류로 인한 차이를 검출하는 데 효과적 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C0A6A9-1B83-4542-84F6-BB87C607F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6" y="1587655"/>
            <a:ext cx="4823742" cy="39342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5DE9E35-2D27-45AD-A0A1-E38FB159586F}"/>
              </a:ext>
            </a:extLst>
          </p:cNvPr>
          <p:cNvSpPr/>
          <p:nvPr/>
        </p:nvSpPr>
        <p:spPr>
          <a:xfrm>
            <a:off x="7772400" y="3819810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054429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1C68-C1EE-9ABF-948A-3F705CB8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D0617-0AEA-51D1-83D3-F874ECA8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FA5D0C-5A97-E606-2D54-02B4E30ED79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37BB2AC-0980-7727-BCD9-C7D633701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642336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(6) Pre-Layout STA(Static Timing Analysis) </a:t>
            </a:r>
          </a:p>
          <a:p>
            <a:pPr lvl="1"/>
            <a:r>
              <a:rPr lang="ko-KR" altLang="en-US" dirty="0"/>
              <a:t>정적 타이밍 분석 </a:t>
            </a:r>
            <a:r>
              <a:rPr lang="en-US" altLang="ko-KR" dirty="0"/>
              <a:t>: </a:t>
            </a:r>
            <a:r>
              <a:rPr lang="ko-KR" altLang="en-US" dirty="0"/>
              <a:t>전체 디자인을 </a:t>
            </a:r>
            <a:r>
              <a:rPr lang="en-US" altLang="ko-KR" dirty="0"/>
              <a:t>Path </a:t>
            </a:r>
            <a:r>
              <a:rPr lang="ko-KR" altLang="en-US" dirty="0"/>
              <a:t>단위로 쪼갠 상태에서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en-US" altLang="ko-KR" dirty="0"/>
              <a:t>Path </a:t>
            </a:r>
            <a:r>
              <a:rPr lang="ko-KR" altLang="en-US" dirty="0"/>
              <a:t>단위로 타이밍 계산 </a:t>
            </a:r>
            <a:endParaRPr lang="en-US" altLang="ko-KR" dirty="0"/>
          </a:p>
          <a:p>
            <a:pPr lvl="1"/>
            <a:r>
              <a:rPr lang="en-US" altLang="ko-KR" dirty="0"/>
              <a:t>Path </a:t>
            </a:r>
            <a:r>
              <a:rPr lang="ko-KR" altLang="en-US" dirty="0"/>
              <a:t>내의 모든 셀과 </a:t>
            </a:r>
            <a:r>
              <a:rPr lang="en-US" altLang="ko-KR" dirty="0"/>
              <a:t>wire </a:t>
            </a:r>
            <a:r>
              <a:rPr lang="ko-KR" altLang="en-US" dirty="0"/>
              <a:t>에서 소요되는 시간을 수치적으로 누적 </a:t>
            </a:r>
            <a:r>
              <a:rPr lang="en-US" altLang="ko-KR" dirty="0"/>
              <a:t>(Accumulation)</a:t>
            </a:r>
            <a:r>
              <a:rPr lang="ko-KR" altLang="en-US" dirty="0"/>
              <a:t>한 뒤 목표 시간과 비교 </a:t>
            </a:r>
            <a:endParaRPr lang="en-US" altLang="ko-KR" dirty="0"/>
          </a:p>
          <a:p>
            <a:pPr lvl="1"/>
            <a:r>
              <a:rPr lang="en-US" altLang="ko-KR" dirty="0"/>
              <a:t>Setup, Hold Time</a:t>
            </a:r>
            <a:r>
              <a:rPr lang="ko-KR" altLang="en-US" dirty="0"/>
              <a:t>에 더하여 </a:t>
            </a:r>
            <a:r>
              <a:rPr lang="en-US" altLang="ko-KR" dirty="0"/>
              <a:t>Recovery, Removal Time </a:t>
            </a:r>
            <a:r>
              <a:rPr lang="ko-KR" altLang="en-US" dirty="0"/>
              <a:t>등을 통합적으로 진행하는 고성능 검증 </a:t>
            </a:r>
            <a:endParaRPr lang="en-US" altLang="ko-KR" dirty="0"/>
          </a:p>
          <a:p>
            <a:pPr lvl="1"/>
            <a:r>
              <a:rPr lang="ko-KR" altLang="en-US" dirty="0"/>
              <a:t>테스트 벤치 파일 없이 진행하는 방식으로서</a:t>
            </a:r>
            <a:r>
              <a:rPr lang="en-US" altLang="ko-KR" dirty="0"/>
              <a:t>, </a:t>
            </a:r>
            <a:r>
              <a:rPr lang="ko-KR" altLang="en-US" dirty="0"/>
              <a:t>각 경로의 지연을 숫자로 검토하는 타이밍 계산</a:t>
            </a:r>
            <a:endParaRPr lang="en-US" altLang="ko-KR" dirty="0"/>
          </a:p>
          <a:p>
            <a:pPr lvl="1"/>
            <a:r>
              <a:rPr lang="ko-KR" altLang="en-US" dirty="0"/>
              <a:t>입력과 출력을 웨이브 형태로 볼 수 있는 </a:t>
            </a:r>
            <a:r>
              <a:rPr lang="en-US" altLang="ko-KR" dirty="0"/>
              <a:t>Dynamic </a:t>
            </a:r>
            <a:r>
              <a:rPr lang="ko-KR" altLang="en-US" dirty="0"/>
              <a:t>시뮬레이션과 다름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C0A6A9-1B83-4542-84F6-BB87C607F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6" y="1587655"/>
            <a:ext cx="4823742" cy="39342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E928834-DF49-4B84-9731-89EB8C8D8556}"/>
              </a:ext>
            </a:extLst>
          </p:cNvPr>
          <p:cNvSpPr/>
          <p:nvPr/>
        </p:nvSpPr>
        <p:spPr>
          <a:xfrm>
            <a:off x="7772400" y="4320972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8112250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277ED-7BDD-F25D-03A7-BCFC4C05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95E3A-DBFB-E42C-7143-F1E89348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83007D-944B-D317-DB20-EE84E137268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FB56C56-3CE5-4588-526A-85ECE9593F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571998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(7) Pre Layout </a:t>
            </a:r>
            <a:r>
              <a:rPr lang="ko-KR" altLang="en-US" dirty="0"/>
              <a:t>시뮬레이션 </a:t>
            </a:r>
            <a:endParaRPr lang="en-US" altLang="ko-KR" dirty="0"/>
          </a:p>
          <a:p>
            <a:pPr lvl="1"/>
            <a:r>
              <a:rPr lang="ko-KR" altLang="en-US" dirty="0"/>
              <a:t>게이트 레벨 넷리스트에 대한 입력과 출력을 웨이브 형태로 볼 수 있는 </a:t>
            </a:r>
            <a:r>
              <a:rPr lang="en-US" altLang="ko-KR" dirty="0"/>
              <a:t>Dynamic </a:t>
            </a:r>
            <a:r>
              <a:rPr lang="ko-KR" altLang="en-US" dirty="0"/>
              <a:t>시뮬레이션</a:t>
            </a:r>
            <a:endParaRPr lang="en-US" altLang="ko-KR" dirty="0"/>
          </a:p>
          <a:p>
            <a:pPr lvl="1"/>
            <a:r>
              <a:rPr lang="en-US" altLang="ko-KR" dirty="0"/>
              <a:t>sdf </a:t>
            </a:r>
            <a:r>
              <a:rPr lang="ko-KR" altLang="en-US" dirty="0"/>
              <a:t>파일에 들어있는 셀 딜레이를 적용</a:t>
            </a:r>
            <a:endParaRPr lang="en-US" altLang="ko-KR" dirty="0"/>
          </a:p>
          <a:p>
            <a:pPr lvl="1"/>
            <a:r>
              <a:rPr lang="ko-KR" altLang="en-US" dirty="0"/>
              <a:t>셀이 동작하는 지연 시간을 적용하므로 </a:t>
            </a:r>
            <a:r>
              <a:rPr lang="en-US" altLang="ko-KR" dirty="0"/>
              <a:t>Function </a:t>
            </a:r>
            <a:r>
              <a:rPr lang="ko-KR" altLang="en-US" dirty="0"/>
              <a:t>시뮬레이션 보다 한층 더 실제 칩 동작에 가까운 시뮬레이션 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337B43-6D39-4F0A-BBE6-271D584FD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46" y="1587655"/>
            <a:ext cx="4823742" cy="39342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DD82F6D-EA60-4168-B679-C687DF11AA89}"/>
              </a:ext>
            </a:extLst>
          </p:cNvPr>
          <p:cNvSpPr/>
          <p:nvPr/>
        </p:nvSpPr>
        <p:spPr>
          <a:xfrm>
            <a:off x="7772400" y="4874691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8526532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277ED-7BDD-F25D-03A7-BCFC4C05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95E3A-DBFB-E42C-7143-F1E89348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83007D-944B-D317-DB20-EE84E137268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FB56C56-3CE5-4588-526A-85ECE9593F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571998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(8) Auto PnR(Place and Route) </a:t>
            </a:r>
          </a:p>
          <a:p>
            <a:pPr lvl="1"/>
            <a:r>
              <a:rPr lang="ko-KR" altLang="en-US" dirty="0"/>
              <a:t>논리적으로 검증된 게이트 레벨 넷리스트를 물리적인 칩의 형태로 구현하는 과정 </a:t>
            </a:r>
            <a:endParaRPr lang="en-US" altLang="ko-KR" dirty="0"/>
          </a:p>
          <a:p>
            <a:pPr lvl="1"/>
            <a:r>
              <a:rPr lang="ko-KR" altLang="en-US" dirty="0"/>
              <a:t>셀들의 배치와 셀 간의 배선을 자동으로 수행하여 실제 칩의 레이아웃을 생성 </a:t>
            </a:r>
            <a:endParaRPr lang="en-US" altLang="ko-KR" dirty="0"/>
          </a:p>
          <a:p>
            <a:pPr lvl="1"/>
            <a:r>
              <a:rPr lang="ko-KR" altLang="en-US" dirty="0"/>
              <a:t>초반 단계인 </a:t>
            </a:r>
            <a:r>
              <a:rPr lang="en-US" altLang="ko-KR" dirty="0"/>
              <a:t>FloorPlan</a:t>
            </a:r>
            <a:r>
              <a:rPr lang="ko-KR" altLang="en-US" dirty="0"/>
              <a:t>과 </a:t>
            </a:r>
            <a:r>
              <a:rPr lang="en-US" altLang="ko-KR" dirty="0"/>
              <a:t>PowerPlan </a:t>
            </a:r>
            <a:r>
              <a:rPr lang="ko-KR" altLang="en-US" dirty="0"/>
              <a:t>은 사람이 직접 관여해야 하고</a:t>
            </a:r>
            <a:r>
              <a:rPr lang="en-US" altLang="ko-KR" dirty="0"/>
              <a:t>, </a:t>
            </a:r>
            <a:r>
              <a:rPr lang="ko-KR" altLang="en-US" dirty="0"/>
              <a:t>툴에게 자동으로 맡길 수 있는 것은 </a:t>
            </a:r>
            <a:r>
              <a:rPr lang="en-US" altLang="ko-KR" dirty="0"/>
              <a:t>Place </a:t>
            </a:r>
            <a:r>
              <a:rPr lang="ko-KR" altLang="en-US" dirty="0"/>
              <a:t>단계부터 이니 오해가 없어야 함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87AE2B-52DE-4446-8280-EBE4D93C5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864" y="1587655"/>
            <a:ext cx="4818324" cy="345894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7C57399-023A-407F-981C-563FE1ED1AC8}"/>
              </a:ext>
            </a:extLst>
          </p:cNvPr>
          <p:cNvSpPr/>
          <p:nvPr/>
        </p:nvSpPr>
        <p:spPr>
          <a:xfrm>
            <a:off x="7772400" y="1771007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164818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4209-478C-DAC1-2DEB-732BBE1FB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68062-4430-620D-EE32-7CA6DFED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88690C-E535-4324-E889-4C7883A2105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E1E1ED9B-1EB7-7DA1-7AB3-CB0D8345F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(8) Auto PnR(Place and Route) </a:t>
            </a:r>
            <a:r>
              <a:rPr lang="ko-KR" altLang="en-US" dirty="0"/>
              <a:t>세부 단계</a:t>
            </a:r>
            <a:r>
              <a:rPr lang="en-US" altLang="ko-KR" dirty="0"/>
              <a:t>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10DFC84-930F-5007-9978-7544BDEEB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593381"/>
              </p:ext>
            </p:extLst>
          </p:nvPr>
        </p:nvGraphicFramePr>
        <p:xfrm>
          <a:off x="903514" y="2047513"/>
          <a:ext cx="10261748" cy="452878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85136">
                  <a:extLst>
                    <a:ext uri="{9D8B030D-6E8A-4147-A177-3AD203B41FA5}">
                      <a16:colId xmlns:a16="http://schemas.microsoft.com/office/drawing/2014/main" val="686815737"/>
                    </a:ext>
                  </a:extLst>
                </a:gridCol>
                <a:gridCol w="9076612">
                  <a:extLst>
                    <a:ext uri="{9D8B030D-6E8A-4147-A177-3AD203B41FA5}">
                      <a16:colId xmlns:a16="http://schemas.microsoft.com/office/drawing/2014/main" val="4294305938"/>
                    </a:ext>
                  </a:extLst>
                </a:gridCol>
              </a:tblGrid>
              <a:tr h="3980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세부 단계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주요 역할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741870014"/>
                  </a:ext>
                </a:extLst>
              </a:tr>
              <a:tr h="8093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FloorPlan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FontTx/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목표로 하는 칩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Area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만큼 작업할 땅을 펼치고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칩 내부의 주요 블록 배치와 면적 분배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FontTx/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멀티 파워 도메인의 경우 도메인별 영역 지정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629887263"/>
                  </a:ext>
                </a:extLst>
              </a:tr>
              <a:tr h="8093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PowerPlan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Core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영역과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IO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주요 블록에 전력 공급을 위한 메탈 라인과 연결을 완성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작업 후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Edge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셀과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Tap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셀 등과 같이 미리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Place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되어야 할 셀들을 배치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103956065"/>
                  </a:ext>
                </a:extLst>
              </a:tr>
              <a:tr h="4467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Placement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스탠다드 셀들을 타이밍과 파워 등을 고려하여 최적의 위치에 자동 배치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514906719"/>
                  </a:ext>
                </a:extLst>
              </a:tr>
              <a:tr h="8093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CTS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클록 신호가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Zero skew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를 위하여 즉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모든 플립플롭에 동시에 도달할 수 있도록 클록 트리 생성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실제적인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Latency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와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Transition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값을 계산하고 인지하게 됨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943385631"/>
                  </a:ext>
                </a:extLst>
              </a:tr>
              <a:tr h="8093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Route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디지털 논리회로를 생각했을 때 심볼과 심볼을 이어주는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Wire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연결을 실제로 진행하는 단계로서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자동 연결이 핵심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공정 디자인 룰을 이해한 상태에서 배선을 진행하되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타이밍과 파워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, Area, DFM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이슈들을 종합적으로 고려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632827070"/>
                  </a:ext>
                </a:extLst>
              </a:tr>
              <a:tr h="4467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ChipFinish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- Core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필러셀을 삽입 후 최종 검증을 진행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최종 결과물로서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gds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파일과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def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</a:rPr>
                        <a:t>파일을 출력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241989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334905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602E-6257-B2DD-6515-BF7770F8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D0497-64A8-44D9-A28D-8440F1A1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716DB-D3E3-DB5F-B171-C9DB10E4E96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89F642E-5B69-FAD0-4232-DC8F3432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422528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(9) Post Layout Equivalence Check </a:t>
            </a:r>
          </a:p>
          <a:p>
            <a:pPr lvl="1"/>
            <a:r>
              <a:rPr lang="ko-KR" altLang="en-US" dirty="0"/>
              <a:t>기본적으로 </a:t>
            </a:r>
            <a:r>
              <a:rPr lang="en-US" altLang="ko-KR" dirty="0"/>
              <a:t>(5) Pre-Layout Equivalence Check</a:t>
            </a:r>
            <a:r>
              <a:rPr lang="ko-KR" altLang="en-US" dirty="0"/>
              <a:t>과 내용이 같지만</a:t>
            </a:r>
            <a:r>
              <a:rPr lang="en-US" altLang="ko-KR" dirty="0"/>
              <a:t>, PnR </a:t>
            </a:r>
            <a:r>
              <a:rPr lang="ko-KR" altLang="en-US" dirty="0"/>
              <a:t>이후에 진행하는 단계라는 차이 </a:t>
            </a:r>
            <a:endParaRPr lang="en-US" altLang="ko-KR" dirty="0"/>
          </a:p>
          <a:p>
            <a:pPr lvl="1"/>
            <a:r>
              <a:rPr lang="en-US" altLang="ko-KR" dirty="0"/>
              <a:t>Auto PnR </a:t>
            </a:r>
            <a:r>
              <a:rPr lang="ko-KR" altLang="en-US" dirty="0"/>
              <a:t>이후 생성된 레이아웃과 입력으로 사용된 게이트 레벨 넷리스트가 논리적으로 동일한지 검증하는 과정을 통해 설계 변경이나 오류를 검출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(10) RC Extraction </a:t>
            </a:r>
          </a:p>
          <a:p>
            <a:pPr lvl="1"/>
            <a:r>
              <a:rPr lang="ko-KR" altLang="en-US" dirty="0"/>
              <a:t>심볼과 심볼을 이어주는 </a:t>
            </a:r>
            <a:r>
              <a:rPr lang="en-US" altLang="ko-KR" dirty="0"/>
              <a:t>Net </a:t>
            </a:r>
            <a:r>
              <a:rPr lang="ko-KR" altLang="en-US" dirty="0"/>
              <a:t>에 기생하고 있는 저항 성분과 </a:t>
            </a:r>
            <a:r>
              <a:rPr lang="en-US" altLang="ko-KR" dirty="0"/>
              <a:t>Cap </a:t>
            </a:r>
            <a:r>
              <a:rPr lang="ko-KR" altLang="en-US" dirty="0"/>
              <a:t>성분을 추출하는 단계 </a:t>
            </a:r>
            <a:endParaRPr lang="en-US" altLang="ko-KR" dirty="0"/>
          </a:p>
          <a:p>
            <a:pPr lvl="1"/>
            <a:r>
              <a:rPr lang="ko-KR" altLang="en-US" dirty="0"/>
              <a:t>단순히 선 하나의 연결이 아니라</a:t>
            </a:r>
            <a:r>
              <a:rPr lang="en-US" altLang="ko-KR" dirty="0"/>
              <a:t>, M1 </a:t>
            </a:r>
            <a:r>
              <a:rPr lang="ko-KR" altLang="en-US" dirty="0"/>
              <a:t>부터 </a:t>
            </a:r>
            <a:r>
              <a:rPr lang="en-US" altLang="ko-KR" dirty="0"/>
              <a:t>M11 </a:t>
            </a:r>
            <a:r>
              <a:rPr lang="ko-KR" altLang="en-US" dirty="0"/>
              <a:t>까지 이어지는 긴 연결인 경우도 많아 상당히 어려운 계산이므로 전문 툴을 활용이 필요 </a:t>
            </a:r>
            <a:endParaRPr lang="en-US" altLang="ko-KR" dirty="0"/>
          </a:p>
          <a:p>
            <a:pPr lvl="1"/>
            <a:r>
              <a:rPr lang="ko-KR" altLang="en-US" dirty="0"/>
              <a:t>전통적으로 </a:t>
            </a:r>
            <a:r>
              <a:rPr lang="en-US" altLang="ko-KR" dirty="0"/>
              <a:t>SPEF </a:t>
            </a:r>
            <a:r>
              <a:rPr lang="ko-KR" altLang="en-US" dirty="0"/>
              <a:t>파일 포맷으로 추출하고</a:t>
            </a:r>
            <a:r>
              <a:rPr lang="en-US" altLang="ko-KR" dirty="0"/>
              <a:t>, STATIC </a:t>
            </a:r>
            <a:r>
              <a:rPr lang="ko-KR" altLang="en-US" dirty="0"/>
              <a:t>타이밍 분석을 할 때 입력으로 전달</a:t>
            </a:r>
            <a:r>
              <a:rPr lang="en-US" altLang="ko-KR" dirty="0"/>
              <a:t>, </a:t>
            </a:r>
            <a:r>
              <a:rPr lang="ko-KR" altLang="en-US" dirty="0"/>
              <a:t>실제 </a:t>
            </a:r>
            <a:r>
              <a:rPr lang="en-US" altLang="ko-KR" dirty="0"/>
              <a:t>Net </a:t>
            </a:r>
            <a:r>
              <a:rPr lang="ko-KR" altLang="en-US" dirty="0"/>
              <a:t>에서 걸리는 시간으로 발현되도록 함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22123B-F952-4E93-9CB2-B5F551E35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864" y="1587655"/>
            <a:ext cx="4818324" cy="345894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2492BE0-0664-475E-8A4C-000CCC422ABD}"/>
              </a:ext>
            </a:extLst>
          </p:cNvPr>
          <p:cNvSpPr/>
          <p:nvPr/>
        </p:nvSpPr>
        <p:spPr>
          <a:xfrm>
            <a:off x="7772400" y="2395261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104BC1-CED5-4AB9-B929-A5DC806D10E4}"/>
              </a:ext>
            </a:extLst>
          </p:cNvPr>
          <p:cNvSpPr/>
          <p:nvPr/>
        </p:nvSpPr>
        <p:spPr>
          <a:xfrm>
            <a:off x="7746023" y="2947849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2353790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C25C2-F3E0-0405-DF2F-67A75D68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8D7AB-655D-DB9B-9CD9-BBDF4A29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FE5002-7906-A3C2-7796-703D0991745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DD656C8-FC54-9AF9-B150-8E65D490A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647754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(11) Post Layout STA </a:t>
            </a:r>
          </a:p>
          <a:p>
            <a:pPr lvl="1"/>
            <a:r>
              <a:rPr lang="ko-KR" altLang="en-US" dirty="0"/>
              <a:t>기본적으로 </a:t>
            </a:r>
            <a:r>
              <a:rPr lang="en-US" altLang="ko-KR" dirty="0"/>
              <a:t>(6) Pre Layout STA</a:t>
            </a:r>
            <a:r>
              <a:rPr lang="ko-KR" altLang="en-US" dirty="0"/>
              <a:t>와 내용이 동일하지만</a:t>
            </a:r>
            <a:r>
              <a:rPr lang="en-US" altLang="ko-KR" dirty="0"/>
              <a:t>, PnR </a:t>
            </a:r>
            <a:r>
              <a:rPr lang="ko-KR" altLang="en-US" dirty="0"/>
              <a:t>이후에 진행하는 단계라는 차이</a:t>
            </a:r>
            <a:endParaRPr lang="en-US" altLang="ko-KR" dirty="0"/>
          </a:p>
          <a:p>
            <a:pPr lvl="1"/>
            <a:r>
              <a:rPr lang="ko-KR" altLang="en-US" dirty="0"/>
              <a:t>구현이 모두 완성된 디자인과</a:t>
            </a:r>
            <a:r>
              <a:rPr lang="en-US" altLang="ko-KR" dirty="0"/>
              <a:t> Net RC </a:t>
            </a:r>
            <a:r>
              <a:rPr lang="ko-KR" altLang="en-US" dirty="0"/>
              <a:t>기생 성분을 읽어 들여서 불확실성이 없는 상황에서 타이밍 만족 여부를 철저히 검증 </a:t>
            </a:r>
            <a:endParaRPr lang="en-US" altLang="ko-KR" dirty="0"/>
          </a:p>
          <a:p>
            <a:pPr lvl="1"/>
            <a:r>
              <a:rPr lang="ko-KR" altLang="en-US" dirty="0"/>
              <a:t>디자인 내의 모든 </a:t>
            </a:r>
            <a:r>
              <a:rPr lang="en-US" altLang="ko-KR" dirty="0"/>
              <a:t>Path </a:t>
            </a:r>
            <a:r>
              <a:rPr lang="ko-KR" altLang="en-US" dirty="0"/>
              <a:t>에 대해 </a:t>
            </a:r>
            <a:r>
              <a:rPr lang="en-US" altLang="ko-KR" dirty="0"/>
              <a:t>Setup Time, Hold Time, Recovery, Removal </a:t>
            </a:r>
            <a:r>
              <a:rPr lang="ko-KR" altLang="en-US" dirty="0"/>
              <a:t>등 타이밍 관련 조건들을 만족했는지 통합 검증 </a:t>
            </a:r>
            <a:endParaRPr lang="en-US" altLang="ko-KR" dirty="0"/>
          </a:p>
          <a:p>
            <a:pPr lvl="1"/>
            <a:r>
              <a:rPr lang="ko-KR" altLang="en-US" dirty="0"/>
              <a:t>문제가 발견되면 </a:t>
            </a:r>
            <a:r>
              <a:rPr lang="en-US" altLang="ko-KR" dirty="0"/>
              <a:t>ECO(Engineering Change Order)</a:t>
            </a:r>
            <a:r>
              <a:rPr lang="ko-KR" altLang="en-US" dirty="0"/>
              <a:t>를 통해 설계를 수정하되</a:t>
            </a:r>
            <a:r>
              <a:rPr lang="en-US" altLang="ko-KR" dirty="0"/>
              <a:t>, Innovus </a:t>
            </a:r>
            <a:r>
              <a:rPr lang="ko-KR" altLang="en-US" dirty="0"/>
              <a:t>툴로 돌아가기를 반복 </a:t>
            </a:r>
            <a:endParaRPr lang="en-US" altLang="ko-KR" dirty="0"/>
          </a:p>
          <a:p>
            <a:pPr lvl="1"/>
            <a:r>
              <a:rPr lang="ko-KR" altLang="en-US" dirty="0"/>
              <a:t>문제가 없다면 최종 </a:t>
            </a:r>
            <a:r>
              <a:rPr lang="en-US" altLang="ko-KR" dirty="0"/>
              <a:t>Sign off </a:t>
            </a:r>
            <a:r>
              <a:rPr lang="ko-KR" altLang="en-US" dirty="0"/>
              <a:t>를 마친 것으로서</a:t>
            </a:r>
            <a:r>
              <a:rPr lang="en-US" altLang="ko-KR" dirty="0"/>
              <a:t>, sdf </a:t>
            </a:r>
            <a:r>
              <a:rPr lang="ko-KR" altLang="en-US" dirty="0"/>
              <a:t>파일을 출력</a:t>
            </a:r>
            <a:endParaRPr lang="en-US" altLang="ko-KR" dirty="0"/>
          </a:p>
          <a:p>
            <a:pPr lvl="1"/>
            <a:r>
              <a:rPr lang="ko-KR" altLang="en-US" dirty="0"/>
              <a:t>이 </a:t>
            </a:r>
            <a:r>
              <a:rPr lang="en-US" altLang="ko-KR" dirty="0"/>
              <a:t>sdf </a:t>
            </a:r>
            <a:r>
              <a:rPr lang="ko-KR" altLang="en-US" dirty="0"/>
              <a:t>파일은 </a:t>
            </a:r>
            <a:r>
              <a:rPr lang="en-US" altLang="ko-KR" dirty="0"/>
              <a:t>Cell Delay + Net Delay </a:t>
            </a:r>
            <a:r>
              <a:rPr lang="ko-KR" altLang="en-US" dirty="0"/>
              <a:t>정보를 포함하므로 다음 단계 툴에서 활용됨 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F684A5-558D-4533-AB1C-4C186C536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864" y="1587655"/>
            <a:ext cx="4818324" cy="345894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516C275-B3D3-49F8-91C5-243CD291B5EB}"/>
              </a:ext>
            </a:extLst>
          </p:cNvPr>
          <p:cNvSpPr/>
          <p:nvPr/>
        </p:nvSpPr>
        <p:spPr>
          <a:xfrm>
            <a:off x="7746023" y="3560435"/>
            <a:ext cx="4106008" cy="395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2670466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C25C2-F3E0-0405-DF2F-67A75D68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8D7AB-655D-DB9B-9CD9-BBDF4A29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FE5002-7906-A3C2-7796-703D0991745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DD656C8-FC54-9AF9-B150-8E65D490A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6647754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(12) Post Layout Simulation </a:t>
            </a:r>
          </a:p>
          <a:p>
            <a:pPr lvl="1"/>
            <a:r>
              <a:rPr lang="ko-KR" altLang="en-US" dirty="0"/>
              <a:t>앞 단계에서 출력된 </a:t>
            </a:r>
            <a:r>
              <a:rPr lang="en-US" altLang="ko-KR" dirty="0"/>
              <a:t>sdf </a:t>
            </a:r>
            <a:r>
              <a:rPr lang="ko-KR" altLang="en-US" dirty="0"/>
              <a:t>파일을 이용</a:t>
            </a:r>
            <a:r>
              <a:rPr lang="en-US" altLang="ko-KR" dirty="0"/>
              <a:t>,</a:t>
            </a:r>
            <a:r>
              <a:rPr lang="ko-KR" altLang="en-US" dirty="0"/>
              <a:t> 실제 칩 동작 상황에 가장 가까운 시뮬레이션 진행이 가능 </a:t>
            </a:r>
            <a:endParaRPr lang="en-US" altLang="ko-KR" dirty="0"/>
          </a:p>
          <a:p>
            <a:pPr lvl="1"/>
            <a:r>
              <a:rPr lang="en-US" altLang="ko-KR" dirty="0"/>
              <a:t>Xcelium </a:t>
            </a:r>
            <a:r>
              <a:rPr lang="ko-KR" altLang="en-US" dirty="0"/>
              <a:t>툴을 통해 진행</a:t>
            </a:r>
            <a:endParaRPr lang="en-US" altLang="ko-KR" dirty="0"/>
          </a:p>
          <a:p>
            <a:pPr lvl="1"/>
            <a:r>
              <a:rPr lang="ko-KR" altLang="en-US" dirty="0"/>
              <a:t>모든 신호 경로의 정확한 타이밍과 신호 품질을 최종적으로 확인할 수 있음 </a:t>
            </a:r>
            <a:endParaRPr lang="en-US" altLang="ko-KR" dirty="0"/>
          </a:p>
          <a:p>
            <a:pPr lvl="1"/>
            <a:r>
              <a:rPr lang="ko-KR" altLang="en-US" dirty="0"/>
              <a:t>가장 긴 </a:t>
            </a:r>
            <a:r>
              <a:rPr lang="en-US" altLang="ko-KR" dirty="0"/>
              <a:t>Run Time </a:t>
            </a:r>
            <a:r>
              <a:rPr lang="ko-KR" altLang="en-US" dirty="0"/>
              <a:t>을 보이는 시뮬레이션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F684A5-558D-4533-AB1C-4C186C536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864" y="1587655"/>
            <a:ext cx="4818324" cy="345894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3609E1A-5901-45CA-B267-F9FA0C7C5C5A}"/>
              </a:ext>
            </a:extLst>
          </p:cNvPr>
          <p:cNvSpPr/>
          <p:nvPr/>
        </p:nvSpPr>
        <p:spPr>
          <a:xfrm>
            <a:off x="7746023" y="4167103"/>
            <a:ext cx="4106008" cy="4840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4260430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6C1C1-CC2D-E58F-C7D7-890BC833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F3281-031F-50B2-D4A2-31F11324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CB01FE-3624-6B19-B80A-A428BBE167C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AC74FF2A-DC0D-6AC8-647C-524BCE167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(13) </a:t>
            </a:r>
            <a:r>
              <a:rPr lang="ko-KR" altLang="en-US" dirty="0"/>
              <a:t>머지 및 </a:t>
            </a:r>
            <a:r>
              <a:rPr lang="en-US" altLang="ko-KR" dirty="0"/>
              <a:t>Tape Out</a:t>
            </a:r>
          </a:p>
          <a:p>
            <a:pPr lvl="1"/>
            <a:r>
              <a:rPr lang="ko-KR" altLang="en-US" dirty="0"/>
              <a:t>최종 디자인 처리 과정</a:t>
            </a:r>
            <a:r>
              <a:rPr lang="en-US" altLang="ko-KR" dirty="0"/>
              <a:t>: </a:t>
            </a:r>
            <a:r>
              <a:rPr lang="ko-KR" altLang="en-US" dirty="0"/>
              <a:t>팬텀 셀로 작업한 결과를 </a:t>
            </a:r>
            <a:r>
              <a:rPr lang="en-US" altLang="ko-KR" dirty="0"/>
              <a:t>Real </a:t>
            </a:r>
            <a:r>
              <a:rPr lang="ko-KR" altLang="en-US" dirty="0"/>
              <a:t>패턴이 보이도록 변환 필요</a:t>
            </a:r>
            <a:endParaRPr lang="en-US" altLang="ko-KR" dirty="0"/>
          </a:p>
          <a:p>
            <a:pPr lvl="1"/>
            <a:r>
              <a:rPr lang="en-US" altLang="ko-KR" dirty="0"/>
              <a:t>Cadence</a:t>
            </a:r>
            <a:r>
              <a:rPr lang="ko-KR" altLang="en-US" dirty="0"/>
              <a:t> </a:t>
            </a:r>
            <a:r>
              <a:rPr lang="en-US" altLang="ko-KR" dirty="0"/>
              <a:t>Virtuoso</a:t>
            </a:r>
            <a:r>
              <a:rPr lang="ko-KR" altLang="en-US" dirty="0"/>
              <a:t> 툴 사용</a:t>
            </a:r>
          </a:p>
          <a:p>
            <a:pPr lvl="1"/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공정사에서 제공하는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Real GDS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기존 레이아웃과 같은 라이브러리에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Overwrite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방식으로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Import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ko-KR" altLang="en-US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FE5DCE-DCDF-8DDA-52F4-5B77E5B57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20" y="3663387"/>
            <a:ext cx="8064560" cy="21239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2285808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1680-DFC4-A20E-8E07-0704BAC4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826A4-CF88-7CD3-8751-D50E9AA1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3CCFAD-9BC3-C67B-3558-4C3A1FB98E3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AEACC977-9C25-F35C-6A72-E895D68F3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(13) </a:t>
            </a:r>
            <a:r>
              <a:rPr lang="ko-KR" altLang="en-US" dirty="0"/>
              <a:t>머지 및 </a:t>
            </a:r>
            <a:r>
              <a:rPr lang="en-US" altLang="ko-KR" dirty="0"/>
              <a:t>Tape Out</a:t>
            </a:r>
          </a:p>
          <a:p>
            <a:pPr lvl="1"/>
            <a:endParaRPr lang="ko-KR" altLang="en-US" dirty="0"/>
          </a:p>
          <a:p>
            <a:pPr lvl="1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5CF79C8-6A4B-4EEE-CD53-38898AC20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858830"/>
              </p:ext>
            </p:extLst>
          </p:nvPr>
        </p:nvGraphicFramePr>
        <p:xfrm>
          <a:off x="1212414" y="2073904"/>
          <a:ext cx="9977377" cy="4246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41">
                  <a:extLst>
                    <a:ext uri="{9D8B030D-6E8A-4147-A177-3AD203B41FA5}">
                      <a16:colId xmlns:a16="http://schemas.microsoft.com/office/drawing/2014/main" val="1191890739"/>
                    </a:ext>
                  </a:extLst>
                </a:gridCol>
                <a:gridCol w="8715736">
                  <a:extLst>
                    <a:ext uri="{9D8B030D-6E8A-4147-A177-3AD203B41FA5}">
                      <a16:colId xmlns:a16="http://schemas.microsoft.com/office/drawing/2014/main" val="3337748060"/>
                    </a:ext>
                  </a:extLst>
                </a:gridCol>
              </a:tblGrid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250456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Cadence Virtuoso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툴에서 최종 디자인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gds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파일을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934844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공정사에서 제공된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GDS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레이아웃과 같은 라이브러리에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Overwrite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방식으로 진행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516442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Layout Editor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머지 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후의 상태를 비교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609852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셀 및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Bonding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패드 포함 여부 확인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Seal Ring/Outline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232113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더미셀 추가 여부 검토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(ESD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보호 및 설계 안정성 확보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54682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 DRC, LVS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실행하여 최종 검증을 진행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99188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필연적인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DRC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오류가 존재하는 경우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Waive List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292539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문제가 없으면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 List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작성하고 최종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gds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파일을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792498"/>
                  </a:ext>
                </a:extLst>
              </a:tr>
              <a:tr h="4007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gds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포맷으로 추출하여 프로젝트 기간 내에 공정사에 제출함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(Tape-out)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392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616512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1680-DFC4-A20E-8E07-0704BAC4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826A4-CF88-7CD3-8751-D50E9AA1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반도체 설계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3CCFAD-9BC3-C67B-3558-4C3A1FB98E3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1.2.2 </a:t>
            </a:r>
            <a:r>
              <a:rPr lang="ko-KR" altLang="en-US" sz="2400" b="1" dirty="0"/>
              <a:t>디지털 설계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AEACC977-9C25-F35C-6A72-E895D68F3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(13) </a:t>
            </a:r>
            <a:r>
              <a:rPr lang="ko-KR" altLang="en-US" dirty="0"/>
              <a:t>머지 및 </a:t>
            </a:r>
            <a:r>
              <a:rPr lang="en-US" altLang="ko-KR" dirty="0"/>
              <a:t>Tape Out</a:t>
            </a:r>
          </a:p>
          <a:p>
            <a:pPr lvl="1"/>
            <a:endParaRPr lang="ko-KR" altLang="en-US" dirty="0"/>
          </a:p>
          <a:p>
            <a:pPr lvl="1" algn="ctr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FE7742-4EDF-4A68-AFED-6B0DF4F3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63" y="2039931"/>
            <a:ext cx="4194498" cy="419449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C33393-023F-4F3E-84A6-36E5A7EBB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463" y="2078209"/>
            <a:ext cx="4115074" cy="415776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B5CDBAC-0EAD-4EDA-A7A2-647C67B9BE8B}"/>
              </a:ext>
            </a:extLst>
          </p:cNvPr>
          <p:cNvSpPr/>
          <p:nvPr/>
        </p:nvSpPr>
        <p:spPr>
          <a:xfrm>
            <a:off x="2004646" y="6250100"/>
            <a:ext cx="2927838" cy="5175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Innovus with FRAM cell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머지 전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E76112-69B1-4020-9636-A4B8D61A75FB}"/>
              </a:ext>
            </a:extLst>
          </p:cNvPr>
          <p:cNvSpPr/>
          <p:nvPr/>
        </p:nvSpPr>
        <p:spPr>
          <a:xfrm>
            <a:off x="7259518" y="6250100"/>
            <a:ext cx="2927838" cy="5175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Virtuoso with REAL cell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머지 후</a:t>
            </a:r>
            <a:r>
              <a:rPr lang="en-US" altLang="ko-KR" dirty="0">
                <a:solidFill>
                  <a:schemeClr val="tx1"/>
                </a:solidFill>
              </a:rPr>
              <a:t>-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03B29707-E02E-4751-8896-6299FF91F9E3}"/>
              </a:ext>
            </a:extLst>
          </p:cNvPr>
          <p:cNvSpPr/>
          <p:nvPr/>
        </p:nvSpPr>
        <p:spPr>
          <a:xfrm>
            <a:off x="9724292" y="1141342"/>
            <a:ext cx="2283071" cy="691590"/>
          </a:xfrm>
          <a:prstGeom prst="wedgeRectCallout">
            <a:avLst>
              <a:gd name="adj1" fmla="val -29164"/>
              <a:gd name="adj2" fmla="val 74270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Physical DRC, LVS</a:t>
            </a:r>
            <a:r>
              <a:rPr lang="ko-KR" altLang="en-US" dirty="0">
                <a:solidFill>
                  <a:schemeClr val="tx1"/>
                </a:solidFill>
              </a:rPr>
              <a:t>후 </a:t>
            </a:r>
            <a:r>
              <a:rPr lang="en-US" altLang="ko-KR" dirty="0">
                <a:solidFill>
                  <a:schemeClr val="tx1"/>
                </a:solidFill>
              </a:rPr>
              <a:t>Tape Out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175888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3015836" y="1762290"/>
            <a:ext cx="5939188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EDA </a:t>
            </a:r>
            <a:r>
              <a:rPr lang="ko-KR" altLang="en-US" sz="4800" dirty="0"/>
              <a:t>툴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33237840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1.3 EDA(Electrical Design Automation) </a:t>
            </a:r>
            <a:r>
              <a:rPr lang="ko-KR" altLang="en-US" dirty="0"/>
              <a:t>툴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EDA </a:t>
            </a:r>
            <a:r>
              <a:rPr lang="ko-KR" altLang="en-US" sz="2400" b="1" dirty="0"/>
              <a:t>툴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32EE0-B2A9-4E38-82BA-0F8B554F0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반도체 설계에는 복잡하고 정교한 작업을 위한 전용 툴 필요</a:t>
            </a:r>
          </a:p>
          <a:p>
            <a:pPr lvl="0" latinLnBrk="0"/>
            <a:r>
              <a:rPr lang="en-US" altLang="ko-KR" dirty="0"/>
              <a:t>EDA </a:t>
            </a:r>
            <a:r>
              <a:rPr lang="ko-KR" altLang="ko-KR" dirty="0"/>
              <a:t>툴은 회로 기술</a:t>
            </a:r>
            <a:r>
              <a:rPr lang="en-US" altLang="ko-KR" dirty="0"/>
              <a:t>, </a:t>
            </a:r>
            <a:r>
              <a:rPr lang="ko-KR" altLang="ko-KR" dirty="0"/>
              <a:t>검증</a:t>
            </a:r>
            <a:r>
              <a:rPr lang="en-US" altLang="ko-KR" dirty="0"/>
              <a:t>, </a:t>
            </a:r>
            <a:r>
              <a:rPr lang="ko-KR" altLang="ko-KR" dirty="0"/>
              <a:t>물리적 칩 구현 과정을 자동화 및 보조</a:t>
            </a:r>
          </a:p>
          <a:p>
            <a:pPr lvl="0" latinLnBrk="0"/>
            <a:r>
              <a:rPr lang="en-US" altLang="ko-KR" dirty="0"/>
              <a:t>CADENCE</a:t>
            </a:r>
            <a:r>
              <a:rPr lang="ko-KR" altLang="ko-KR" dirty="0"/>
              <a:t>사의</a:t>
            </a:r>
            <a:r>
              <a:rPr lang="en-US" altLang="ko-KR" dirty="0"/>
              <a:t> RTL to GDS Flow</a:t>
            </a:r>
            <a:r>
              <a:rPr lang="ko-KR" altLang="ko-KR" dirty="0"/>
              <a:t>를 통해 디지털 설계 과정 이해 가능</a:t>
            </a:r>
          </a:p>
          <a:p>
            <a:pPr lvl="0" latinLnBrk="0"/>
            <a:r>
              <a:rPr lang="ko-KR" altLang="ko-KR" dirty="0"/>
              <a:t>툴의 목적에 따라 색깔별로 구분된 워크플로우 확인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A63D73-7F4C-461F-A49A-98A77A983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15" y="3258151"/>
            <a:ext cx="6245443" cy="35015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6232156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1.3 EDA(Electrical Design Automation) </a:t>
            </a:r>
            <a:r>
              <a:rPr lang="ko-KR" altLang="en-US" dirty="0"/>
              <a:t>툴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1.3.1 Xcelium</a:t>
            </a:r>
            <a:endParaRPr lang="ko-KR" altLang="en-US" sz="24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C6BEE06-D690-434A-9061-5DB6F3591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목적</a:t>
            </a:r>
            <a:r>
              <a:rPr lang="en-US" altLang="ko-KR" dirty="0"/>
              <a:t>: Function, Pre-Layout, Post-Layout Simulation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입력</a:t>
            </a:r>
            <a:r>
              <a:rPr lang="en-US" altLang="ko-KR" dirty="0"/>
              <a:t>: Verilog/SystemVerilog </a:t>
            </a:r>
            <a:r>
              <a:rPr lang="ko-KR" altLang="ko-KR" dirty="0"/>
              <a:t>코드</a:t>
            </a:r>
            <a:r>
              <a:rPr lang="en-US" altLang="ko-KR" dirty="0"/>
              <a:t>, Testbench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출력</a:t>
            </a:r>
            <a:r>
              <a:rPr lang="en-US" altLang="ko-KR" dirty="0"/>
              <a:t>: </a:t>
            </a:r>
            <a:r>
              <a:rPr lang="ko-KR" altLang="ko-KR" dirty="0"/>
              <a:t>파형</a:t>
            </a:r>
            <a:r>
              <a:rPr lang="en-US" altLang="ko-KR" dirty="0"/>
              <a:t>(Waveform) </a:t>
            </a:r>
            <a:r>
              <a:rPr lang="ko-KR" altLang="ko-KR" dirty="0"/>
              <a:t>및 시뮬레이션 로그 파일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지원</a:t>
            </a:r>
            <a:r>
              <a:rPr lang="en-US" altLang="ko-KR" dirty="0"/>
              <a:t> OS: RHEL 7, RHEL 8/SLES 11, SLES 12</a:t>
            </a:r>
            <a:endParaRPr lang="ko-KR" altLang="ko-KR" sz="1200" dirty="0"/>
          </a:p>
          <a:p>
            <a:pPr lvl="0" latinLnBrk="0"/>
            <a:r>
              <a:rPr lang="ko-KR" altLang="ko-KR" dirty="0"/>
              <a:t>특성 및 기능</a:t>
            </a:r>
            <a:r>
              <a:rPr lang="en-US" altLang="ko-KR" dirty="0"/>
              <a:t>:</a:t>
            </a:r>
            <a:endParaRPr lang="ko-KR" altLang="ko-KR" sz="1200" dirty="0"/>
          </a:p>
          <a:p>
            <a:pPr lvl="1" latinLnBrk="0"/>
            <a:r>
              <a:rPr lang="en-US" altLang="ko-KR" dirty="0"/>
              <a:t>Multi language </a:t>
            </a:r>
            <a:r>
              <a:rPr lang="ko-KR" altLang="ko-KR" dirty="0"/>
              <a:t>지원</a:t>
            </a:r>
            <a:r>
              <a:rPr lang="en-US" altLang="ko-KR" dirty="0"/>
              <a:t> simulator </a:t>
            </a:r>
          </a:p>
          <a:p>
            <a:pPr marL="457200" lvl="1" indent="0" latinLnBrk="0">
              <a:buNone/>
            </a:pPr>
            <a:r>
              <a:rPr lang="en-US" altLang="ko-KR" dirty="0"/>
              <a:t>   (SystemVerilog, VHDL, SystemC </a:t>
            </a:r>
            <a:r>
              <a:rPr lang="ko-KR" altLang="ko-KR" dirty="0"/>
              <a:t>등</a:t>
            </a:r>
            <a:r>
              <a:rPr lang="en-US" altLang="ko-KR" dirty="0"/>
              <a:t>)</a:t>
            </a:r>
            <a:endParaRPr lang="ko-KR" altLang="ko-KR" sz="1100" dirty="0"/>
          </a:p>
          <a:p>
            <a:pPr lvl="1" latinLnBrk="0"/>
            <a:r>
              <a:rPr lang="en-US" altLang="ko-KR" dirty="0"/>
              <a:t>UVM, mixed signal, low power, </a:t>
            </a:r>
          </a:p>
          <a:p>
            <a:pPr marL="457200" lvl="1" indent="0" latinLnBrk="0">
              <a:buNone/>
            </a:pPr>
            <a:r>
              <a:rPr lang="en-US" altLang="ko-KR" dirty="0"/>
              <a:t>   X-propagation </a:t>
            </a:r>
            <a:r>
              <a:rPr lang="ko-KR" altLang="ko-KR" dirty="0"/>
              <a:t>지원</a:t>
            </a:r>
            <a:endParaRPr lang="ko-KR" altLang="ko-KR" sz="1100" dirty="0"/>
          </a:p>
          <a:p>
            <a:pPr lvl="1" latinLnBrk="0"/>
            <a:r>
              <a:rPr lang="ko-KR" altLang="ko-KR" dirty="0"/>
              <a:t>고품질</a:t>
            </a:r>
            <a:r>
              <a:rPr lang="en-US" altLang="ko-KR" dirty="0"/>
              <a:t>, </a:t>
            </a:r>
            <a:r>
              <a:rPr lang="ko-KR" altLang="ko-KR" dirty="0"/>
              <a:t>고성능의 코어 엔진을 가진</a:t>
            </a:r>
            <a:r>
              <a:rPr lang="en-US" altLang="ko-KR" dirty="0"/>
              <a:t> </a:t>
            </a:r>
          </a:p>
          <a:p>
            <a:pPr marL="457200" lvl="1" indent="0" latinLnBrk="0">
              <a:buNone/>
            </a:pPr>
            <a:r>
              <a:rPr lang="en-US" altLang="ko-KR" dirty="0"/>
              <a:t>   Digital Logic Simulator</a:t>
            </a:r>
            <a:endParaRPr lang="ko-KR" altLang="ko-KR" sz="1100" dirty="0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06ACFF0D-2572-4F06-B588-020EF7675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60023" y="3220772"/>
            <a:ext cx="6731977" cy="3637228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355172650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1.3 EDA(Electrical Design Automation) </a:t>
            </a:r>
            <a:r>
              <a:rPr lang="ko-KR" altLang="en-US" dirty="0"/>
              <a:t>툴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C6BEE06-D690-434A-9061-5DB6F3591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목적</a:t>
            </a:r>
            <a:r>
              <a:rPr lang="en-US" altLang="ko-KR" dirty="0"/>
              <a:t>: </a:t>
            </a:r>
            <a:r>
              <a:rPr lang="ko-KR" altLang="ko-KR" dirty="0"/>
              <a:t>합성</a:t>
            </a:r>
            <a:r>
              <a:rPr lang="en-US" altLang="ko-KR" dirty="0"/>
              <a:t>(Synthesis)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입력</a:t>
            </a:r>
            <a:r>
              <a:rPr lang="en-US" altLang="ko-KR" dirty="0"/>
              <a:t>: RTL </a:t>
            </a:r>
            <a:r>
              <a:rPr lang="ko-KR" altLang="ko-KR" dirty="0"/>
              <a:t>코드</a:t>
            </a:r>
            <a:r>
              <a:rPr lang="en-US" altLang="ko-KR" dirty="0"/>
              <a:t>, </a:t>
            </a:r>
            <a:r>
              <a:rPr lang="ko-KR" altLang="ko-KR" dirty="0"/>
              <a:t>디지털 라이브러리</a:t>
            </a:r>
            <a:r>
              <a:rPr lang="en-US" altLang="ko-KR" dirty="0"/>
              <a:t>(Standard Cell + IO Cell), </a:t>
            </a:r>
            <a:r>
              <a:rPr lang="ko-KR" altLang="ko-KR" dirty="0"/>
              <a:t>제약 조건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출력</a:t>
            </a:r>
            <a:r>
              <a:rPr lang="en-US" altLang="ko-KR" dirty="0"/>
              <a:t>: </a:t>
            </a:r>
            <a:r>
              <a:rPr lang="ko-KR" altLang="ko-KR" dirty="0"/>
              <a:t>게이트</a:t>
            </a:r>
            <a:r>
              <a:rPr lang="en-US" altLang="ko-KR" dirty="0"/>
              <a:t>-</a:t>
            </a:r>
            <a:r>
              <a:rPr lang="ko-KR" altLang="ko-KR" dirty="0"/>
              <a:t>레벨 넷리스트</a:t>
            </a:r>
            <a:r>
              <a:rPr lang="en-US" altLang="ko-KR" dirty="0"/>
              <a:t>(Gate-level Netlist)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지원</a:t>
            </a:r>
            <a:r>
              <a:rPr lang="en-US" altLang="ko-KR" dirty="0"/>
              <a:t> OS: 21</a:t>
            </a:r>
            <a:r>
              <a:rPr lang="ko-KR" altLang="ko-KR" dirty="0"/>
              <a:t>버전 기준</a:t>
            </a:r>
            <a:r>
              <a:rPr lang="en-US" altLang="ko-KR" dirty="0"/>
              <a:t>, RHEL 7, SLES 12 (64bit)</a:t>
            </a:r>
            <a:endParaRPr lang="ko-KR" altLang="ko-KR" sz="1200" dirty="0"/>
          </a:p>
          <a:p>
            <a:pPr lvl="0" latinLnBrk="0"/>
            <a:r>
              <a:rPr lang="ko-KR" altLang="ko-KR" dirty="0"/>
              <a:t>특성 및 기능</a:t>
            </a:r>
            <a:r>
              <a:rPr lang="en-US" altLang="ko-KR" dirty="0"/>
              <a:t>:</a:t>
            </a:r>
            <a:endParaRPr lang="ko-KR" altLang="ko-KR" sz="1200" dirty="0"/>
          </a:p>
          <a:p>
            <a:pPr lvl="1" latinLnBrk="0"/>
            <a:r>
              <a:rPr lang="en-US" altLang="ko-KR" dirty="0"/>
              <a:t>Digital IC Design</a:t>
            </a:r>
            <a:r>
              <a:rPr lang="ko-KR" altLang="ko-KR" dirty="0"/>
              <a:t>을 위한</a:t>
            </a:r>
            <a:r>
              <a:rPr lang="en-US" altLang="ko-KR" dirty="0"/>
              <a:t> Logic Synthesis </a:t>
            </a:r>
          </a:p>
          <a:p>
            <a:pPr marL="457200" lvl="1" indent="0" latinLnBrk="0">
              <a:buNone/>
            </a:pPr>
            <a:r>
              <a:rPr lang="en-US" altLang="ko-KR" dirty="0"/>
              <a:t>   Solution </a:t>
            </a:r>
            <a:r>
              <a:rPr lang="ko-KR" altLang="ko-KR" dirty="0"/>
              <a:t>제공</a:t>
            </a:r>
            <a:endParaRPr lang="ko-KR" altLang="ko-KR" sz="1100" dirty="0"/>
          </a:p>
          <a:p>
            <a:pPr lvl="1" latinLnBrk="0"/>
            <a:r>
              <a:rPr lang="en-US" altLang="ko-KR" dirty="0"/>
              <a:t>Global mapping </a:t>
            </a:r>
            <a:r>
              <a:rPr lang="ko-KR" altLang="ko-KR" dirty="0"/>
              <a:t>기술을 통한</a:t>
            </a:r>
            <a:r>
              <a:rPr lang="en-US" altLang="ko-KR" dirty="0"/>
              <a:t> Timing, Power, </a:t>
            </a:r>
          </a:p>
          <a:p>
            <a:pPr marL="457200" lvl="1" indent="0" latinLnBrk="0">
              <a:buNone/>
            </a:pPr>
            <a:r>
              <a:rPr lang="en-US" altLang="ko-KR" dirty="0"/>
              <a:t>   Area </a:t>
            </a:r>
            <a:r>
              <a:rPr lang="ko-KR" altLang="ko-KR" dirty="0"/>
              <a:t>최적화</a:t>
            </a:r>
            <a:endParaRPr lang="ko-KR" altLang="ko-KR" sz="1100" dirty="0"/>
          </a:p>
          <a:p>
            <a:pPr lvl="1" latinLnBrk="0"/>
            <a:r>
              <a:rPr lang="en-US" altLang="ko-KR" dirty="0"/>
              <a:t>Timing-Driven Partition Algorithm</a:t>
            </a:r>
            <a:r>
              <a:rPr lang="ko-KR" altLang="ko-KR" dirty="0"/>
              <a:t>으로</a:t>
            </a:r>
            <a:r>
              <a:rPr lang="en-US" altLang="ko-KR" dirty="0"/>
              <a:t> </a:t>
            </a:r>
          </a:p>
          <a:p>
            <a:pPr marL="457200" lvl="1" indent="0" latinLnBrk="0">
              <a:buNone/>
            </a:pPr>
            <a:r>
              <a:rPr lang="en-US" altLang="ko-KR" dirty="0"/>
              <a:t>   5</a:t>
            </a:r>
            <a:r>
              <a:rPr lang="ko-KR" altLang="ko-KR" dirty="0"/>
              <a:t>배 이상 빠른 처리 속도</a:t>
            </a:r>
            <a:endParaRPr lang="ko-KR" altLang="ko-KR" sz="1100" dirty="0"/>
          </a:p>
          <a:p>
            <a:pPr lvl="1" latinLnBrk="0"/>
            <a:r>
              <a:rPr lang="ko-KR" altLang="ko-KR" dirty="0"/>
              <a:t>합성 후</a:t>
            </a:r>
            <a:r>
              <a:rPr lang="en-US" altLang="ko-KR" dirty="0"/>
              <a:t> DFT </a:t>
            </a:r>
            <a:r>
              <a:rPr lang="ko-KR" altLang="ko-KR" dirty="0"/>
              <a:t>기능 및</a:t>
            </a:r>
            <a:r>
              <a:rPr lang="en-US" altLang="ko-KR" dirty="0"/>
              <a:t> Modus </a:t>
            </a:r>
            <a:r>
              <a:rPr lang="ko-KR" altLang="ko-KR" dirty="0"/>
              <a:t>툴을 통한</a:t>
            </a:r>
            <a:r>
              <a:rPr lang="en-US" altLang="ko-KR" dirty="0"/>
              <a:t> </a:t>
            </a:r>
          </a:p>
          <a:p>
            <a:pPr marL="457200" lvl="1" indent="0" latinLnBrk="0">
              <a:buNone/>
            </a:pPr>
            <a:r>
              <a:rPr lang="en-US" altLang="ko-KR" dirty="0"/>
              <a:t>   ATPG </a:t>
            </a:r>
            <a:r>
              <a:rPr lang="ko-KR" altLang="ko-KR" dirty="0"/>
              <a:t>지원</a:t>
            </a:r>
            <a:endParaRPr lang="ko-KR" altLang="ko-KR" sz="1100" dirty="0"/>
          </a:p>
          <a:p>
            <a:pPr lvl="1" latinLnBrk="0"/>
            <a:r>
              <a:rPr lang="en-US" altLang="ko-KR" dirty="0"/>
              <a:t>Incremental </a:t>
            </a:r>
            <a:r>
              <a:rPr lang="ko-KR" altLang="ko-KR" dirty="0"/>
              <a:t>컴파일을 통한 복잡한 최적화 작업 </a:t>
            </a:r>
            <a:endParaRPr lang="en-US" altLang="ko-KR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CD66E45E-9363-4FEF-B7C9-C1C822BBBD7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040085" cy="466312"/>
          </a:xfrm>
        </p:spPr>
        <p:txBody>
          <a:bodyPr/>
          <a:lstStyle/>
          <a:p>
            <a:r>
              <a:rPr lang="en-US" altLang="ko-KR" sz="2400" b="1" dirty="0"/>
              <a:t>1.3.2 Genus </a:t>
            </a:r>
            <a:endParaRPr lang="ko-KR" altLang="en-US" sz="2400" b="1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899C24F-4A67-4E4D-818D-88D01A3FF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27177" y="2816475"/>
            <a:ext cx="5764824" cy="399756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134863790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1.3 EDA(Electrical Design Automation) </a:t>
            </a:r>
            <a:r>
              <a:rPr lang="ko-KR" altLang="en-US" dirty="0"/>
              <a:t>툴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C6BEE06-D690-434A-9061-5DB6F3591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목적</a:t>
            </a:r>
            <a:r>
              <a:rPr lang="en-US" altLang="ko-KR" dirty="0"/>
              <a:t>: Pre-Layout, Post-Layout Equivalence Check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입력</a:t>
            </a:r>
            <a:r>
              <a:rPr lang="en-US" altLang="ko-KR" dirty="0"/>
              <a:t>: RTL </a:t>
            </a:r>
            <a:r>
              <a:rPr lang="ko-KR" altLang="ko-KR" dirty="0"/>
              <a:t>코드</a:t>
            </a:r>
            <a:r>
              <a:rPr lang="en-US" altLang="ko-KR" dirty="0"/>
              <a:t>, </a:t>
            </a:r>
            <a:r>
              <a:rPr lang="ko-KR" altLang="ko-KR" dirty="0"/>
              <a:t>게이트 레벨 넷리스트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출력</a:t>
            </a:r>
            <a:r>
              <a:rPr lang="en-US" altLang="ko-KR" dirty="0"/>
              <a:t>: </a:t>
            </a:r>
            <a:r>
              <a:rPr lang="ko-KR" altLang="ko-KR" dirty="0"/>
              <a:t>등가성 검증 보고서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지원</a:t>
            </a:r>
            <a:r>
              <a:rPr lang="en-US" altLang="ko-KR" dirty="0"/>
              <a:t> OS: 23</a:t>
            </a:r>
            <a:r>
              <a:rPr lang="ko-KR" altLang="ko-KR" dirty="0"/>
              <a:t>버전 기준</a:t>
            </a:r>
            <a:r>
              <a:rPr lang="en-US" altLang="ko-KR" dirty="0"/>
              <a:t>, RHEL 7, SLES 12 (64bit)</a:t>
            </a:r>
            <a:endParaRPr lang="ko-KR" altLang="ko-KR" sz="1200" dirty="0"/>
          </a:p>
          <a:p>
            <a:pPr lvl="0" latinLnBrk="0"/>
            <a:r>
              <a:rPr lang="ko-KR" altLang="ko-KR" dirty="0"/>
              <a:t>특성 및 기능</a:t>
            </a:r>
            <a:r>
              <a:rPr lang="en-US" altLang="ko-KR" dirty="0"/>
              <a:t>:</a:t>
            </a:r>
            <a:endParaRPr lang="ko-KR" altLang="ko-KR" sz="1200" dirty="0"/>
          </a:p>
          <a:p>
            <a:pPr lvl="1" latinLnBrk="0"/>
            <a:r>
              <a:rPr lang="ko-KR" altLang="ko-KR" dirty="0"/>
              <a:t>합성 전후 설계의 논리적 동일성 여부 </a:t>
            </a:r>
            <a:endParaRPr lang="en-US" altLang="ko-KR" dirty="0"/>
          </a:p>
          <a:p>
            <a:pPr marL="457200" lvl="1" indent="0" latinLnBrk="0">
              <a:buNone/>
            </a:pPr>
            <a:r>
              <a:rPr lang="en-US" altLang="ko-KR" dirty="0"/>
              <a:t>   </a:t>
            </a:r>
            <a:r>
              <a:rPr lang="ko-KR" altLang="ko-KR" dirty="0"/>
              <a:t>검증</a:t>
            </a:r>
            <a:endParaRPr lang="ko-KR" altLang="ko-KR" sz="1100" dirty="0"/>
          </a:p>
          <a:p>
            <a:pPr lvl="1" latinLnBrk="0"/>
            <a:r>
              <a:rPr lang="en-US" altLang="ko-KR" dirty="0"/>
              <a:t>Pre-Layout </a:t>
            </a:r>
            <a:r>
              <a:rPr lang="ko-KR" altLang="ko-KR" dirty="0"/>
              <a:t>단계</a:t>
            </a:r>
            <a:r>
              <a:rPr lang="en-US" altLang="ko-KR" dirty="0"/>
              <a:t>: </a:t>
            </a:r>
          </a:p>
          <a:p>
            <a:pPr marL="457200" lvl="1" indent="0" latinLnBrk="0">
              <a:buNone/>
            </a:pPr>
            <a:r>
              <a:rPr lang="en-US" altLang="ko-KR" dirty="0"/>
              <a:t>   RTL </a:t>
            </a:r>
            <a:r>
              <a:rPr lang="ko-KR" altLang="ko-KR" dirty="0"/>
              <a:t>코드와 게이트</a:t>
            </a:r>
            <a:r>
              <a:rPr lang="en-US" altLang="ko-KR" dirty="0"/>
              <a:t>-</a:t>
            </a:r>
            <a:r>
              <a:rPr lang="ko-KR" altLang="ko-KR" dirty="0"/>
              <a:t>레벨 넷리스트 비교</a:t>
            </a:r>
            <a:endParaRPr lang="ko-KR" altLang="ko-KR" sz="1100" dirty="0"/>
          </a:p>
          <a:p>
            <a:pPr lvl="1" latinLnBrk="0"/>
            <a:r>
              <a:rPr lang="en-US" altLang="ko-KR" dirty="0"/>
              <a:t>Post-Layout </a:t>
            </a:r>
            <a:r>
              <a:rPr lang="ko-KR" altLang="ko-KR" dirty="0"/>
              <a:t>단계</a:t>
            </a:r>
            <a:r>
              <a:rPr lang="en-US" altLang="ko-KR" dirty="0"/>
              <a:t>: </a:t>
            </a:r>
          </a:p>
          <a:p>
            <a:pPr marL="457200" lvl="1" indent="0" latinLnBrk="0">
              <a:buNone/>
            </a:pPr>
            <a:r>
              <a:rPr lang="en-US" altLang="ko-KR" dirty="0"/>
              <a:t>   </a:t>
            </a:r>
            <a:r>
              <a:rPr lang="ko-KR" altLang="ko-KR" dirty="0"/>
              <a:t>합성 후와</a:t>
            </a:r>
            <a:r>
              <a:rPr lang="en-US" altLang="ko-KR" dirty="0"/>
              <a:t> PnR</a:t>
            </a:r>
            <a:r>
              <a:rPr lang="ko-KR" altLang="ko-KR" dirty="0"/>
              <a:t>후 게이트</a:t>
            </a:r>
            <a:r>
              <a:rPr lang="en-US" altLang="ko-KR" dirty="0"/>
              <a:t>-</a:t>
            </a:r>
            <a:r>
              <a:rPr lang="ko-KR" altLang="ko-KR" dirty="0"/>
              <a:t>레벨 넷리스트</a:t>
            </a:r>
            <a:r>
              <a:rPr lang="en-US" altLang="ko-KR" dirty="0"/>
              <a:t> </a:t>
            </a:r>
          </a:p>
          <a:p>
            <a:pPr marL="457200" lvl="1" indent="0" latinLnBrk="0">
              <a:buNone/>
            </a:pPr>
            <a:r>
              <a:rPr lang="en-US" altLang="ko-KR" dirty="0"/>
              <a:t>  </a:t>
            </a:r>
            <a:r>
              <a:rPr lang="ko-KR" altLang="ko-KR" dirty="0"/>
              <a:t> 간 검증</a:t>
            </a:r>
            <a:endParaRPr lang="ko-KR" altLang="ko-KR" sz="1100" dirty="0"/>
          </a:p>
          <a:p>
            <a:pPr lvl="1" latinLnBrk="0"/>
            <a:r>
              <a:rPr lang="ko-KR" altLang="ko-KR" dirty="0"/>
              <a:t>동일한 패턴 입력 후 출력 일치 여부 </a:t>
            </a:r>
            <a:endParaRPr lang="en-US" altLang="ko-KR" dirty="0"/>
          </a:p>
          <a:p>
            <a:pPr marL="457200" lvl="1" indent="0" latinLnBrk="0">
              <a:buNone/>
            </a:pPr>
            <a:r>
              <a:rPr lang="en-US" altLang="ko-KR" dirty="0"/>
              <a:t>   </a:t>
            </a:r>
            <a:r>
              <a:rPr lang="ko-KR" altLang="ko-KR" dirty="0"/>
              <a:t>확인</a:t>
            </a:r>
            <a:endParaRPr lang="ko-KR" altLang="ko-KR" sz="11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CD66E45E-9363-4FEF-B7C9-C1C822BBBD7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040085" cy="466312"/>
          </a:xfrm>
        </p:spPr>
        <p:txBody>
          <a:bodyPr/>
          <a:lstStyle/>
          <a:p>
            <a:r>
              <a:rPr lang="en-US" altLang="ko-KR" sz="2400" b="1" dirty="0"/>
              <a:t>1.3.3 Conformal</a:t>
            </a:r>
            <a:endParaRPr lang="ko-KR" alt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3E8EC-1D29-4455-BBD6-77534968E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43433" y="3191608"/>
            <a:ext cx="6748567" cy="3568139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456835618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1.3 EDA(Electrical Design Automation) </a:t>
            </a:r>
            <a:r>
              <a:rPr lang="ko-KR" altLang="en-US" dirty="0"/>
              <a:t>툴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C6BEE06-D690-434A-9061-5DB6F3591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4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목적</a:t>
            </a:r>
            <a:r>
              <a:rPr lang="en-US" altLang="ko-KR" dirty="0"/>
              <a:t>: Auto Place &amp; Route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입력</a:t>
            </a:r>
            <a:r>
              <a:rPr lang="en-US" altLang="ko-KR" dirty="0"/>
              <a:t>: </a:t>
            </a:r>
            <a:r>
              <a:rPr lang="ko-KR" altLang="ko-KR" dirty="0"/>
              <a:t>게이트 레벨 넷리스트</a:t>
            </a:r>
            <a:r>
              <a:rPr lang="en-US" altLang="ko-KR" dirty="0"/>
              <a:t>, </a:t>
            </a:r>
            <a:r>
              <a:rPr lang="ko-KR" altLang="ko-KR" dirty="0"/>
              <a:t>물리적 라이브러리</a:t>
            </a:r>
            <a:r>
              <a:rPr lang="en-US" altLang="ko-KR" dirty="0"/>
              <a:t>(LEF), SDC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출력</a:t>
            </a:r>
            <a:r>
              <a:rPr lang="en-US" altLang="ko-KR" dirty="0"/>
              <a:t>: </a:t>
            </a:r>
            <a:r>
              <a:rPr lang="ko-KR" altLang="ko-KR" dirty="0"/>
              <a:t>배치 배선된 레이아웃 파일</a:t>
            </a:r>
            <a:r>
              <a:rPr lang="en-US" altLang="ko-KR" dirty="0"/>
              <a:t>(DEF/GDS)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지원</a:t>
            </a:r>
            <a:r>
              <a:rPr lang="en-US" altLang="ko-KR" dirty="0"/>
              <a:t> OS: 21</a:t>
            </a:r>
            <a:r>
              <a:rPr lang="ko-KR" altLang="ko-KR" dirty="0"/>
              <a:t>버전 기준</a:t>
            </a:r>
            <a:r>
              <a:rPr lang="en-US" altLang="ko-KR" dirty="0"/>
              <a:t>, RHEL 7, SLES 12 (64bit)</a:t>
            </a:r>
            <a:endParaRPr lang="ko-KR" altLang="ko-KR" sz="1200" dirty="0"/>
          </a:p>
          <a:p>
            <a:pPr lvl="0" latinLnBrk="0"/>
            <a:r>
              <a:rPr lang="ko-KR" altLang="ko-KR" dirty="0"/>
              <a:t>특성 및 기능</a:t>
            </a:r>
            <a:r>
              <a:rPr lang="en-US" altLang="ko-KR" dirty="0"/>
              <a:t>: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넷리스트 기반 셀 자동 배치 및 배선으로 최적 </a:t>
            </a:r>
            <a:endParaRPr lang="en-US" altLang="ko-KR" dirty="0"/>
          </a:p>
          <a:p>
            <a:pPr marL="457200" lvl="1" indent="0" latinLnBrk="0">
              <a:buNone/>
            </a:pPr>
            <a:r>
              <a:rPr lang="en-US" altLang="ko-KR" dirty="0"/>
              <a:t>   </a:t>
            </a:r>
            <a:r>
              <a:rPr lang="ko-KR" altLang="ko-KR" dirty="0"/>
              <a:t>레이아웃 생성</a:t>
            </a:r>
            <a:endParaRPr lang="ko-KR" altLang="ko-KR" sz="1100" dirty="0"/>
          </a:p>
          <a:p>
            <a:pPr lvl="1" latinLnBrk="0"/>
            <a:r>
              <a:rPr lang="en-US" altLang="ko-KR" dirty="0"/>
              <a:t>FloorPlan, PowerPlan, CTS, Route, ChipFinish </a:t>
            </a:r>
          </a:p>
          <a:p>
            <a:pPr marL="457200" lvl="1" indent="0" latinLnBrk="0">
              <a:buNone/>
            </a:pPr>
            <a:r>
              <a:rPr lang="en-US" altLang="ko-KR" dirty="0"/>
              <a:t>   </a:t>
            </a:r>
            <a:r>
              <a:rPr lang="ko-KR" altLang="ko-KR" dirty="0"/>
              <a:t>단계를 한 툴로 진행</a:t>
            </a:r>
            <a:endParaRPr lang="ko-KR" altLang="ko-KR" sz="1100" dirty="0"/>
          </a:p>
          <a:p>
            <a:pPr lvl="1" latinLnBrk="0"/>
            <a:r>
              <a:rPr lang="en-US" altLang="ko-KR" dirty="0"/>
              <a:t>Quantus </a:t>
            </a:r>
            <a:r>
              <a:rPr lang="ko-KR" altLang="ko-KR" dirty="0"/>
              <a:t>툴과 연동한</a:t>
            </a:r>
            <a:r>
              <a:rPr lang="en-US" altLang="ko-KR" dirty="0"/>
              <a:t> RC Extraction </a:t>
            </a:r>
            <a:r>
              <a:rPr lang="ko-KR" altLang="ko-KR" dirty="0"/>
              <a:t>지원</a:t>
            </a:r>
            <a:endParaRPr lang="ko-KR" altLang="ko-KR" sz="1100" dirty="0"/>
          </a:p>
          <a:p>
            <a:pPr lvl="1" latinLnBrk="0"/>
            <a:r>
              <a:rPr lang="en-US" altLang="ko-KR" dirty="0"/>
              <a:t>Voltus </a:t>
            </a:r>
            <a:r>
              <a:rPr lang="ko-KR" altLang="ko-KR" dirty="0"/>
              <a:t>툴과 연동한</a:t>
            </a:r>
            <a:r>
              <a:rPr lang="en-US" altLang="ko-KR" dirty="0"/>
              <a:t> IR drop </a:t>
            </a:r>
            <a:r>
              <a:rPr lang="ko-KR" altLang="ko-KR" dirty="0"/>
              <a:t>점검 기능</a:t>
            </a:r>
            <a:endParaRPr lang="ko-KR" altLang="ko-KR" sz="1100" dirty="0"/>
          </a:p>
          <a:p>
            <a:pPr lvl="1" latinLnBrk="0"/>
            <a:r>
              <a:rPr lang="ko-KR" altLang="ko-KR" dirty="0"/>
              <a:t>면적</a:t>
            </a:r>
            <a:r>
              <a:rPr lang="en-US" altLang="ko-KR" dirty="0"/>
              <a:t>, </a:t>
            </a:r>
            <a:r>
              <a:rPr lang="ko-KR" altLang="ko-KR" dirty="0"/>
              <a:t>성능</a:t>
            </a:r>
            <a:r>
              <a:rPr lang="en-US" altLang="ko-KR" dirty="0"/>
              <a:t>, </a:t>
            </a:r>
            <a:r>
              <a:rPr lang="ko-KR" altLang="ko-KR" dirty="0"/>
              <a:t>전력 효율성을 동시에 고려한 </a:t>
            </a:r>
            <a:endParaRPr lang="en-US" altLang="ko-KR" dirty="0"/>
          </a:p>
          <a:p>
            <a:pPr marL="457200" lvl="1" indent="0" latinLnBrk="0">
              <a:buNone/>
            </a:pPr>
            <a:r>
              <a:rPr lang="en-US" altLang="ko-KR" dirty="0"/>
              <a:t>   </a:t>
            </a:r>
            <a:r>
              <a:rPr lang="ko-KR" altLang="ko-KR" dirty="0"/>
              <a:t>설계 최적화</a:t>
            </a:r>
            <a:endParaRPr lang="ko-KR" altLang="ko-KR" sz="11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CD66E45E-9363-4FEF-B7C9-C1C822BBBD7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040085" cy="466312"/>
          </a:xfrm>
        </p:spPr>
        <p:txBody>
          <a:bodyPr/>
          <a:lstStyle/>
          <a:p>
            <a:r>
              <a:rPr lang="en-US" altLang="ko-KR" sz="2400" b="1" dirty="0"/>
              <a:t>1.3.4 Innovus</a:t>
            </a:r>
            <a:endParaRPr lang="ko-KR" alt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F6670-9D2C-4B3F-A2AB-CCF8569AC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24266" y="2365131"/>
            <a:ext cx="5767734" cy="4394616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4077971296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1.3 EDA(Electrical Design Automation) </a:t>
            </a:r>
            <a:r>
              <a:rPr lang="ko-KR" altLang="en-US" dirty="0"/>
              <a:t>툴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C6BEE06-D690-434A-9061-5DB6F3591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4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목적</a:t>
            </a:r>
            <a:r>
              <a:rPr lang="en-US" altLang="ko-KR" dirty="0"/>
              <a:t>: Pre-Layout, Post-Layout Static Timing Analysis &amp; ECO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입력</a:t>
            </a:r>
            <a:r>
              <a:rPr lang="en-US" altLang="ko-KR" dirty="0"/>
              <a:t>: </a:t>
            </a:r>
            <a:r>
              <a:rPr lang="ko-KR" altLang="ko-KR" dirty="0"/>
              <a:t>레이아웃 데이터</a:t>
            </a:r>
            <a:r>
              <a:rPr lang="en-US" altLang="ko-KR" dirty="0"/>
              <a:t>, </a:t>
            </a:r>
            <a:r>
              <a:rPr lang="ko-KR" altLang="ko-KR" dirty="0"/>
              <a:t>타이밍 제약 조건</a:t>
            </a:r>
            <a:r>
              <a:rPr lang="en-US" altLang="ko-KR" dirty="0"/>
              <a:t> SDC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주요 출력</a:t>
            </a:r>
            <a:r>
              <a:rPr lang="en-US" altLang="ko-KR" dirty="0"/>
              <a:t>: </a:t>
            </a:r>
            <a:r>
              <a:rPr lang="ko-KR" altLang="ko-KR" dirty="0"/>
              <a:t>타이밍 보고서</a:t>
            </a:r>
            <a:r>
              <a:rPr lang="en-US" altLang="ko-KR" dirty="0"/>
              <a:t>, ECO </a:t>
            </a:r>
            <a:r>
              <a:rPr lang="ko-KR" altLang="ko-KR" dirty="0"/>
              <a:t>수정 파일</a:t>
            </a:r>
            <a:endParaRPr lang="ko-KR" altLang="ko-KR" sz="1200" dirty="0"/>
          </a:p>
          <a:p>
            <a:pPr lvl="0" latinLnBrk="0"/>
            <a:r>
              <a:rPr lang="ko-KR" altLang="ko-KR" dirty="0"/>
              <a:t>지원</a:t>
            </a:r>
            <a:r>
              <a:rPr lang="en-US" altLang="ko-KR" dirty="0"/>
              <a:t> OS: 21</a:t>
            </a:r>
            <a:r>
              <a:rPr lang="ko-KR" altLang="ko-KR" dirty="0"/>
              <a:t>버전 기준</a:t>
            </a:r>
            <a:r>
              <a:rPr lang="en-US" altLang="ko-KR" dirty="0"/>
              <a:t>, RHEL 7, SLES 12 (64bit)</a:t>
            </a:r>
            <a:endParaRPr lang="ko-KR" altLang="ko-KR" sz="1200" dirty="0"/>
          </a:p>
          <a:p>
            <a:pPr lvl="0" latinLnBrk="0"/>
            <a:r>
              <a:rPr lang="ko-KR" altLang="ko-KR" dirty="0"/>
              <a:t>특성 및 기능</a:t>
            </a:r>
            <a:r>
              <a:rPr lang="en-US" altLang="ko-KR" dirty="0"/>
              <a:t>:</a:t>
            </a:r>
            <a:endParaRPr lang="ko-KR" altLang="ko-KR" sz="1200" dirty="0"/>
          </a:p>
          <a:p>
            <a:pPr lvl="1" latinLnBrk="0"/>
            <a:r>
              <a:rPr lang="en-US" altLang="ko-KR" dirty="0"/>
              <a:t>Tape out </a:t>
            </a:r>
            <a:r>
              <a:rPr lang="ko-KR" altLang="ko-KR" dirty="0"/>
              <a:t>후 칩 동작을 보장하는</a:t>
            </a:r>
            <a:r>
              <a:rPr lang="en-US" altLang="ko-KR" dirty="0"/>
              <a:t> Timing Signoff Tool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설계 내 모든 경로 분석하여 타이밍 조건 충족 여부 확인</a:t>
            </a:r>
            <a:endParaRPr lang="ko-KR" altLang="ko-KR" sz="1100" dirty="0"/>
          </a:p>
          <a:p>
            <a:pPr lvl="1" latinLnBrk="0"/>
            <a:r>
              <a:rPr lang="en-US" altLang="ko-KR" dirty="0"/>
              <a:t>ECO(Engineering Change Order) </a:t>
            </a:r>
            <a:r>
              <a:rPr lang="ko-KR" altLang="ko-KR" dirty="0"/>
              <a:t>기능을 통한 수정 지원</a:t>
            </a:r>
            <a:endParaRPr lang="ko-KR" altLang="ko-KR" sz="1100" dirty="0"/>
          </a:p>
          <a:p>
            <a:pPr lvl="1" latinLnBrk="0"/>
            <a:r>
              <a:rPr lang="en-US" altLang="ko-KR" dirty="0"/>
              <a:t>Advanced analysis </a:t>
            </a:r>
            <a:r>
              <a:rPr lang="ko-KR" altLang="ko-KR" dirty="0"/>
              <a:t>지원</a:t>
            </a:r>
            <a:r>
              <a:rPr lang="en-US" altLang="ko-KR" dirty="0"/>
              <a:t> (OCV, AOCV, SOCV, GBA, PBA)</a:t>
            </a:r>
            <a:endParaRPr lang="ko-KR" altLang="ko-KR" sz="1100" dirty="0"/>
          </a:p>
          <a:p>
            <a:pPr lvl="1" latinLnBrk="0"/>
            <a:r>
              <a:rPr lang="ko-KR" altLang="ko-KR" dirty="0"/>
              <a:t>다양한</a:t>
            </a:r>
            <a:r>
              <a:rPr lang="en-US" altLang="ko-KR" dirty="0"/>
              <a:t> library </a:t>
            </a:r>
            <a:r>
              <a:rPr lang="ko-KR" altLang="ko-KR" dirty="0"/>
              <a:t>타입 지원</a:t>
            </a:r>
            <a:r>
              <a:rPr lang="en-US" altLang="ko-KR" dirty="0"/>
              <a:t> (NLDM, ECSM, CCS, CDB </a:t>
            </a:r>
            <a:r>
              <a:rPr lang="ko-KR" altLang="ko-KR" dirty="0"/>
              <a:t>등</a:t>
            </a:r>
            <a:r>
              <a:rPr lang="en-US" altLang="ko-KR" dirty="0"/>
              <a:t>)</a:t>
            </a:r>
            <a:endParaRPr lang="ko-KR" altLang="ko-KR" sz="1100" dirty="0"/>
          </a:p>
          <a:p>
            <a:pPr lvl="1" latinLnBrk="0"/>
            <a:r>
              <a:rPr lang="en-US" altLang="ko-KR" dirty="0"/>
              <a:t>Innovus</a:t>
            </a:r>
            <a:r>
              <a:rPr lang="ko-KR" altLang="ko-KR" dirty="0"/>
              <a:t>와 연동하여</a:t>
            </a:r>
            <a:r>
              <a:rPr lang="en-US" altLang="ko-KR" dirty="0"/>
              <a:t> ECO </a:t>
            </a:r>
            <a:r>
              <a:rPr lang="ko-KR" altLang="ko-KR" dirty="0"/>
              <a:t>스크립트 생성 및 재작업 수행</a:t>
            </a:r>
            <a:endParaRPr lang="ko-KR" altLang="ko-KR" sz="11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CD66E45E-9363-4FEF-B7C9-C1C822BBBD7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040085" cy="466312"/>
          </a:xfrm>
        </p:spPr>
        <p:txBody>
          <a:bodyPr/>
          <a:lstStyle/>
          <a:p>
            <a:r>
              <a:rPr lang="en-US" altLang="ko-KR" sz="2400" b="1" dirty="0"/>
              <a:t>1.3.5 Tempus</a:t>
            </a:r>
            <a:endParaRPr lang="ko-KR" altLang="en-US" sz="2400" b="1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1848CE32-C36D-47A7-8540-494305595D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/>
          </a:blip>
          <a:srcRect r="49430"/>
          <a:stretch/>
        </p:blipFill>
        <p:spPr>
          <a:xfrm>
            <a:off x="8581292" y="3516069"/>
            <a:ext cx="3443252" cy="3243678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D3BBB6C7-06E9-4CEC-AAD9-F864B79FAF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/>
          </a:blip>
          <a:srcRect l="50570"/>
          <a:stretch/>
        </p:blipFill>
        <p:spPr>
          <a:xfrm>
            <a:off x="8581292" y="98253"/>
            <a:ext cx="3443252" cy="3318495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667620959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2360868" y="1762290"/>
            <a:ext cx="7249124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PDK</a:t>
            </a:r>
            <a:r>
              <a:rPr lang="ko-KR" altLang="en-US" sz="4800" dirty="0"/>
              <a:t>와 디지털 라이브러리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39611439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PDK</a:t>
            </a:r>
            <a:r>
              <a:rPr lang="ko-KR" altLang="ko-KR" sz="2400" b="1" dirty="0"/>
              <a:t>와 디지털 라이브러리 개요</a:t>
            </a:r>
            <a:endParaRPr lang="ko-KR" altLang="en-US" sz="28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48EB0C3-41F2-4574-935E-60D018F2A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반도체 설계 시 사용되는 핵심 소자 라이브러리</a:t>
            </a:r>
            <a:endParaRPr lang="ko-KR" altLang="ko-KR" sz="1200" dirty="0"/>
          </a:p>
          <a:p>
            <a:pPr lvl="1" latinLnBrk="0"/>
            <a:r>
              <a:rPr lang="en-US" altLang="ko-KR" dirty="0"/>
              <a:t>Full Custom </a:t>
            </a:r>
            <a:r>
              <a:rPr lang="ko-KR" altLang="ko-KR" dirty="0"/>
              <a:t>설계</a:t>
            </a:r>
            <a:r>
              <a:rPr lang="en-US" altLang="ko-KR" dirty="0"/>
              <a:t>: PDK(Process Design Kit) </a:t>
            </a:r>
            <a:r>
              <a:rPr lang="ko-KR" altLang="ko-KR" dirty="0"/>
              <a:t>사용</a:t>
            </a:r>
            <a:endParaRPr lang="ko-KR" altLang="ko-KR" sz="1100" dirty="0"/>
          </a:p>
          <a:p>
            <a:pPr lvl="1" latinLnBrk="0"/>
            <a:r>
              <a:rPr lang="en-US" altLang="ko-KR" dirty="0"/>
              <a:t>Cell based </a:t>
            </a:r>
            <a:r>
              <a:rPr lang="ko-KR" altLang="ko-KR" dirty="0"/>
              <a:t>설계</a:t>
            </a:r>
            <a:r>
              <a:rPr lang="en-US" altLang="ko-KR" dirty="0"/>
              <a:t>: </a:t>
            </a:r>
            <a:r>
              <a:rPr lang="ko-KR" altLang="ko-KR" dirty="0"/>
              <a:t>디지털 라이브러리 사용</a:t>
            </a:r>
            <a:endParaRPr lang="en-US" altLang="ko-KR" dirty="0"/>
          </a:p>
          <a:p>
            <a:pPr lvl="1" latinLnBrk="0"/>
            <a:endParaRPr lang="ko-KR" altLang="ko-KR" sz="1100" dirty="0"/>
          </a:p>
          <a:p>
            <a:pPr lvl="0" latinLnBrk="0"/>
            <a:r>
              <a:rPr lang="ko-KR" altLang="ko-KR" dirty="0"/>
              <a:t>공정사에서 제작 및 배포하는 목적</a:t>
            </a:r>
            <a:endParaRPr lang="ko-KR" altLang="ko-KR" sz="1200" dirty="0"/>
          </a:p>
          <a:p>
            <a:pPr lvl="1" latinLnBrk="0"/>
            <a:r>
              <a:rPr lang="ko-KR" altLang="ko-KR" dirty="0"/>
              <a:t>공정에 최적화된 고성능 셀 제공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설계자의 칩 구현 작업 지원</a:t>
            </a:r>
            <a:endParaRPr lang="en-US" altLang="ko-KR" dirty="0"/>
          </a:p>
          <a:p>
            <a:pPr lvl="1" latinLnBrk="0"/>
            <a:endParaRPr lang="ko-KR" altLang="ko-KR" sz="1100" dirty="0"/>
          </a:p>
          <a:p>
            <a:pPr lvl="0" latinLnBrk="0"/>
            <a:r>
              <a:rPr lang="ko-KR" altLang="ko-KR" dirty="0"/>
              <a:t>라이브러리에 포함된 주요 요소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셀 정보</a:t>
            </a:r>
            <a:endParaRPr lang="ko-KR" altLang="ko-KR" sz="1100" dirty="0"/>
          </a:p>
          <a:p>
            <a:pPr lvl="1" latinLnBrk="0"/>
            <a:r>
              <a:rPr lang="ko-KR" altLang="ko-KR" dirty="0"/>
              <a:t>공정 특성 파일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시뮬레이션 정보</a:t>
            </a:r>
            <a:endParaRPr lang="ko-KR" altLang="ko-KR" sz="1100" dirty="0"/>
          </a:p>
          <a:p>
            <a:pPr lvl="1" latinLnBrk="0"/>
            <a:r>
              <a:rPr lang="ko-KR" altLang="ko-KR" dirty="0"/>
              <a:t>디자인 룰 파일</a:t>
            </a:r>
            <a:endParaRPr lang="ko-KR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263321740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1.4.1 PDK(Process Design Kit)</a:t>
            </a:r>
            <a:endParaRPr lang="ko-KR" altLang="en-US" sz="24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en-US" altLang="ko-KR" dirty="0"/>
              <a:t>PDK </a:t>
            </a:r>
            <a:r>
              <a:rPr lang="ko-KR" altLang="ko-KR" dirty="0"/>
              <a:t>정의</a:t>
            </a:r>
            <a:r>
              <a:rPr lang="en-US" altLang="ko-KR" dirty="0"/>
              <a:t>: </a:t>
            </a:r>
            <a:r>
              <a:rPr lang="ko-KR" altLang="ko-KR" dirty="0"/>
              <a:t>공정사에서 제공하는 아날로그 소자 묶음</a:t>
            </a:r>
            <a:endParaRPr lang="ko-KR" altLang="ko-KR" sz="1200" dirty="0"/>
          </a:p>
          <a:p>
            <a:pPr lvl="0" latinLnBrk="0"/>
            <a:r>
              <a:rPr lang="ko-KR" altLang="ko-KR" dirty="0"/>
              <a:t>포함 소자</a:t>
            </a:r>
            <a:endParaRPr lang="ko-KR" altLang="ko-KR" sz="1200" dirty="0"/>
          </a:p>
          <a:p>
            <a:pPr lvl="1" latinLnBrk="0"/>
            <a:r>
              <a:rPr lang="en-US" altLang="ko-KR" dirty="0"/>
              <a:t>Mosfet</a:t>
            </a:r>
            <a:endParaRPr lang="ko-KR" altLang="ko-KR" sz="1100" dirty="0"/>
          </a:p>
          <a:p>
            <a:pPr lvl="1" latinLnBrk="0"/>
            <a:r>
              <a:rPr lang="en-US" altLang="ko-KR" dirty="0"/>
              <a:t>Bipolar-Transistor</a:t>
            </a:r>
            <a:endParaRPr lang="ko-KR" altLang="ko-KR" sz="1100" dirty="0"/>
          </a:p>
          <a:p>
            <a:pPr lvl="1" latinLnBrk="0"/>
            <a:r>
              <a:rPr lang="en-US" altLang="ko-KR" dirty="0"/>
              <a:t>Capacitor</a:t>
            </a:r>
            <a:endParaRPr lang="ko-KR" altLang="ko-KR" sz="1100" dirty="0"/>
          </a:p>
          <a:p>
            <a:pPr lvl="1" latinLnBrk="0"/>
            <a:r>
              <a:rPr lang="en-US" altLang="ko-KR" dirty="0"/>
              <a:t>Resistor</a:t>
            </a:r>
            <a:endParaRPr lang="ko-KR" altLang="ko-KR" sz="1100" dirty="0"/>
          </a:p>
          <a:p>
            <a:pPr lvl="1" latinLnBrk="0"/>
            <a:r>
              <a:rPr lang="en-US" altLang="ko-KR" dirty="0"/>
              <a:t>Diode </a:t>
            </a:r>
            <a:r>
              <a:rPr lang="ko-KR" altLang="ko-KR" dirty="0"/>
              <a:t>등</a:t>
            </a:r>
            <a:endParaRPr lang="ko-KR" altLang="ko-KR" sz="1100" dirty="0"/>
          </a:p>
          <a:p>
            <a:pPr lvl="0" latinLnBrk="0"/>
            <a:r>
              <a:rPr lang="ko-KR" altLang="ko-KR" dirty="0"/>
              <a:t>활용 분야</a:t>
            </a:r>
            <a:r>
              <a:rPr lang="en-US" altLang="ko-KR" dirty="0"/>
              <a:t>: </a:t>
            </a:r>
            <a:r>
              <a:rPr lang="ko-KR" altLang="ko-KR" dirty="0"/>
              <a:t>아날로그 디자인</a:t>
            </a:r>
            <a:r>
              <a:rPr lang="en-US" altLang="ko-KR" dirty="0"/>
              <a:t>, RF </a:t>
            </a:r>
            <a:r>
              <a:rPr lang="ko-KR" altLang="ko-KR" dirty="0"/>
              <a:t>디자인에 필요한 기본 셀</a:t>
            </a:r>
            <a:endParaRPr lang="ko-KR" altLang="ko-KR" sz="1200" dirty="0"/>
          </a:p>
          <a:p>
            <a:pPr lvl="0" latinLnBrk="0"/>
            <a:r>
              <a:rPr lang="en-US" altLang="ko-KR" dirty="0"/>
              <a:t>CADENCE </a:t>
            </a:r>
            <a:r>
              <a:rPr lang="ko-KR" altLang="ko-KR" dirty="0"/>
              <a:t>제공</a:t>
            </a:r>
            <a:r>
              <a:rPr lang="en-US" altLang="ko-KR" dirty="0"/>
              <a:t> Generic PDK(GPDK):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대학 연구 및 교육용으로 배포</a:t>
            </a:r>
            <a:endParaRPr lang="ko-KR" altLang="ko-KR" sz="1100" dirty="0"/>
          </a:p>
          <a:p>
            <a:r>
              <a:rPr lang="ko-KR" altLang="ko-KR" dirty="0"/>
              <a:t>다양한 공정 노드</a:t>
            </a:r>
            <a:r>
              <a:rPr lang="en-US" altLang="ko-KR" dirty="0"/>
              <a:t>: 180nm, 90nm, 45nm, 18nm(Finfet), 14nm(Finfet) </a:t>
            </a:r>
            <a:r>
              <a:rPr lang="ko-KR" altLang="en-US" dirty="0"/>
              <a:t>이하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6644536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1.4.1 PDK(Process Design Kit)</a:t>
            </a:r>
            <a:endParaRPr lang="ko-KR" altLang="en-US" sz="24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en-US" altLang="ko-KR" dirty="0"/>
              <a:t>CADENCE GPDK(General PDK) </a:t>
            </a:r>
            <a:r>
              <a:rPr lang="ko-KR" altLang="en-US" dirty="0"/>
              <a:t>정리</a:t>
            </a:r>
            <a:endParaRPr lang="en-US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4116070-F565-4543-BED2-4E05BBE54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27583"/>
              </p:ext>
            </p:extLst>
          </p:nvPr>
        </p:nvGraphicFramePr>
        <p:xfrm>
          <a:off x="838200" y="3030486"/>
          <a:ext cx="10515600" cy="3118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80343591"/>
                    </a:ext>
                  </a:extLst>
                </a:gridCol>
                <a:gridCol w="1806526">
                  <a:extLst>
                    <a:ext uri="{9D8B030D-6E8A-4147-A177-3AD203B41FA5}">
                      <a16:colId xmlns:a16="http://schemas.microsoft.com/office/drawing/2014/main" val="2249225868"/>
                    </a:ext>
                  </a:extLst>
                </a:gridCol>
                <a:gridCol w="1740877">
                  <a:extLst>
                    <a:ext uri="{9D8B030D-6E8A-4147-A177-3AD203B41FA5}">
                      <a16:colId xmlns:a16="http://schemas.microsoft.com/office/drawing/2014/main" val="3078127592"/>
                    </a:ext>
                  </a:extLst>
                </a:gridCol>
                <a:gridCol w="1424354">
                  <a:extLst>
                    <a:ext uri="{9D8B030D-6E8A-4147-A177-3AD203B41FA5}">
                      <a16:colId xmlns:a16="http://schemas.microsoft.com/office/drawing/2014/main" val="2540540125"/>
                    </a:ext>
                  </a:extLst>
                </a:gridCol>
                <a:gridCol w="3440723">
                  <a:extLst>
                    <a:ext uri="{9D8B030D-6E8A-4147-A177-3AD203B41FA5}">
                      <a16:colId xmlns:a16="http://schemas.microsoft.com/office/drawing/2014/main" val="1693762787"/>
                    </a:ext>
                  </a:extLst>
                </a:gridCol>
              </a:tblGrid>
              <a:tr h="4512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0" dirty="0">
                          <a:effectLst/>
                        </a:rPr>
                        <a:t>공정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0" dirty="0">
                          <a:effectLst/>
                        </a:rPr>
                        <a:t>툴 버전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0" dirty="0">
                          <a:effectLst/>
                        </a:rPr>
                        <a:t>동작 전압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0" dirty="0">
                          <a:effectLst/>
                        </a:rPr>
                        <a:t>메탈 정보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0" dirty="0">
                          <a:effectLst/>
                        </a:rPr>
                        <a:t>코너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435527"/>
                  </a:ext>
                </a:extLst>
              </a:tr>
              <a:tr h="451269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GPDK180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IC5141, IC613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3.3V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1P6M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NN, SF, SS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extLst>
                  <a:ext uri="{0D108BD9-81ED-4DB2-BD59-A6C34878D82A}">
                    <a16:rowId xmlns:a16="http://schemas.microsoft.com/office/drawing/2014/main" val="3799784712"/>
                  </a:ext>
                </a:extLst>
              </a:tr>
              <a:tr h="1313124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GPDK090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IC615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1.2V, 2.5V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1P9M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NN, FF, SS, FS, SF, NN_highPerf, SS_highPerf, SF_highPerf, FS_highPerf, </a:t>
                      </a:r>
                      <a:r>
                        <a:rPr lang="en-US" sz="1800" kern="0" dirty="0" err="1">
                          <a:effectLst/>
                        </a:rPr>
                        <a:t>FF_highPerf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extLst>
                  <a:ext uri="{0D108BD9-81ED-4DB2-BD59-A6C34878D82A}">
                    <a16:rowId xmlns:a16="http://schemas.microsoft.com/office/drawing/2014/main" val="2984380127"/>
                  </a:ext>
                </a:extLst>
              </a:tr>
              <a:tr h="451269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GPDK045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IC618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1.0V, 1.8V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1P11M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tt, ff, ss, fs, sf, mc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extLst>
                  <a:ext uri="{0D108BD9-81ED-4DB2-BD59-A6C34878D82A}">
                    <a16:rowId xmlns:a16="http://schemas.microsoft.com/office/drawing/2014/main" val="3945628436"/>
                  </a:ext>
                </a:extLst>
              </a:tr>
              <a:tr h="451269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GPDK18(FinFet)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IC618 </a:t>
                      </a:r>
                      <a:r>
                        <a:rPr lang="ko-KR" sz="1800" kern="0" dirty="0">
                          <a:effectLst/>
                        </a:rPr>
                        <a:t>이상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0.8V, 1.8V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1P8M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0" dirty="0">
                          <a:effectLst/>
                        </a:rPr>
                        <a:t>다양한 코너</a:t>
                      </a:r>
                      <a:r>
                        <a:rPr lang="en-US" sz="1800" kern="0" dirty="0">
                          <a:effectLst/>
                        </a:rPr>
                        <a:t> (tt, ff, ss </a:t>
                      </a:r>
                      <a:r>
                        <a:rPr lang="ko-KR" sz="1800" kern="0" dirty="0">
                          <a:effectLst/>
                        </a:rPr>
                        <a:t>등</a:t>
                      </a:r>
                      <a:r>
                        <a:rPr lang="en-US" sz="1800" kern="0" dirty="0">
                          <a:effectLst/>
                        </a:rPr>
                        <a:t>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 anchorCtr="1"/>
                </a:tc>
                <a:extLst>
                  <a:ext uri="{0D108BD9-81ED-4DB2-BD59-A6C34878D82A}">
                    <a16:rowId xmlns:a16="http://schemas.microsoft.com/office/drawing/2014/main" val="1390410198"/>
                  </a:ext>
                </a:extLst>
              </a:tr>
            </a:tbl>
          </a:graphicData>
        </a:graphic>
      </p:graphicFrame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91DC443B-80CC-4AFA-88A7-CE98986C248F}"/>
              </a:ext>
            </a:extLst>
          </p:cNvPr>
          <p:cNvSpPr/>
          <p:nvPr/>
        </p:nvSpPr>
        <p:spPr>
          <a:xfrm>
            <a:off x="7200900" y="1292468"/>
            <a:ext cx="4856286" cy="1250067"/>
          </a:xfrm>
          <a:prstGeom prst="wedgeRectCallout">
            <a:avLst>
              <a:gd name="adj1" fmla="val -29043"/>
              <a:gd name="adj2" fmla="val 89068"/>
            </a:avLst>
          </a:prstGeom>
          <a:solidFill>
            <a:srgbClr val="66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latinLnBrk="0"/>
            <a:r>
              <a:rPr lang="en-US" altLang="ko-KR" dirty="0"/>
              <a:t>GPDK045 </a:t>
            </a:r>
            <a:r>
              <a:rPr lang="ko-KR" altLang="ko-KR" dirty="0"/>
              <a:t>선택 이유</a:t>
            </a:r>
            <a:r>
              <a:rPr lang="en-US" altLang="ko-KR" dirty="0"/>
              <a:t> 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높은 기술 공정 적용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아날로그</a:t>
            </a:r>
            <a:r>
              <a:rPr lang="en-US" altLang="ko-KR" dirty="0"/>
              <a:t> PDK</a:t>
            </a:r>
            <a:r>
              <a:rPr lang="ko-KR" altLang="ko-KR" dirty="0"/>
              <a:t>와 디지털 라이브러리 구성</a:t>
            </a:r>
            <a:r>
              <a:rPr lang="en-US" altLang="ko-KR" dirty="0"/>
              <a:t>(</a:t>
            </a:r>
            <a:r>
              <a:rPr lang="ko-KR" altLang="en-US" dirty="0"/>
              <a:t>스탠다드 셀</a:t>
            </a:r>
            <a:r>
              <a:rPr lang="en-US" altLang="ko-KR" dirty="0"/>
              <a:t>, IO </a:t>
            </a:r>
            <a:r>
              <a:rPr lang="ko-KR" altLang="en-US" dirty="0"/>
              <a:t>셀</a:t>
            </a:r>
            <a:r>
              <a:rPr lang="en-US" altLang="ko-KR" dirty="0"/>
              <a:t>)</a:t>
            </a:r>
            <a:r>
              <a:rPr lang="ko-KR" altLang="ko-KR" dirty="0"/>
              <a:t>의 높은 완성도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22168743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1.4.1 PDK(Process Design Kit)</a:t>
            </a:r>
            <a:endParaRPr lang="ko-KR" altLang="en-US" sz="24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en-US" altLang="ko-KR" dirty="0"/>
              <a:t>GPDK045 </a:t>
            </a:r>
            <a:r>
              <a:rPr lang="ko-KR" altLang="ko-KR" dirty="0"/>
              <a:t>폴더 내부 구성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다양한 설계 단계별 필요 파일들 포함</a:t>
            </a:r>
            <a:endParaRPr lang="ko-KR" altLang="ko-KR" sz="1100" dirty="0"/>
          </a:p>
          <a:p>
            <a:pPr lvl="1"/>
            <a:r>
              <a:rPr lang="ko-KR" altLang="ko-KR" dirty="0"/>
              <a:t>스키매틱</a:t>
            </a:r>
            <a:r>
              <a:rPr lang="en-US" altLang="ko-KR" dirty="0"/>
              <a:t>, </a:t>
            </a:r>
            <a:r>
              <a:rPr lang="ko-KR" altLang="ko-KR" dirty="0"/>
              <a:t>레이아웃</a:t>
            </a:r>
            <a:r>
              <a:rPr lang="en-US" altLang="ko-KR" dirty="0"/>
              <a:t>, </a:t>
            </a:r>
            <a:r>
              <a:rPr lang="ko-KR" altLang="ko-KR" dirty="0"/>
              <a:t>시뮬레이션</a:t>
            </a:r>
            <a:r>
              <a:rPr lang="en-US" altLang="ko-KR" dirty="0"/>
              <a:t>, </a:t>
            </a:r>
            <a:r>
              <a:rPr lang="ko-KR" altLang="ko-KR" dirty="0"/>
              <a:t>검증</a:t>
            </a:r>
            <a:r>
              <a:rPr lang="en-US" altLang="ko-KR" dirty="0"/>
              <a:t>, </a:t>
            </a:r>
            <a:r>
              <a:rPr lang="ko-KR" altLang="ko-KR" dirty="0"/>
              <a:t>기생값 추출 등 지원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E633DCB5-7D8A-4ACD-878A-62785D3DE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971" y="3065215"/>
            <a:ext cx="5875967" cy="3382404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6C6AE3F-049A-4261-A467-135ED5AFF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18960"/>
              </p:ext>
            </p:extLst>
          </p:nvPr>
        </p:nvGraphicFramePr>
        <p:xfrm>
          <a:off x="6096000" y="3065217"/>
          <a:ext cx="6019801" cy="3382404"/>
        </p:xfrm>
        <a:graphic>
          <a:graphicData uri="http://schemas.openxmlformats.org/drawingml/2006/table">
            <a:tbl>
              <a:tblPr/>
              <a:tblGrid>
                <a:gridCol w="1941119">
                  <a:extLst>
                    <a:ext uri="{9D8B030D-6E8A-4147-A177-3AD203B41FA5}">
                      <a16:colId xmlns:a16="http://schemas.microsoft.com/office/drawing/2014/main" val="2513942448"/>
                    </a:ext>
                  </a:extLst>
                </a:gridCol>
                <a:gridCol w="2039341">
                  <a:extLst>
                    <a:ext uri="{9D8B030D-6E8A-4147-A177-3AD203B41FA5}">
                      <a16:colId xmlns:a16="http://schemas.microsoft.com/office/drawing/2014/main" val="4200818064"/>
                    </a:ext>
                  </a:extLst>
                </a:gridCol>
                <a:gridCol w="2039341">
                  <a:extLst>
                    <a:ext uri="{9D8B030D-6E8A-4147-A177-3AD203B41FA5}">
                      <a16:colId xmlns:a16="http://schemas.microsoft.com/office/drawing/2014/main" val="263363204"/>
                    </a:ext>
                  </a:extLst>
                </a:gridCol>
              </a:tblGrid>
              <a:tr h="4570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설계 단계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사용 툴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사용되는 폴더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181092"/>
                  </a:ext>
                </a:extLst>
              </a:tr>
              <a:tr h="4570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스키매틱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Layout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Virtuoso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gpdk045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474471"/>
                  </a:ext>
                </a:extLst>
              </a:tr>
              <a:tr h="4570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시뮬레이션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Spectre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models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59726"/>
                  </a:ext>
                </a:extLst>
              </a:tr>
              <a:tr h="77708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검증 및 기생값 추출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Assura DRC, LVS, RCX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assura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391749"/>
                  </a:ext>
                </a:extLst>
              </a:tr>
              <a:tr h="777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Diva DRC, LVS, RCX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diva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569976"/>
                  </a:ext>
                </a:extLst>
              </a:tr>
              <a:tr h="4570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Quantus RCX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qrc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088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683652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1.4.1 PDK(Process Design Kit)</a:t>
            </a:r>
            <a:endParaRPr lang="ko-KR" altLang="en-US" sz="24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en-US" altLang="ko-KR" dirty="0"/>
              <a:t>CADENCE GPDK045 </a:t>
            </a:r>
            <a:r>
              <a:rPr lang="ko-KR" altLang="en-US" dirty="0"/>
              <a:t>환경 셋업 완료 </a:t>
            </a:r>
            <a:endParaRPr lang="en-US" altLang="ko-KR" dirty="0"/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98C8E858-8745-4DFE-96E5-6BF83E14D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73838" y="2229306"/>
            <a:ext cx="6118469" cy="453044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431634924"/>
      </p:ext>
    </p:extLst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디지털 라이브러리 구성 요소</a:t>
            </a:r>
            <a:endParaRPr lang="ko-KR" altLang="ko-KR" sz="1200" dirty="0"/>
          </a:p>
          <a:p>
            <a:pPr lvl="1" latinLnBrk="0"/>
            <a:r>
              <a:rPr lang="en-US" altLang="ko-KR" dirty="0"/>
              <a:t>Standard Cell: </a:t>
            </a:r>
            <a:r>
              <a:rPr lang="ko-KR" altLang="ko-KR" dirty="0"/>
              <a:t>논리게이트 및 기본 디지털 회로 요소</a:t>
            </a:r>
            <a:endParaRPr lang="ko-KR" altLang="ko-KR" sz="1100" dirty="0"/>
          </a:p>
          <a:p>
            <a:pPr lvl="1" latinLnBrk="0"/>
            <a:r>
              <a:rPr lang="en-US" altLang="ko-KR" dirty="0"/>
              <a:t>IO Cell: </a:t>
            </a:r>
            <a:r>
              <a:rPr lang="ko-KR" altLang="ko-KR" dirty="0"/>
              <a:t>입출력 인터페이스 셀</a:t>
            </a:r>
            <a:endParaRPr lang="ko-KR" altLang="ko-KR" sz="1100" dirty="0"/>
          </a:p>
          <a:p>
            <a:pPr lvl="1" latinLnBrk="0"/>
            <a:r>
              <a:rPr lang="en-US" altLang="ko-KR" dirty="0"/>
              <a:t>Memory Cell: </a:t>
            </a:r>
            <a:r>
              <a:rPr lang="ko-KR" altLang="ko-KR" dirty="0"/>
              <a:t>메모리 구현용 셀</a:t>
            </a:r>
            <a:endParaRPr lang="ko-KR" altLang="ko-KR" sz="1100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용도</a:t>
            </a:r>
            <a:r>
              <a:rPr lang="en-US" altLang="ko-KR" dirty="0"/>
              <a:t>: RTL </a:t>
            </a:r>
            <a:r>
              <a:rPr lang="ko-KR" altLang="ko-KR" dirty="0"/>
              <a:t>코드로 구현하는 대부분의 디지털 회로 구현 지원</a:t>
            </a:r>
            <a:endParaRPr lang="ko-KR" altLang="ko-KR" sz="1200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en-US" altLang="ko-KR" dirty="0"/>
              <a:t>GPDK45</a:t>
            </a:r>
            <a:r>
              <a:rPr lang="ko-KR" altLang="ko-KR" dirty="0"/>
              <a:t>의 디지털 라이브러리 특징</a:t>
            </a:r>
            <a:endParaRPr lang="ko-KR" altLang="ko-KR" sz="1200" dirty="0"/>
          </a:p>
          <a:p>
            <a:pPr lvl="1" latinLnBrk="0"/>
            <a:r>
              <a:rPr lang="ko-KR" altLang="ko-KR" dirty="0"/>
              <a:t>학교에서 배운 디지털 논리회로를 모두 포함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조합회로</a:t>
            </a:r>
            <a:r>
              <a:rPr lang="en-US" altLang="ko-KR" dirty="0"/>
              <a:t>, </a:t>
            </a:r>
            <a:r>
              <a:rPr lang="ko-KR" altLang="ko-KR" dirty="0"/>
              <a:t>논리회로 외에도 특수 셀</a:t>
            </a:r>
            <a:r>
              <a:rPr lang="en-US" altLang="ko-KR" dirty="0"/>
              <a:t>(TIE</a:t>
            </a:r>
            <a:r>
              <a:rPr lang="ko-KR" altLang="ko-KR" dirty="0"/>
              <a:t>셀</a:t>
            </a:r>
            <a:r>
              <a:rPr lang="en-US" altLang="ko-KR" dirty="0"/>
              <a:t>, </a:t>
            </a:r>
            <a:r>
              <a:rPr lang="ko-KR" altLang="ko-KR" dirty="0"/>
              <a:t>필러셀</a:t>
            </a:r>
            <a:r>
              <a:rPr lang="en-US" altLang="ko-KR" dirty="0"/>
              <a:t>, </a:t>
            </a:r>
            <a:r>
              <a:rPr lang="ko-KR" altLang="ko-KR" dirty="0"/>
              <a:t>안테나셀</a:t>
            </a:r>
            <a:r>
              <a:rPr lang="en-US" altLang="ko-KR" dirty="0"/>
              <a:t>, PMK</a:t>
            </a:r>
            <a:r>
              <a:rPr lang="ko-KR" altLang="ko-KR" dirty="0"/>
              <a:t>셀</a:t>
            </a:r>
            <a:r>
              <a:rPr lang="en-US" altLang="ko-KR" dirty="0"/>
              <a:t>) </a:t>
            </a:r>
            <a:r>
              <a:rPr lang="ko-KR" altLang="ko-KR" dirty="0"/>
              <a:t>포함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셀 개수와 품질이</a:t>
            </a:r>
            <a:r>
              <a:rPr lang="en-US" altLang="ko-KR" dirty="0"/>
              <a:t> Cell-Based </a:t>
            </a:r>
            <a:r>
              <a:rPr lang="ko-KR" altLang="ko-KR" dirty="0"/>
              <a:t>디자인의 성능 좌우</a:t>
            </a:r>
            <a:endParaRPr lang="ko-KR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526050986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243433" cy="466312"/>
          </a:xfrm>
        </p:spPr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스탠다드셀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5543290-B8D6-42EE-A377-B36E9700F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514425"/>
              </p:ext>
            </p:extLst>
          </p:nvPr>
        </p:nvGraphicFramePr>
        <p:xfrm>
          <a:off x="6570688" y="535071"/>
          <a:ext cx="5413132" cy="6058356"/>
        </p:xfrm>
        <a:graphic>
          <a:graphicData uri="http://schemas.openxmlformats.org/drawingml/2006/table">
            <a:tbl>
              <a:tblPr/>
              <a:tblGrid>
                <a:gridCol w="469898">
                  <a:extLst>
                    <a:ext uri="{9D8B030D-6E8A-4147-A177-3AD203B41FA5}">
                      <a16:colId xmlns:a16="http://schemas.microsoft.com/office/drawing/2014/main" val="3934912755"/>
                    </a:ext>
                  </a:extLst>
                </a:gridCol>
                <a:gridCol w="866534">
                  <a:extLst>
                    <a:ext uri="{9D8B030D-6E8A-4147-A177-3AD203B41FA5}">
                      <a16:colId xmlns:a16="http://schemas.microsoft.com/office/drawing/2014/main" val="3130734794"/>
                    </a:ext>
                  </a:extLst>
                </a:gridCol>
                <a:gridCol w="436780">
                  <a:extLst>
                    <a:ext uri="{9D8B030D-6E8A-4147-A177-3AD203B41FA5}">
                      <a16:colId xmlns:a16="http://schemas.microsoft.com/office/drawing/2014/main" val="905914165"/>
                    </a:ext>
                  </a:extLst>
                </a:gridCol>
                <a:gridCol w="448408">
                  <a:extLst>
                    <a:ext uri="{9D8B030D-6E8A-4147-A177-3AD203B41FA5}">
                      <a16:colId xmlns:a16="http://schemas.microsoft.com/office/drawing/2014/main" val="2231517342"/>
                    </a:ext>
                  </a:extLst>
                </a:gridCol>
                <a:gridCol w="501161">
                  <a:extLst>
                    <a:ext uri="{9D8B030D-6E8A-4147-A177-3AD203B41FA5}">
                      <a16:colId xmlns:a16="http://schemas.microsoft.com/office/drawing/2014/main" val="2217953346"/>
                    </a:ext>
                  </a:extLst>
                </a:gridCol>
                <a:gridCol w="1057913">
                  <a:extLst>
                    <a:ext uri="{9D8B030D-6E8A-4147-A177-3AD203B41FA5}">
                      <a16:colId xmlns:a16="http://schemas.microsoft.com/office/drawing/2014/main" val="654891719"/>
                    </a:ext>
                  </a:extLst>
                </a:gridCol>
                <a:gridCol w="1632438">
                  <a:extLst>
                    <a:ext uri="{9D8B030D-6E8A-4147-A177-3AD203B41FA5}">
                      <a16:colId xmlns:a16="http://schemas.microsoft.com/office/drawing/2014/main" val="829857734"/>
                    </a:ext>
                  </a:extLst>
                </a:gridCol>
              </a:tblGrid>
              <a:tr h="306193">
                <a:tc rowSpan="2"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Cell Category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Suffix to ‘gsclib045’ and Cell Count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Drive Strength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69633"/>
                  </a:ext>
                </a:extLst>
              </a:tr>
              <a:tr h="20222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svt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_hvt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_lvt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_backbias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902789"/>
                  </a:ext>
                </a:extLst>
              </a:tr>
              <a:tr h="416724">
                <a:tc rowSpan="8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LPCells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ALWAYS_ON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669413"/>
                  </a:ext>
                </a:extLst>
              </a:tr>
              <a:tr h="207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FSW</a:t>
                      </a:r>
                      <a:endParaRPr lang="ko-KR" altLang="en-US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784815"/>
                  </a:ext>
                </a:extLst>
              </a:tr>
              <a:tr h="207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HSW</a:t>
                      </a:r>
                      <a:endParaRPr lang="ko-KR" altLang="en-US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344886"/>
                  </a:ext>
                </a:extLst>
              </a:tr>
              <a:tr h="207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ISO</a:t>
                      </a:r>
                      <a:endParaRPr lang="ko-KR" altLang="en-US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8101"/>
                  </a:ext>
                </a:extLst>
              </a:tr>
              <a:tr h="207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LS</a:t>
                      </a:r>
                      <a:endParaRPr lang="ko-KR" altLang="en-US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20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53740"/>
                  </a:ext>
                </a:extLst>
              </a:tr>
              <a:tr h="207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RDFF</a:t>
                      </a:r>
                      <a:endParaRPr lang="ko-KR" altLang="en-US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889704"/>
                  </a:ext>
                </a:extLst>
              </a:tr>
              <a:tr h="207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RTLAT</a:t>
                      </a:r>
                      <a:endParaRPr lang="ko-KR" altLang="en-US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819169"/>
                  </a:ext>
                </a:extLst>
              </a:tr>
              <a:tr h="207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SRDF</a:t>
                      </a:r>
                      <a:endParaRPr lang="ko-KR" altLang="en-US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390140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MX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788450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Misc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6152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NAND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X6, X8, 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253232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NOR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X6, X8, 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558229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OA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065044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OR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X6, X8, 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545181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TIE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477402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TLAT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X3, X4, X6, X8, X12, X16, X20, 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896677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XNOR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608854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XOR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373280"/>
                  </a:ext>
                </a:extLst>
              </a:tr>
              <a:tr h="20732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총합</a:t>
                      </a: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567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422349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7386FBD-622F-41DD-80AD-6E92A01F7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12852"/>
              </p:ext>
            </p:extLst>
          </p:nvPr>
        </p:nvGraphicFramePr>
        <p:xfrm>
          <a:off x="208180" y="1485695"/>
          <a:ext cx="5887820" cy="5107732"/>
        </p:xfrm>
        <a:graphic>
          <a:graphicData uri="http://schemas.openxmlformats.org/drawingml/2006/table">
            <a:tbl>
              <a:tblPr/>
              <a:tblGrid>
                <a:gridCol w="511104">
                  <a:extLst>
                    <a:ext uri="{9D8B030D-6E8A-4147-A177-3AD203B41FA5}">
                      <a16:colId xmlns:a16="http://schemas.microsoft.com/office/drawing/2014/main" val="3934912755"/>
                    </a:ext>
                  </a:extLst>
                </a:gridCol>
                <a:gridCol w="616641">
                  <a:extLst>
                    <a:ext uri="{9D8B030D-6E8A-4147-A177-3AD203B41FA5}">
                      <a16:colId xmlns:a16="http://schemas.microsoft.com/office/drawing/2014/main" val="3130734794"/>
                    </a:ext>
                  </a:extLst>
                </a:gridCol>
                <a:gridCol w="446711">
                  <a:extLst>
                    <a:ext uri="{9D8B030D-6E8A-4147-A177-3AD203B41FA5}">
                      <a16:colId xmlns:a16="http://schemas.microsoft.com/office/drawing/2014/main" val="905914165"/>
                    </a:ext>
                  </a:extLst>
                </a:gridCol>
                <a:gridCol w="541949">
                  <a:extLst>
                    <a:ext uri="{9D8B030D-6E8A-4147-A177-3AD203B41FA5}">
                      <a16:colId xmlns:a16="http://schemas.microsoft.com/office/drawing/2014/main" val="2231517342"/>
                    </a:ext>
                  </a:extLst>
                </a:gridCol>
                <a:gridCol w="424721">
                  <a:extLst>
                    <a:ext uri="{9D8B030D-6E8A-4147-A177-3AD203B41FA5}">
                      <a16:colId xmlns:a16="http://schemas.microsoft.com/office/drawing/2014/main" val="2217953346"/>
                    </a:ext>
                  </a:extLst>
                </a:gridCol>
                <a:gridCol w="1077893">
                  <a:extLst>
                    <a:ext uri="{9D8B030D-6E8A-4147-A177-3AD203B41FA5}">
                      <a16:colId xmlns:a16="http://schemas.microsoft.com/office/drawing/2014/main" val="654891719"/>
                    </a:ext>
                  </a:extLst>
                </a:gridCol>
                <a:gridCol w="2268801">
                  <a:extLst>
                    <a:ext uri="{9D8B030D-6E8A-4147-A177-3AD203B41FA5}">
                      <a16:colId xmlns:a16="http://schemas.microsoft.com/office/drawing/2014/main" val="829857734"/>
                    </a:ext>
                  </a:extLst>
                </a:gridCol>
              </a:tblGrid>
              <a:tr h="337007">
                <a:tc rowSpan="2"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Cell Category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Suffix to ‘gsclib045’ and Cell Count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Drive Strength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69633"/>
                  </a:ext>
                </a:extLst>
              </a:tr>
              <a:tr h="24057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svt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_hvt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_lvt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_backbias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4032" marR="24032" marT="6644" marB="664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902789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ADD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687807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AND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X6, X8, 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005973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ANTENNA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480590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AO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219237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BUF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X2, X3, X4, X6, X8, X12, X16, X20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014416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CLK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X3, X4, X6, X8, X12, X16, X20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915516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DLY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047749"/>
                  </a:ext>
                </a:extLst>
              </a:tr>
              <a:tr h="250618">
                <a:tc rowSpan="7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FF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DFF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45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45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45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45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X8, 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877746"/>
                  </a:ext>
                </a:extLst>
              </a:tr>
              <a:tr h="2506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EDFF</a:t>
                      </a:r>
                      <a:endParaRPr lang="ko-KR" altLang="en-US" sz="1600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X8, 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324083"/>
                  </a:ext>
                </a:extLst>
              </a:tr>
              <a:tr h="2506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MDFF</a:t>
                      </a:r>
                      <a:endParaRPr lang="ko-KR" altLang="en-US" sz="1600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938374"/>
                  </a:ext>
                </a:extLst>
              </a:tr>
              <a:tr h="2506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SDFF</a:t>
                      </a:r>
                      <a:endParaRPr lang="ko-KR" altLang="en-US" sz="1600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X8, 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255489"/>
                  </a:ext>
                </a:extLst>
              </a:tr>
              <a:tr h="2506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SEDFF</a:t>
                      </a:r>
                      <a:endParaRPr lang="ko-KR" altLang="en-US" sz="1600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X8, 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760962"/>
                  </a:ext>
                </a:extLst>
              </a:tr>
              <a:tr h="2506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SMDFF</a:t>
                      </a:r>
                      <a:endParaRPr lang="ko-KR" altLang="en-US" sz="1600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X4, X8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802371"/>
                  </a:ext>
                </a:extLst>
              </a:tr>
              <a:tr h="2506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MultiBits</a:t>
                      </a:r>
                      <a:endParaRPr lang="ko-KR" altLang="en-US" sz="1600" dirty="0"/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16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905424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FILL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7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7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7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7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1, 2, 4, 8, 16, 32, 64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43700"/>
                  </a:ext>
                </a:extLst>
              </a:tr>
              <a:tr h="250618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HOLD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787760"/>
                  </a:ext>
                </a:extLst>
              </a:tr>
              <a:tr h="445356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INV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10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10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10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10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X1, X2, X3, X4, X6, X8, X12, X16, X20, 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33928" marR="33928" marT="16964" marB="16964" anchor="ctr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411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602532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스탠다드 셀 구분 방식</a:t>
            </a:r>
            <a:r>
              <a:rPr lang="en-US" altLang="ko-KR" dirty="0"/>
              <a:t> </a:t>
            </a:r>
            <a:endParaRPr lang="ko-KR" altLang="ko-KR" sz="1200" dirty="0"/>
          </a:p>
          <a:p>
            <a:pPr lvl="1" latinLnBrk="0"/>
            <a:r>
              <a:rPr lang="ko-KR" altLang="ko-KR" dirty="0"/>
              <a:t>기능별 분류</a:t>
            </a:r>
            <a:r>
              <a:rPr lang="en-US" altLang="ko-KR" dirty="0"/>
              <a:t>: ADD, AND, INV, NAND, NOR </a:t>
            </a:r>
            <a:r>
              <a:rPr lang="ko-KR" altLang="ko-KR" dirty="0"/>
              <a:t>등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세부 분류</a:t>
            </a:r>
            <a:r>
              <a:rPr lang="en-US" altLang="ko-KR" dirty="0"/>
              <a:t>: FF(Flip-Flop), LPCells(Low Power Cells) </a:t>
            </a:r>
            <a:r>
              <a:rPr lang="ko-KR" altLang="ko-KR" dirty="0"/>
              <a:t>등</a:t>
            </a:r>
            <a:endParaRPr lang="ko-KR" altLang="ko-KR" sz="1100" dirty="0"/>
          </a:p>
          <a:p>
            <a:pPr lvl="1" latinLnBrk="0"/>
            <a:r>
              <a:rPr lang="en-US" altLang="ko-KR" dirty="0"/>
              <a:t>Threshold </a:t>
            </a:r>
            <a:r>
              <a:rPr lang="ko-KR" altLang="ko-KR" dirty="0"/>
              <a:t>전압별 분류</a:t>
            </a:r>
            <a:r>
              <a:rPr lang="en-US" altLang="ko-KR" dirty="0"/>
              <a:t>:</a:t>
            </a:r>
            <a:endParaRPr lang="ko-KR" altLang="ko-KR" sz="1100" dirty="0"/>
          </a:p>
          <a:p>
            <a:pPr lvl="2" latinLnBrk="0"/>
            <a:r>
              <a:rPr lang="en-US" altLang="ko-KR" dirty="0"/>
              <a:t>svt (Standard Voltage Threshold)</a:t>
            </a:r>
            <a:endParaRPr lang="ko-KR" altLang="ko-KR" sz="1050" dirty="0"/>
          </a:p>
          <a:p>
            <a:pPr lvl="2" latinLnBrk="0"/>
            <a:r>
              <a:rPr lang="en-US" altLang="ko-KR" dirty="0"/>
              <a:t>hvt (High Voltage Threshold)</a:t>
            </a:r>
            <a:endParaRPr lang="ko-KR" altLang="ko-KR" sz="1050" dirty="0"/>
          </a:p>
          <a:p>
            <a:pPr lvl="2" latinLnBrk="0"/>
            <a:r>
              <a:rPr lang="en-US" altLang="ko-KR" dirty="0"/>
              <a:t>lvt (Low Voltage Threshold)</a:t>
            </a:r>
            <a:endParaRPr lang="ko-KR" altLang="ko-KR" sz="1050" dirty="0"/>
          </a:p>
          <a:p>
            <a:pPr lvl="2" latinLnBrk="0"/>
            <a:r>
              <a:rPr lang="en-US" altLang="ko-KR" dirty="0"/>
              <a:t>backbias (Back-Bias </a:t>
            </a:r>
            <a:r>
              <a:rPr lang="ko-KR" altLang="ko-KR" dirty="0"/>
              <a:t>기능 지원</a:t>
            </a:r>
            <a:r>
              <a:rPr lang="en-US" altLang="ko-KR" dirty="0"/>
              <a:t>)</a:t>
            </a:r>
            <a:endParaRPr lang="ko-KR" altLang="ko-KR" sz="1050" dirty="0"/>
          </a:p>
          <a:p>
            <a:pPr lvl="1" latinLnBrk="0"/>
            <a:r>
              <a:rPr lang="en-US" altLang="ko-KR" dirty="0"/>
              <a:t>Drive Strength(</a:t>
            </a:r>
            <a:r>
              <a:rPr lang="ko-KR" altLang="ko-KR" dirty="0"/>
              <a:t>출력 신호 세기</a:t>
            </a:r>
            <a:r>
              <a:rPr lang="en-US" altLang="ko-KR" dirty="0"/>
              <a:t>)</a:t>
            </a:r>
            <a:r>
              <a:rPr lang="ko-KR" altLang="ko-KR" dirty="0"/>
              <a:t>별 구분</a:t>
            </a:r>
            <a:endParaRPr lang="ko-KR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939071418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3DE86286-E897-442B-B78F-CB8C20F93FBA}"/>
              </a:ext>
            </a:extLst>
          </p:cNvPr>
          <p:cNvSpPr/>
          <p:nvPr/>
        </p:nvSpPr>
        <p:spPr>
          <a:xfrm>
            <a:off x="2382716" y="2347546"/>
            <a:ext cx="6646984" cy="4158762"/>
          </a:xfrm>
          <a:prstGeom prst="wedgeEllipseCallout">
            <a:avLst>
              <a:gd name="adj1" fmla="val -48427"/>
              <a:gd name="adj2" fmla="val -5410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설계자는 디자인 시 스탠다드 셀 리스트를 염두에 두고 진행해야 할까</a:t>
            </a:r>
            <a:r>
              <a:rPr lang="en-US" altLang="ko-KR" dirty="0">
                <a:solidFill>
                  <a:schemeClr val="tx1"/>
                </a:solidFill>
              </a:rPr>
              <a:t>? </a:t>
            </a:r>
            <a:endParaRPr lang="ko-KR" altLang="en-US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정답은 아니다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fontAlgn="base"/>
            <a:endParaRPr lang="ko-KR" altLang="en-US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설계자가 직접 사용하고 싶은 셀이 있다면 </a:t>
            </a:r>
            <a:r>
              <a:rPr lang="en-US" altLang="ko-KR" dirty="0">
                <a:solidFill>
                  <a:schemeClr val="tx1"/>
                </a:solidFill>
              </a:rPr>
              <a:t>RTL </a:t>
            </a:r>
            <a:r>
              <a:rPr lang="ko-KR" altLang="en-US" dirty="0">
                <a:solidFill>
                  <a:schemeClr val="tx1"/>
                </a:solidFill>
              </a:rPr>
              <a:t>코드에서 </a:t>
            </a:r>
            <a:r>
              <a:rPr lang="en-US" altLang="ko-KR" dirty="0">
                <a:solidFill>
                  <a:schemeClr val="tx1"/>
                </a:solidFill>
              </a:rPr>
              <a:t>instance(</a:t>
            </a:r>
            <a:r>
              <a:rPr lang="ko-KR" altLang="en-US" dirty="0">
                <a:solidFill>
                  <a:schemeClr val="tx1"/>
                </a:solidFill>
              </a:rPr>
              <a:t>불러오기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를 할 수 있지만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일반적으로 기능을 구현할 때는 전혀 신경 쓰지 않고 진행한다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대신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합성 툴이 자세히 분석하고 있다가 매핑 단계에서 자동으로 적합한 셀들을 골라줄 것이다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E3BCF91-17C5-4B89-95BB-689CAED5E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2984736" cy="654383"/>
          </a:xfrm>
        </p:spPr>
        <p:txBody>
          <a:bodyPr/>
          <a:lstStyle/>
          <a:p>
            <a:pPr lvl="0" latinLnBrk="0"/>
            <a:r>
              <a:rPr lang="ko-KR" altLang="en-US" b="1" i="1" dirty="0">
                <a:solidFill>
                  <a:srgbClr val="FF0000"/>
                </a:solidFill>
              </a:rPr>
              <a:t>여기서 문제</a:t>
            </a:r>
            <a:r>
              <a:rPr lang="en-US" altLang="ko-KR" b="1" i="1" dirty="0">
                <a:solidFill>
                  <a:srgbClr val="FF0000"/>
                </a:solidFill>
              </a:rPr>
              <a:t>!</a:t>
            </a:r>
            <a:r>
              <a:rPr lang="ko-KR" altLang="en-US" b="1" i="1" dirty="0">
                <a:solidFill>
                  <a:srgbClr val="FF0000"/>
                </a:solidFill>
              </a:rPr>
              <a:t> </a:t>
            </a:r>
            <a:endParaRPr lang="ko-KR" altLang="ko-KR" sz="11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617911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3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설계자의 셀 활용 방식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직접 셀 지정은 일반적으로 필요하지 않음</a:t>
            </a:r>
            <a:endParaRPr lang="ko-KR" altLang="ko-KR" sz="1100" dirty="0"/>
          </a:p>
          <a:p>
            <a:pPr lvl="1" latinLnBrk="0"/>
            <a:r>
              <a:rPr lang="ko-KR" altLang="ko-KR" dirty="0"/>
              <a:t>합성 툴이</a:t>
            </a:r>
            <a:r>
              <a:rPr lang="en-US" altLang="ko-KR" dirty="0"/>
              <a:t> RTL </a:t>
            </a:r>
            <a:r>
              <a:rPr lang="ko-KR" altLang="ko-KR" dirty="0"/>
              <a:t>코드 분석 후 자동으로 적합한 셀 선택</a:t>
            </a:r>
            <a:endParaRPr lang="ko-KR" altLang="ko-KR" sz="1100" dirty="0"/>
          </a:p>
          <a:p>
            <a:pPr lvl="1" latinLnBrk="0"/>
            <a:r>
              <a:rPr lang="ko-KR" altLang="ko-KR" dirty="0"/>
              <a:t>특별 용도의 경우</a:t>
            </a:r>
            <a:r>
              <a:rPr lang="en-US" altLang="ko-KR" dirty="0"/>
              <a:t> instance </a:t>
            </a:r>
            <a:r>
              <a:rPr lang="ko-KR" altLang="ko-KR" dirty="0"/>
              <a:t>직접 지정 가능</a:t>
            </a:r>
            <a:endParaRPr lang="ko-KR" altLang="ko-KR" sz="1100" dirty="0"/>
          </a:p>
          <a:p>
            <a:pPr lvl="0" latinLnBrk="0"/>
            <a:endParaRPr lang="ko-KR" altLang="ko-KR" sz="1100" dirty="0"/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A54AF300-B95F-4106-AA8F-2FAACD8DF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73094" y="4089194"/>
            <a:ext cx="7045811" cy="1818177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735640177"/>
      </p:ext>
    </p:extLst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스탠다드 셀의</a:t>
            </a:r>
            <a:r>
              <a:rPr lang="en-US" altLang="ko-KR" dirty="0"/>
              <a:t> CMOS </a:t>
            </a:r>
            <a:r>
              <a:rPr lang="ko-KR" altLang="ko-KR" dirty="0"/>
              <a:t>구조</a:t>
            </a:r>
            <a:endParaRPr lang="ko-KR" altLang="ko-KR" sz="1200" dirty="0"/>
          </a:p>
          <a:p>
            <a:pPr lvl="1" latinLnBrk="0"/>
            <a:r>
              <a:rPr lang="en-US" altLang="ko-KR" dirty="0"/>
              <a:t>PMOS, NMOS</a:t>
            </a:r>
            <a:r>
              <a:rPr lang="ko-KR" altLang="ko-KR" dirty="0"/>
              <a:t>를 모두 포함하는</a:t>
            </a:r>
            <a:r>
              <a:rPr lang="en-US" altLang="ko-KR" dirty="0"/>
              <a:t> Complementary MOS </a:t>
            </a:r>
            <a:r>
              <a:rPr lang="ko-KR" altLang="ko-KR" dirty="0"/>
              <a:t>구조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인버터와 같은 기본 셀부터</a:t>
            </a:r>
            <a:r>
              <a:rPr lang="en-US" altLang="ko-KR" dirty="0"/>
              <a:t> PMOS, NMOS </a:t>
            </a:r>
            <a:r>
              <a:rPr lang="ko-KR" altLang="ko-KR" dirty="0"/>
              <a:t>인스턴스로 구현</a:t>
            </a:r>
            <a:endParaRPr lang="ko-KR" altLang="ko-KR" sz="1100" dirty="0"/>
          </a:p>
          <a:p>
            <a:pPr lvl="1" latinLnBrk="0"/>
            <a:r>
              <a:rPr lang="en-US" altLang="ko-KR" dirty="0"/>
              <a:t>PMOS</a:t>
            </a:r>
            <a:r>
              <a:rPr lang="ko-KR" altLang="ko-KR" dirty="0"/>
              <a:t>의 소스는</a:t>
            </a:r>
            <a:r>
              <a:rPr lang="en-US" altLang="ko-KR" dirty="0"/>
              <a:t> VDD, NMOS</a:t>
            </a:r>
            <a:r>
              <a:rPr lang="ko-KR" altLang="ko-KR" dirty="0"/>
              <a:t>의 소스는</a:t>
            </a:r>
            <a:r>
              <a:rPr lang="en-US" altLang="ko-KR" dirty="0"/>
              <a:t> VSS</a:t>
            </a:r>
            <a:r>
              <a:rPr lang="ko-KR" altLang="ko-KR" dirty="0"/>
              <a:t>와 연결하는</a:t>
            </a:r>
            <a:r>
              <a:rPr lang="en-US" altLang="ko-KR" dirty="0"/>
              <a:t> TAP </a:t>
            </a:r>
            <a:r>
              <a:rPr lang="ko-KR" altLang="ko-KR" dirty="0"/>
              <a:t>기능 포함</a:t>
            </a:r>
            <a:endParaRPr lang="ko-KR" altLang="ko-KR" sz="1100" dirty="0"/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0C266395-8FAF-48DC-A065-B760613AB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5172" y="2927838"/>
            <a:ext cx="5584701" cy="393016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AB23B23A-0237-4AAD-A0FB-300FBE26FE61}"/>
              </a:ext>
            </a:extLst>
          </p:cNvPr>
          <p:cNvSpPr/>
          <p:nvPr/>
        </p:nvSpPr>
        <p:spPr>
          <a:xfrm>
            <a:off x="7684478" y="3156439"/>
            <a:ext cx="4343772" cy="1960684"/>
          </a:xfrm>
          <a:prstGeom prst="wedgeRectCallout">
            <a:avLst>
              <a:gd name="adj1" fmla="val -61015"/>
              <a:gd name="adj2" fmla="val 3038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dirty="0">
                <a:solidFill>
                  <a:schemeClr val="tx1"/>
                </a:solidFill>
              </a:rPr>
              <a:t>RTL </a:t>
            </a:r>
            <a:r>
              <a:rPr lang="ko-KR" altLang="en-US" dirty="0">
                <a:solidFill>
                  <a:schemeClr val="tx1"/>
                </a:solidFill>
              </a:rPr>
              <a:t>코드활용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시뮬레이션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게이트 심볼은 합성을 포함한 전반부 단계</a:t>
            </a:r>
            <a:r>
              <a:rPr lang="en-US" altLang="ko-KR" dirty="0">
                <a:solidFill>
                  <a:schemeClr val="tx1"/>
                </a:solidFill>
              </a:rPr>
              <a:t>(Front-End)</a:t>
            </a:r>
          </a:p>
          <a:p>
            <a:pPr fontAlgn="base"/>
            <a:endParaRPr lang="en-US" altLang="ko-KR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팬텀 셀 활용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후반부 단계</a:t>
            </a:r>
            <a:r>
              <a:rPr lang="en-US" altLang="ko-KR" dirty="0">
                <a:solidFill>
                  <a:schemeClr val="tx1"/>
                </a:solidFill>
              </a:rPr>
              <a:t>(Back-End)</a:t>
            </a:r>
          </a:p>
          <a:p>
            <a:pPr fontAlgn="base"/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셀 레이아웃 활용 </a:t>
            </a:r>
            <a:r>
              <a:rPr lang="en-US" altLang="ko-KR" dirty="0">
                <a:solidFill>
                  <a:schemeClr val="tx1"/>
                </a:solidFill>
              </a:rPr>
              <a:t>: Physical </a:t>
            </a:r>
            <a:r>
              <a:rPr lang="ko-KR" altLang="en-US" dirty="0">
                <a:solidFill>
                  <a:schemeClr val="tx1"/>
                </a:solidFill>
              </a:rPr>
              <a:t>머지 단계</a:t>
            </a:r>
          </a:p>
        </p:txBody>
      </p:sp>
    </p:spTree>
    <p:extLst>
      <p:ext uri="{BB962C8B-B14F-4D97-AF65-F5344CB8AC3E}">
        <p14:creationId xmlns:p14="http://schemas.microsoft.com/office/powerpoint/2010/main" val="2651543829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3" y="1587655"/>
            <a:ext cx="11161987" cy="4859964"/>
          </a:xfrm>
        </p:spPr>
        <p:txBody>
          <a:bodyPr/>
          <a:lstStyle/>
          <a:p>
            <a:pPr lvl="0" latinLnBrk="0"/>
            <a:r>
              <a:rPr lang="en-US" altLang="ko-KR" dirty="0"/>
              <a:t>IO</a:t>
            </a:r>
            <a:r>
              <a:rPr lang="ko-KR" altLang="en-US" dirty="0"/>
              <a:t>셀의 구성과 역할</a:t>
            </a:r>
            <a:endParaRPr lang="ko-KR" altLang="ko-KR" sz="1200" dirty="0"/>
          </a:p>
          <a:p>
            <a:pPr lvl="1" latinLnBrk="0"/>
            <a:endParaRPr lang="en-US" altLang="ko-KR" dirty="0"/>
          </a:p>
          <a:p>
            <a:pPr lvl="1" latinLnBrk="0"/>
            <a:r>
              <a:rPr lang="en-US" altLang="ko-KR" dirty="0"/>
              <a:t>IO </a:t>
            </a:r>
            <a:r>
              <a:rPr lang="ko-KR" altLang="ko-KR" dirty="0"/>
              <a:t>셀의 정의</a:t>
            </a:r>
            <a:r>
              <a:rPr lang="en-US" altLang="ko-KR" dirty="0"/>
              <a:t>: </a:t>
            </a:r>
            <a:r>
              <a:rPr lang="ko-KR" altLang="ko-KR" dirty="0"/>
              <a:t>칩 입장에서</a:t>
            </a:r>
            <a:r>
              <a:rPr lang="en-US" altLang="ko-KR" dirty="0"/>
              <a:t> Input, Output(</a:t>
            </a:r>
            <a:r>
              <a:rPr lang="ko-KR" altLang="ko-KR" dirty="0"/>
              <a:t>입력</a:t>
            </a:r>
            <a:r>
              <a:rPr lang="en-US" altLang="ko-KR" dirty="0"/>
              <a:t>, </a:t>
            </a:r>
            <a:r>
              <a:rPr lang="ko-KR" altLang="ko-KR" dirty="0"/>
              <a:t>출력</a:t>
            </a:r>
            <a:r>
              <a:rPr lang="en-US" altLang="ko-KR" dirty="0"/>
              <a:t>)</a:t>
            </a:r>
            <a:r>
              <a:rPr lang="ko-KR" altLang="ko-KR" dirty="0"/>
              <a:t>을 담당하는 셀</a:t>
            </a:r>
            <a:endParaRPr lang="ko-KR" altLang="ko-KR" sz="1000" dirty="0"/>
          </a:p>
          <a:p>
            <a:pPr lvl="1" latinLnBrk="0"/>
            <a:endParaRPr lang="en-US" altLang="ko-KR" dirty="0"/>
          </a:p>
          <a:p>
            <a:pPr lvl="1" latinLnBrk="0"/>
            <a:r>
              <a:rPr lang="ko-KR" altLang="ko-KR" dirty="0"/>
              <a:t>핵심 보호 기능</a:t>
            </a:r>
            <a:endParaRPr lang="ko-KR" altLang="ko-KR" sz="1000" dirty="0"/>
          </a:p>
          <a:p>
            <a:pPr lvl="2" latinLnBrk="0"/>
            <a:r>
              <a:rPr lang="en-US" altLang="ko-KR" dirty="0"/>
              <a:t>ESD(Electro Static Discharge) </a:t>
            </a:r>
            <a:r>
              <a:rPr lang="ko-KR" altLang="ko-KR" dirty="0"/>
              <a:t>회로</a:t>
            </a:r>
            <a:r>
              <a:rPr lang="en-US" altLang="ko-KR" dirty="0"/>
              <a:t>: </a:t>
            </a:r>
            <a:r>
              <a:rPr lang="ko-KR" altLang="ko-KR" dirty="0"/>
              <a:t>사람과 칩의 관계</a:t>
            </a:r>
            <a:r>
              <a:rPr lang="en-US" altLang="ko-KR" dirty="0"/>
              <a:t>(2000V </a:t>
            </a:r>
            <a:r>
              <a:rPr lang="ko-KR" altLang="ko-KR" dirty="0"/>
              <a:t>기준</a:t>
            </a:r>
            <a:r>
              <a:rPr lang="en-US" altLang="ko-KR" dirty="0"/>
              <a:t>)</a:t>
            </a:r>
            <a:endParaRPr lang="ko-KR" altLang="ko-KR" sz="900" dirty="0"/>
          </a:p>
          <a:p>
            <a:pPr lvl="2" latinLnBrk="0"/>
            <a:r>
              <a:rPr lang="en-US" altLang="ko-KR" dirty="0"/>
              <a:t>CDM(Charged Device Mode) </a:t>
            </a:r>
            <a:r>
              <a:rPr lang="ko-KR" altLang="ko-KR" dirty="0"/>
              <a:t>회로</a:t>
            </a:r>
            <a:r>
              <a:rPr lang="en-US" altLang="ko-KR" dirty="0"/>
              <a:t>: </a:t>
            </a:r>
            <a:r>
              <a:rPr lang="ko-KR" altLang="ko-KR" dirty="0"/>
              <a:t>칩과 칩의 관계</a:t>
            </a:r>
            <a:r>
              <a:rPr lang="en-US" altLang="ko-KR" dirty="0"/>
              <a:t>(300-400V </a:t>
            </a:r>
            <a:r>
              <a:rPr lang="ko-KR" altLang="ko-KR" dirty="0"/>
              <a:t>기준</a:t>
            </a:r>
            <a:r>
              <a:rPr lang="en-US" altLang="ko-KR" dirty="0"/>
              <a:t>)</a:t>
            </a:r>
            <a:endParaRPr lang="ko-KR" altLang="ko-KR" sz="900" dirty="0"/>
          </a:p>
          <a:p>
            <a:pPr lvl="1" latinLnBrk="0"/>
            <a:endParaRPr lang="en-US" altLang="ko-KR" dirty="0"/>
          </a:p>
          <a:p>
            <a:pPr lvl="1" latinLnBrk="0"/>
            <a:r>
              <a:rPr lang="ko-KR" altLang="ko-KR" dirty="0"/>
              <a:t>중요성</a:t>
            </a:r>
            <a:endParaRPr lang="ko-KR" altLang="ko-KR" sz="1000" dirty="0"/>
          </a:p>
          <a:p>
            <a:pPr lvl="2" latinLnBrk="0"/>
            <a:r>
              <a:rPr lang="ko-KR" altLang="ko-KR" dirty="0"/>
              <a:t>미세 공정으로 제작된 칩은 작은 정전기에도 손상될 위험</a:t>
            </a:r>
            <a:endParaRPr lang="ko-KR" altLang="ko-KR" sz="900" dirty="0"/>
          </a:p>
          <a:p>
            <a:pPr lvl="2" latinLnBrk="0"/>
            <a:r>
              <a:rPr lang="ko-KR" altLang="ko-KR" dirty="0"/>
              <a:t>신호값 유지와 동시에 정전기 보호 필요</a:t>
            </a:r>
            <a:endParaRPr lang="ko-KR" altLang="ko-KR" sz="900" dirty="0"/>
          </a:p>
          <a:p>
            <a:pPr lvl="0" latinLnBrk="0"/>
            <a:endParaRPr lang="ko-KR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425406396"/>
      </p:ext>
    </p:extLst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9FCA3FD-8AC4-4564-9AF9-657986503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3" y="1587655"/>
            <a:ext cx="2905605" cy="909360"/>
          </a:xfrm>
        </p:spPr>
        <p:txBody>
          <a:bodyPr/>
          <a:lstStyle/>
          <a:p>
            <a:pPr lvl="0" latinLnBrk="0"/>
            <a:r>
              <a:rPr lang="en-US" altLang="ko-KR" dirty="0"/>
              <a:t>IO</a:t>
            </a:r>
            <a:r>
              <a:rPr lang="ko-KR" altLang="en-US" dirty="0"/>
              <a:t>셀 리스트</a:t>
            </a:r>
            <a:endParaRPr lang="ko-KR" altLang="ko-KR" sz="11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1D5CF6-A0AB-4502-AD35-DA0DAD73F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119294"/>
              </p:ext>
            </p:extLst>
          </p:nvPr>
        </p:nvGraphicFramePr>
        <p:xfrm>
          <a:off x="2002973" y="1988515"/>
          <a:ext cx="8767604" cy="457706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8735">
                  <a:extLst>
                    <a:ext uri="{9D8B030D-6E8A-4147-A177-3AD203B41FA5}">
                      <a16:colId xmlns:a16="http://schemas.microsoft.com/office/drawing/2014/main" val="2346501937"/>
                    </a:ext>
                  </a:extLst>
                </a:gridCol>
                <a:gridCol w="1925516">
                  <a:extLst>
                    <a:ext uri="{9D8B030D-6E8A-4147-A177-3AD203B41FA5}">
                      <a16:colId xmlns:a16="http://schemas.microsoft.com/office/drawing/2014/main" val="2464796362"/>
                    </a:ext>
                  </a:extLst>
                </a:gridCol>
                <a:gridCol w="1863969">
                  <a:extLst>
                    <a:ext uri="{9D8B030D-6E8A-4147-A177-3AD203B41FA5}">
                      <a16:colId xmlns:a16="http://schemas.microsoft.com/office/drawing/2014/main" val="3214782476"/>
                    </a:ext>
                  </a:extLst>
                </a:gridCol>
                <a:gridCol w="2989384">
                  <a:extLst>
                    <a:ext uri="{9D8B030D-6E8A-4147-A177-3AD203B41FA5}">
                      <a16:colId xmlns:a16="http://schemas.microsoft.com/office/drawing/2014/main" val="3441582788"/>
                    </a:ext>
                  </a:extLst>
                </a:gridCol>
              </a:tblGrid>
              <a:tr h="3081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effectLst/>
                        </a:rPr>
                        <a:t>분류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effectLst/>
                        </a:rPr>
                        <a:t>목적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effectLst/>
                        </a:rPr>
                        <a:t>셀 이름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effectLst/>
                        </a:rPr>
                        <a:t>설명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353950"/>
                  </a:ext>
                </a:extLst>
              </a:tr>
              <a:tr h="308198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GPIO</a:t>
                      </a:r>
                      <a:endParaRPr lang="en-US" sz="1600" kern="0" spc="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(General Purpose IO)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Input Cell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PADDI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effectLst/>
                        </a:rPr>
                        <a:t>입력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844227266"/>
                  </a:ext>
                </a:extLst>
              </a:tr>
              <a:tr h="3081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Output Cell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PADDO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effectLst/>
                        </a:rPr>
                        <a:t>출력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215709402"/>
                  </a:ext>
                </a:extLst>
              </a:tr>
              <a:tr h="3081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Bidirectional Cell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PADDB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effectLst/>
                        </a:rPr>
                        <a:t>입</a:t>
                      </a:r>
                      <a:r>
                        <a:rPr lang="en-US" altLang="ko-KR" sz="1600" kern="0" spc="-50" dirty="0">
                          <a:effectLst/>
                        </a:rPr>
                        <a:t>/</a:t>
                      </a:r>
                      <a:r>
                        <a:rPr lang="ko-KR" altLang="en-US" sz="1600" kern="0" spc="-50" dirty="0">
                          <a:effectLst/>
                        </a:rPr>
                        <a:t>출력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77488213"/>
                  </a:ext>
                </a:extLst>
              </a:tr>
              <a:tr h="61742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POWER IO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Core Power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PADVDD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effectLst/>
                        </a:rPr>
                        <a:t>Core </a:t>
                      </a:r>
                      <a:r>
                        <a:rPr lang="ko-KR" altLang="en-US" sz="1600" kern="0" spc="-50" dirty="0">
                          <a:effectLst/>
                        </a:rPr>
                        <a:t>영역을 위한 </a:t>
                      </a:r>
                      <a:r>
                        <a:rPr lang="en-US" altLang="ko-KR" sz="1600" kern="0" spc="-50" dirty="0">
                          <a:effectLst/>
                        </a:rPr>
                        <a:t>VDD </a:t>
                      </a:r>
                      <a:r>
                        <a:rPr lang="ko-KR" altLang="en-US" sz="1600" kern="0" spc="-50" dirty="0">
                          <a:effectLst/>
                        </a:rPr>
                        <a:t>공급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045708003"/>
                  </a:ext>
                </a:extLst>
              </a:tr>
              <a:tr h="617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Core Ground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PADVSS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effectLst/>
                        </a:rPr>
                        <a:t>Core </a:t>
                      </a:r>
                      <a:r>
                        <a:rPr lang="ko-KR" altLang="en-US" sz="1600" kern="0" spc="-50" dirty="0">
                          <a:effectLst/>
                        </a:rPr>
                        <a:t>영역을 위한 </a:t>
                      </a:r>
                      <a:r>
                        <a:rPr lang="en-US" altLang="ko-KR" sz="1600" kern="0" spc="-50" dirty="0">
                          <a:effectLst/>
                        </a:rPr>
                        <a:t>VSS </a:t>
                      </a:r>
                      <a:r>
                        <a:rPr lang="ko-KR" altLang="en-US" sz="1600" kern="0" spc="-50" dirty="0">
                          <a:effectLst/>
                        </a:rPr>
                        <a:t>공급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66243943"/>
                  </a:ext>
                </a:extLst>
              </a:tr>
              <a:tr h="617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IO Power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PADVDDIOR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effectLst/>
                        </a:rPr>
                        <a:t>IO </a:t>
                      </a:r>
                      <a:r>
                        <a:rPr lang="ko-KR" altLang="en-US" sz="1600" kern="0" spc="-50" dirty="0">
                          <a:effectLst/>
                        </a:rPr>
                        <a:t>셀을 위한 </a:t>
                      </a:r>
                      <a:r>
                        <a:rPr lang="en-US" altLang="ko-KR" sz="1600" kern="0" spc="-50" dirty="0">
                          <a:effectLst/>
                        </a:rPr>
                        <a:t>VDD </a:t>
                      </a:r>
                      <a:r>
                        <a:rPr lang="ko-KR" altLang="en-US" sz="1600" kern="0" spc="-50" dirty="0">
                          <a:effectLst/>
                        </a:rPr>
                        <a:t>공급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980931732"/>
                  </a:ext>
                </a:extLst>
              </a:tr>
              <a:tr h="617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IO Ground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PADVSSIOR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effectLst/>
                        </a:rPr>
                        <a:t>IO </a:t>
                      </a:r>
                      <a:r>
                        <a:rPr lang="ko-KR" altLang="en-US" sz="1600" kern="0" spc="-50" dirty="0">
                          <a:effectLst/>
                        </a:rPr>
                        <a:t>셀을 위한 </a:t>
                      </a:r>
                      <a:r>
                        <a:rPr lang="en-US" altLang="ko-KR" sz="1600" kern="0" spc="-50" dirty="0">
                          <a:effectLst/>
                        </a:rPr>
                        <a:t>VSS </a:t>
                      </a:r>
                      <a:r>
                        <a:rPr lang="ko-KR" altLang="en-US" sz="1600" kern="0" spc="-50" dirty="0">
                          <a:effectLst/>
                        </a:rPr>
                        <a:t>공급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746888306"/>
                  </a:ext>
                </a:extLst>
              </a:tr>
              <a:tr h="6174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GPIO - Analog IO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Analog Signal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effectLst/>
                        </a:rPr>
                        <a:t>PADANALOG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effectLst/>
                        </a:rPr>
                        <a:t>아날로그 신호 입</a:t>
                      </a:r>
                      <a:r>
                        <a:rPr lang="en-US" altLang="ko-KR" sz="1600" kern="0" spc="-50" dirty="0">
                          <a:effectLst/>
                        </a:rPr>
                        <a:t>/</a:t>
                      </a:r>
                      <a:r>
                        <a:rPr lang="ko-KR" altLang="en-US" sz="1600" kern="0" spc="-50" dirty="0">
                          <a:effectLst/>
                        </a:rPr>
                        <a:t>출력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99080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248729"/>
      </p:ext>
    </p:extLst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4216EF2-ABE6-49CF-9682-4AAAD61A7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3" y="1587655"/>
            <a:ext cx="11161987" cy="4859964"/>
          </a:xfrm>
        </p:spPr>
        <p:txBody>
          <a:bodyPr/>
          <a:lstStyle/>
          <a:p>
            <a:pPr lvl="0" latinLnBrk="0"/>
            <a:r>
              <a:rPr lang="en-US" altLang="ko-KR" dirty="0"/>
              <a:t>IO </a:t>
            </a:r>
            <a:r>
              <a:rPr lang="ko-KR" altLang="ko-KR" dirty="0"/>
              <a:t>셀 형태</a:t>
            </a:r>
            <a:endParaRPr lang="ko-KR" altLang="ko-KR" sz="1200" dirty="0"/>
          </a:p>
          <a:p>
            <a:pPr lvl="1" latinLnBrk="0"/>
            <a:r>
              <a:rPr lang="en-US" altLang="ko-KR" dirty="0"/>
              <a:t>RTL </a:t>
            </a:r>
            <a:r>
              <a:rPr lang="ko-KR" altLang="ko-KR" dirty="0"/>
              <a:t>코드</a:t>
            </a:r>
            <a:r>
              <a:rPr lang="en-US" altLang="ko-KR" dirty="0"/>
              <a:t>, </a:t>
            </a:r>
            <a:r>
              <a:rPr lang="ko-KR" altLang="ko-KR" dirty="0"/>
              <a:t>디지털 게이트 심볼</a:t>
            </a:r>
            <a:r>
              <a:rPr lang="en-US" altLang="ko-KR" dirty="0"/>
              <a:t>, </a:t>
            </a:r>
            <a:r>
              <a:rPr lang="ko-KR" altLang="ko-KR" dirty="0"/>
              <a:t>팬텀셀</a:t>
            </a:r>
            <a:r>
              <a:rPr lang="en-US" altLang="ko-KR" dirty="0"/>
              <a:t>, </a:t>
            </a:r>
            <a:r>
              <a:rPr lang="ko-KR" altLang="ko-KR" dirty="0"/>
              <a:t>셀 레이아웃 단계별 활용</a:t>
            </a:r>
            <a:endParaRPr lang="ko-KR" altLang="ko-KR" sz="1100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본드 패드 구조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셀 레이아웃 하단에 위치</a:t>
            </a:r>
            <a:endParaRPr lang="ko-KR" altLang="ko-KR" sz="1100" dirty="0"/>
          </a:p>
          <a:p>
            <a:pPr lvl="1" latinLnBrk="0"/>
            <a:r>
              <a:rPr lang="ko-KR" altLang="ko-KR" dirty="0"/>
              <a:t>패키지 와이어 본딩을 위한 연결부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와이어 본딩</a:t>
            </a:r>
            <a:r>
              <a:rPr lang="en-US" altLang="ko-KR" dirty="0"/>
              <a:t>: </a:t>
            </a:r>
            <a:r>
              <a:rPr lang="ko-KR" altLang="ko-KR" dirty="0"/>
              <a:t>백금</a:t>
            </a:r>
            <a:r>
              <a:rPr lang="en-US" altLang="ko-KR" dirty="0"/>
              <a:t>(Au) </a:t>
            </a:r>
            <a:r>
              <a:rPr lang="ko-KR" altLang="ko-KR" dirty="0"/>
              <a:t>와이어로 패키지 핀과 칩 연결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칩 표면 최상위층</a:t>
            </a:r>
            <a:r>
              <a:rPr lang="en-US" altLang="ko-KR" dirty="0"/>
              <a:t>(Metal 11)</a:t>
            </a:r>
            <a:r>
              <a:rPr lang="ko-KR" altLang="ko-KR" dirty="0"/>
              <a:t>에 위치</a:t>
            </a:r>
            <a:endParaRPr lang="ko-KR" altLang="ko-KR" sz="1100" dirty="0"/>
          </a:p>
        </p:txBody>
      </p:sp>
      <p:pic>
        <p:nvPicPr>
          <p:cNvPr id="9" name="Picture 17">
            <a:extLst>
              <a:ext uri="{FF2B5EF4-FFF2-40B4-BE49-F238E27FC236}">
                <a16:creationId xmlns:a16="http://schemas.microsoft.com/office/drawing/2014/main" id="{A1BA6810-6E69-4833-B2C2-83BF3C43A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12865" y="2391508"/>
            <a:ext cx="5206042" cy="405611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A4317469-4F35-4579-959F-A993EDC5E4B1}"/>
              </a:ext>
            </a:extLst>
          </p:cNvPr>
          <p:cNvSpPr/>
          <p:nvPr/>
        </p:nvSpPr>
        <p:spPr>
          <a:xfrm>
            <a:off x="7957039" y="324874"/>
            <a:ext cx="4071242" cy="1554701"/>
          </a:xfrm>
          <a:prstGeom prst="wedgeRectCallout">
            <a:avLst>
              <a:gd name="adj1" fmla="val -15231"/>
              <a:gd name="adj2" fmla="val 7901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dirty="0">
                <a:solidFill>
                  <a:schemeClr val="tx1"/>
                </a:solidFill>
              </a:rPr>
              <a:t>RTL </a:t>
            </a:r>
            <a:r>
              <a:rPr lang="ko-KR" altLang="en-US" dirty="0">
                <a:solidFill>
                  <a:schemeClr val="tx1"/>
                </a:solidFill>
              </a:rPr>
              <a:t>코드활용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전반부 단계</a:t>
            </a:r>
            <a:r>
              <a:rPr lang="en-US" altLang="ko-KR" dirty="0">
                <a:solidFill>
                  <a:schemeClr val="tx1"/>
                </a:solidFill>
              </a:rPr>
              <a:t>(Front-End)</a:t>
            </a:r>
          </a:p>
          <a:p>
            <a:pPr fontAlgn="base"/>
            <a:endParaRPr lang="en-US" altLang="ko-KR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팬텀 셀 활용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후반부 단계</a:t>
            </a:r>
            <a:r>
              <a:rPr lang="en-US" altLang="ko-KR" dirty="0">
                <a:solidFill>
                  <a:schemeClr val="tx1"/>
                </a:solidFill>
              </a:rPr>
              <a:t>(Back-End)</a:t>
            </a:r>
          </a:p>
          <a:p>
            <a:pPr fontAlgn="base"/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셀 레이아웃 활용 </a:t>
            </a:r>
            <a:r>
              <a:rPr lang="en-US" altLang="ko-KR" dirty="0">
                <a:solidFill>
                  <a:schemeClr val="tx1"/>
                </a:solidFill>
              </a:rPr>
              <a:t>: Physical </a:t>
            </a:r>
            <a:r>
              <a:rPr lang="ko-KR" altLang="en-US" dirty="0">
                <a:solidFill>
                  <a:schemeClr val="tx1"/>
                </a:solidFill>
              </a:rPr>
              <a:t>머지 단계</a:t>
            </a:r>
          </a:p>
        </p:txBody>
      </p:sp>
    </p:spTree>
    <p:extLst>
      <p:ext uri="{BB962C8B-B14F-4D97-AF65-F5344CB8AC3E}">
        <p14:creationId xmlns:p14="http://schemas.microsoft.com/office/powerpoint/2010/main" val="417577184"/>
      </p:ext>
    </p:extLst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4216EF2-ABE6-49CF-9682-4AAAD61A7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3" y="1587655"/>
            <a:ext cx="11161987" cy="4859964"/>
          </a:xfrm>
        </p:spPr>
        <p:txBody>
          <a:bodyPr/>
          <a:lstStyle/>
          <a:p>
            <a:pPr lvl="0" latinLnBrk="0"/>
            <a:r>
              <a:rPr lang="en-US" altLang="ko-KR" dirty="0"/>
              <a:t>IO </a:t>
            </a:r>
            <a:r>
              <a:rPr lang="ko-KR" altLang="ko-KR" dirty="0"/>
              <a:t>셀과 본드 패드 메탈 구조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본드 패드</a:t>
            </a:r>
            <a:r>
              <a:rPr lang="en-US" altLang="ko-KR" dirty="0"/>
              <a:t>: </a:t>
            </a:r>
            <a:r>
              <a:rPr lang="ko-KR" altLang="ko-KR" dirty="0"/>
              <a:t>최상위</a:t>
            </a:r>
            <a:r>
              <a:rPr lang="en-US" altLang="ko-KR" dirty="0"/>
              <a:t> Metal 11 </a:t>
            </a:r>
            <a:r>
              <a:rPr lang="ko-KR" altLang="ko-KR" dirty="0"/>
              <a:t>사용</a:t>
            </a:r>
            <a:endParaRPr lang="ko-KR" altLang="ko-KR" sz="1100" dirty="0"/>
          </a:p>
          <a:p>
            <a:pPr lvl="1" latinLnBrk="0"/>
            <a:r>
              <a:rPr lang="en-US" altLang="ko-KR" dirty="0"/>
              <a:t>IO </a:t>
            </a:r>
            <a:r>
              <a:rPr lang="ko-KR" altLang="ko-KR" dirty="0"/>
              <a:t>셀</a:t>
            </a:r>
            <a:r>
              <a:rPr lang="en-US" altLang="ko-KR" dirty="0"/>
              <a:t>: </a:t>
            </a:r>
            <a:r>
              <a:rPr lang="ko-KR" altLang="ko-KR" dirty="0"/>
              <a:t>하위 메탈 사용</a:t>
            </a:r>
            <a:endParaRPr lang="ko-KR" altLang="ko-KR" sz="1100" dirty="0"/>
          </a:p>
        </p:txBody>
      </p:sp>
      <p:pic>
        <p:nvPicPr>
          <p:cNvPr id="7" name="Picture 19">
            <a:extLst>
              <a:ext uri="{FF2B5EF4-FFF2-40B4-BE49-F238E27FC236}">
                <a16:creationId xmlns:a16="http://schemas.microsoft.com/office/drawing/2014/main" id="{A3638FFA-D40E-4273-A775-EA07051B8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32199" y="3559581"/>
            <a:ext cx="4140200" cy="2769545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570634063"/>
      </p:ext>
    </p:extLst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4216EF2-ABE6-49CF-9682-4AAAD61A7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3" y="1587655"/>
            <a:ext cx="11161987" cy="4859964"/>
          </a:xfrm>
        </p:spPr>
        <p:txBody>
          <a:bodyPr/>
          <a:lstStyle/>
          <a:p>
            <a:pPr lvl="0" latinLnBrk="0"/>
            <a:r>
              <a:rPr lang="en-US" altLang="ko-KR" dirty="0"/>
              <a:t>IO </a:t>
            </a:r>
            <a:r>
              <a:rPr lang="ko-KR" altLang="ko-KR" dirty="0"/>
              <a:t>셀 배치 방법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칩 영역 가장자리에 균등하게 배열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상</a:t>
            </a:r>
            <a:r>
              <a:rPr lang="en-US" altLang="ko-KR" dirty="0"/>
              <a:t>, </a:t>
            </a:r>
            <a:r>
              <a:rPr lang="ko-KR" altLang="ko-KR" dirty="0"/>
              <a:t>하</a:t>
            </a:r>
            <a:r>
              <a:rPr lang="en-US" altLang="ko-KR" dirty="0"/>
              <a:t>, </a:t>
            </a:r>
            <a:r>
              <a:rPr lang="ko-KR" altLang="ko-KR" dirty="0"/>
              <a:t>좌</a:t>
            </a:r>
            <a:r>
              <a:rPr lang="en-US" altLang="ko-KR" dirty="0"/>
              <a:t>, </a:t>
            </a:r>
            <a:r>
              <a:rPr lang="ko-KR" altLang="ko-KR" dirty="0"/>
              <a:t>우에 동일한 거리로 배치</a:t>
            </a:r>
            <a:endParaRPr lang="en-US" altLang="ko-KR" dirty="0"/>
          </a:p>
          <a:p>
            <a:pPr lvl="1" latinLnBrk="0"/>
            <a:endParaRPr lang="ko-KR" altLang="ko-KR" sz="1100" dirty="0"/>
          </a:p>
          <a:p>
            <a:pPr lvl="0" latinLnBrk="0"/>
            <a:r>
              <a:rPr lang="ko-KR" altLang="ko-KR" dirty="0"/>
              <a:t>배치 시 고려사항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본드 패드는 설계 디자인 룰</a:t>
            </a:r>
            <a:r>
              <a:rPr lang="en-US" altLang="ko-KR" dirty="0"/>
              <a:t>(DRC)</a:t>
            </a:r>
            <a:r>
              <a:rPr lang="ko-KR" altLang="ko-KR" dirty="0"/>
              <a:t>에 따른 최소 거리 확보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와이어 본딩 간섭 방지를 위한 와이어 간 거리 유지</a:t>
            </a:r>
            <a:endParaRPr lang="en-US" altLang="ko-KR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en-US" altLang="ko-KR" dirty="0"/>
              <a:t>Full Chip </a:t>
            </a:r>
            <a:r>
              <a:rPr lang="ko-KR" altLang="ko-KR" dirty="0"/>
              <a:t>디자인 구성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코어 영역</a:t>
            </a:r>
            <a:r>
              <a:rPr lang="en-US" altLang="ko-KR" dirty="0"/>
              <a:t>: </a:t>
            </a:r>
            <a:r>
              <a:rPr lang="ko-KR" altLang="ko-KR" dirty="0"/>
              <a:t>스탠다드 셀</a:t>
            </a:r>
            <a:r>
              <a:rPr lang="en-US" altLang="ko-KR" dirty="0"/>
              <a:t>, </a:t>
            </a:r>
            <a:r>
              <a:rPr lang="ko-KR" altLang="ko-KR" dirty="0"/>
              <a:t>메모리</a:t>
            </a:r>
            <a:r>
              <a:rPr lang="en-US" altLang="ko-KR" dirty="0"/>
              <a:t>, IP</a:t>
            </a:r>
            <a:r>
              <a:rPr lang="ko-KR" altLang="ko-KR" dirty="0"/>
              <a:t>가 위치하는 중앙 부분</a:t>
            </a:r>
            <a:endParaRPr lang="ko-KR" altLang="ko-KR" sz="1100" dirty="0"/>
          </a:p>
          <a:p>
            <a:pPr lvl="1" latinLnBrk="0"/>
            <a:r>
              <a:rPr lang="en-US" altLang="ko-KR" dirty="0"/>
              <a:t>IO </a:t>
            </a:r>
            <a:r>
              <a:rPr lang="ko-KR" altLang="ko-KR" dirty="0"/>
              <a:t>영역</a:t>
            </a:r>
            <a:r>
              <a:rPr lang="en-US" altLang="ko-KR" dirty="0"/>
              <a:t>: </a:t>
            </a:r>
            <a:r>
              <a:rPr lang="ko-KR" altLang="ko-KR" dirty="0"/>
              <a:t>칩 외곽을 둘러싸는</a:t>
            </a:r>
            <a:r>
              <a:rPr lang="en-US" altLang="ko-KR" dirty="0"/>
              <a:t> IO </a:t>
            </a:r>
            <a:r>
              <a:rPr lang="ko-KR" altLang="ko-KR" dirty="0"/>
              <a:t>셀 배열</a:t>
            </a:r>
            <a:endParaRPr lang="ko-KR" altLang="ko-KR" sz="1100" dirty="0"/>
          </a:p>
          <a:p>
            <a:pPr lvl="1" latinLnBrk="0"/>
            <a:endParaRPr lang="ko-KR" altLang="ko-KR" sz="1100" dirty="0"/>
          </a:p>
        </p:txBody>
      </p:sp>
      <p:pic>
        <p:nvPicPr>
          <p:cNvPr id="6" name="Picture 21">
            <a:extLst>
              <a:ext uri="{FF2B5EF4-FFF2-40B4-BE49-F238E27FC236}">
                <a16:creationId xmlns:a16="http://schemas.microsoft.com/office/drawing/2014/main" id="{90CE60B4-972E-4EE0-8C8A-937CB14467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/>
          </a:blip>
          <a:srcRect r="50041"/>
          <a:stretch/>
        </p:blipFill>
        <p:spPr>
          <a:xfrm>
            <a:off x="7694871" y="1826884"/>
            <a:ext cx="4060849" cy="462073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71263137"/>
      </p:ext>
    </p:extLst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4216EF2-ABE6-49CF-9682-4AAAD61A7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3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설계 마무리 단계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머지 작업 완료 후</a:t>
            </a:r>
            <a:r>
              <a:rPr lang="en-US" altLang="ko-KR" dirty="0"/>
              <a:t> Physical DRC, LVS </a:t>
            </a:r>
            <a:r>
              <a:rPr lang="ko-KR" altLang="ko-KR" dirty="0"/>
              <a:t>검증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최종</a:t>
            </a:r>
            <a:r>
              <a:rPr lang="en-US" altLang="ko-KR" dirty="0"/>
              <a:t> gds </a:t>
            </a:r>
            <a:r>
              <a:rPr lang="ko-KR" altLang="ko-KR" dirty="0"/>
              <a:t>파일 저장 및 공정사 제출</a:t>
            </a:r>
            <a:endParaRPr lang="en-US" altLang="ko-KR" dirty="0"/>
          </a:p>
          <a:p>
            <a:pPr lvl="1" latinLnBrk="0"/>
            <a:endParaRPr lang="ko-KR" altLang="ko-KR" sz="1100" dirty="0"/>
          </a:p>
          <a:p>
            <a:pPr lvl="0" latinLnBrk="0"/>
            <a:r>
              <a:rPr lang="ko-KR" altLang="ko-KR" dirty="0"/>
              <a:t>칩 제작 과정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약</a:t>
            </a:r>
            <a:r>
              <a:rPr lang="en-US" altLang="ko-KR" dirty="0"/>
              <a:t> 16</a:t>
            </a:r>
            <a:r>
              <a:rPr lang="ko-KR" altLang="ko-KR" dirty="0"/>
              <a:t>주 후 완성된 웨이퍼 수령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설계한 사각형 칩</a:t>
            </a:r>
            <a:r>
              <a:rPr lang="en-US" altLang="ko-KR" dirty="0"/>
              <a:t>(Bare Die) </a:t>
            </a:r>
            <a:r>
              <a:rPr lang="ko-KR" altLang="ko-KR" dirty="0"/>
              <a:t>추출</a:t>
            </a:r>
            <a:endParaRPr lang="ko-KR" altLang="ko-KR" sz="1100" dirty="0"/>
          </a:p>
          <a:p>
            <a:pPr lvl="1" latinLnBrk="0"/>
            <a:r>
              <a:rPr lang="ko-KR" altLang="ko-KR" dirty="0"/>
              <a:t>패키지 도면에 따른 와이어 본딩 작업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최종 패키지 칩 완성</a:t>
            </a:r>
            <a:endParaRPr lang="en-US" altLang="ko-KR" dirty="0"/>
          </a:p>
          <a:p>
            <a:pPr lvl="1" latinLnBrk="0"/>
            <a:endParaRPr lang="ko-KR" altLang="ko-KR" sz="1100" dirty="0"/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EC2E36D4-0DF7-451E-A225-52DA3EDE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08579" y="4268243"/>
            <a:ext cx="7274173" cy="249150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21">
            <a:extLst>
              <a:ext uri="{FF2B5EF4-FFF2-40B4-BE49-F238E27FC236}">
                <a16:creationId xmlns:a16="http://schemas.microsoft.com/office/drawing/2014/main" id="{63ACB51B-7B47-479E-BD38-743AEC2598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/>
          </a:blip>
          <a:srcRect l="50212"/>
          <a:stretch/>
        </p:blipFill>
        <p:spPr>
          <a:xfrm>
            <a:off x="8317523" y="98253"/>
            <a:ext cx="3516923" cy="401550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60818711"/>
      </p:ext>
    </p:extLst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1.4 PDK</a:t>
            </a:r>
            <a:r>
              <a:rPr lang="ko-KR" altLang="en-US" dirty="0"/>
              <a:t>와 디지털 라이브러리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sz="2400" b="1" dirty="0"/>
              <a:t>1.4.2 </a:t>
            </a:r>
            <a:r>
              <a:rPr lang="ko-KR" altLang="en-US" sz="2400" b="1" dirty="0"/>
              <a:t>디지털 라이브러리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4216EF2-ABE6-49CF-9682-4AAAD61A7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733" y="1587655"/>
            <a:ext cx="11161987" cy="4859964"/>
          </a:xfrm>
        </p:spPr>
        <p:txBody>
          <a:bodyPr/>
          <a:lstStyle/>
          <a:p>
            <a:pPr fontAlgn="base"/>
            <a:r>
              <a:rPr lang="ko-KR" altLang="en-US" dirty="0"/>
              <a:t>참고</a:t>
            </a:r>
            <a:r>
              <a:rPr lang="en-US" altLang="ko-KR" dirty="0"/>
              <a:t>)</a:t>
            </a:r>
          </a:p>
          <a:p>
            <a:pPr lvl="1" fontAlgn="base"/>
            <a:r>
              <a:rPr lang="en-US" altLang="ko-KR" dirty="0"/>
              <a:t>1. gds045</a:t>
            </a:r>
            <a:r>
              <a:rPr lang="ko-KR" altLang="en-US" dirty="0"/>
              <a:t>는 교육용 라이브러리이기 때문에 최종 디자인을 공정사를 통해 만들어낼 수 없다</a:t>
            </a:r>
            <a:r>
              <a:rPr lang="en-US" altLang="ko-KR" dirty="0"/>
              <a:t>. </a:t>
            </a:r>
          </a:p>
          <a:p>
            <a:pPr marL="457200" lvl="1" indent="0" fontAlgn="base">
              <a:buNone/>
            </a:pPr>
            <a:r>
              <a:rPr lang="en-US" altLang="ko-KR" dirty="0"/>
              <a:t>   </a:t>
            </a:r>
            <a:r>
              <a:rPr lang="ko-KR" altLang="en-US" dirty="0"/>
              <a:t>이 책의 독자들은 </a:t>
            </a:r>
            <a:r>
              <a:rPr lang="en-US" altLang="ko-KR" dirty="0"/>
              <a:t>RTL-to-GDS </a:t>
            </a:r>
            <a:r>
              <a:rPr lang="ko-KR" altLang="en-US" dirty="0"/>
              <a:t>과정 즉</a:t>
            </a:r>
            <a:r>
              <a:rPr lang="en-US" altLang="ko-KR" dirty="0"/>
              <a:t>, Physical Layout</a:t>
            </a:r>
            <a:r>
              <a:rPr lang="ko-KR" altLang="en-US" dirty="0"/>
              <a:t>까지만 실습 진행 및 확인이 가능하다</a:t>
            </a:r>
            <a:r>
              <a:rPr lang="en-US" altLang="ko-KR" dirty="0"/>
              <a:t>. </a:t>
            </a:r>
          </a:p>
          <a:p>
            <a:pPr marL="457200" lvl="1" indent="0" fontAlgn="base">
              <a:buNone/>
            </a:pPr>
            <a:r>
              <a:rPr lang="en-US" altLang="ko-KR" dirty="0"/>
              <a:t>   </a:t>
            </a:r>
            <a:r>
              <a:rPr lang="ko-KR" altLang="en-US" dirty="0"/>
              <a:t>만약 상용 공정으로 </a:t>
            </a:r>
            <a:r>
              <a:rPr lang="en-US" altLang="ko-KR" dirty="0"/>
              <a:t>MPW(Multi Project Wafer)</a:t>
            </a:r>
            <a:r>
              <a:rPr lang="ko-KR" altLang="en-US" dirty="0"/>
              <a:t>프로그램을 참여하게 된다면 모든 과정 진행이 가능</a:t>
            </a:r>
            <a:endParaRPr lang="en-US" altLang="ko-KR" dirty="0"/>
          </a:p>
          <a:p>
            <a:pPr marL="457200" lvl="1" indent="0" fontAlgn="base">
              <a:buNone/>
            </a:pPr>
            <a:r>
              <a:rPr lang="en-US" altLang="ko-KR" dirty="0"/>
              <a:t>   </a:t>
            </a:r>
            <a:r>
              <a:rPr lang="ko-KR" altLang="en-US" dirty="0"/>
              <a:t>하다</a:t>
            </a:r>
            <a:r>
              <a:rPr lang="en-US" altLang="ko-KR" dirty="0"/>
              <a:t>. </a:t>
            </a:r>
          </a:p>
          <a:p>
            <a:pPr fontAlgn="base"/>
            <a:endParaRPr lang="ko-KR" altLang="en-US" dirty="0"/>
          </a:p>
          <a:p>
            <a:pPr lvl="1" fontAlgn="base"/>
            <a:r>
              <a:rPr lang="en-US" altLang="ko-KR" dirty="0"/>
              <a:t>2. </a:t>
            </a:r>
            <a:r>
              <a:rPr lang="ko-KR" altLang="en-US" dirty="0"/>
              <a:t>케이던스 </a:t>
            </a:r>
            <a:r>
              <a:rPr lang="en-US" altLang="ko-KR" dirty="0"/>
              <a:t>GPDK045</a:t>
            </a:r>
            <a:r>
              <a:rPr lang="ko-KR" altLang="en-US" dirty="0"/>
              <a:t>는 스탠다드 셀과 </a:t>
            </a:r>
            <a:r>
              <a:rPr lang="en-US" altLang="ko-KR" dirty="0"/>
              <a:t>IO </a:t>
            </a:r>
            <a:r>
              <a:rPr lang="ko-KR" altLang="en-US" dirty="0"/>
              <a:t>셀을 포함하고 있다</a:t>
            </a:r>
            <a:r>
              <a:rPr lang="en-US" altLang="ko-KR" dirty="0"/>
              <a:t>. </a:t>
            </a:r>
          </a:p>
          <a:p>
            <a:pPr marL="457200" lvl="1" indent="0" fontAlgn="base">
              <a:buNone/>
            </a:pPr>
            <a:r>
              <a:rPr lang="en-US" altLang="ko-KR" dirty="0"/>
              <a:t>  </a:t>
            </a:r>
            <a:r>
              <a:rPr lang="ko-KR" altLang="en-US" dirty="0"/>
              <a:t>메모리 셀은 배포되지 않기 때문에 구현 영역 내에는 메모리를 포함하지 않았다</a:t>
            </a:r>
            <a:r>
              <a:rPr lang="en-US" altLang="ko-KR" dirty="0"/>
              <a:t>. </a:t>
            </a:r>
          </a:p>
          <a:p>
            <a:pPr marL="457200" lvl="1" indent="0" fontAlgn="base">
              <a:buNone/>
            </a:pPr>
            <a:r>
              <a:rPr lang="en-US" altLang="ko-KR" dirty="0"/>
              <a:t>  </a:t>
            </a:r>
            <a:r>
              <a:rPr lang="ko-KR" altLang="en-US" dirty="0"/>
              <a:t>대신 시뮬레이션 범위 안에 준비했는데</a:t>
            </a:r>
            <a:r>
              <a:rPr lang="en-US" altLang="ko-KR" dirty="0"/>
              <a:t>, 2</a:t>
            </a:r>
            <a:r>
              <a:rPr lang="ko-KR" altLang="en-US" dirty="0"/>
              <a:t>차원 </a:t>
            </a:r>
            <a:r>
              <a:rPr lang="en-US" altLang="ko-KR" dirty="0"/>
              <a:t>Reg </a:t>
            </a:r>
            <a:r>
              <a:rPr lang="ko-KR" altLang="en-US" dirty="0"/>
              <a:t>형태로 </a:t>
            </a:r>
            <a:r>
              <a:rPr lang="en-US" altLang="ko-KR" dirty="0"/>
              <a:t>Behavioral </a:t>
            </a:r>
            <a:r>
              <a:rPr lang="ko-KR" altLang="en-US" dirty="0"/>
              <a:t>동작할 수 있도록 했다</a:t>
            </a:r>
            <a:r>
              <a:rPr lang="en-US" altLang="ko-KR" dirty="0"/>
              <a:t>. </a:t>
            </a:r>
          </a:p>
          <a:p>
            <a:pPr marL="457200" lvl="1" indent="0" fontAlgn="base">
              <a:buNone/>
            </a:pPr>
            <a:r>
              <a:rPr lang="en-US" altLang="ko-KR" dirty="0"/>
              <a:t>  </a:t>
            </a:r>
            <a:r>
              <a:rPr lang="ko-KR" altLang="en-US" dirty="0"/>
              <a:t>만약 상용 공정으로 </a:t>
            </a:r>
            <a:r>
              <a:rPr lang="en-US" altLang="ko-KR" dirty="0"/>
              <a:t>MPW </a:t>
            </a:r>
            <a:r>
              <a:rPr lang="ko-KR" altLang="en-US" dirty="0"/>
              <a:t>프로그램을 참여하게 된다면</a:t>
            </a:r>
            <a:r>
              <a:rPr lang="en-US" altLang="ko-KR" dirty="0"/>
              <a:t>,</a:t>
            </a:r>
            <a:r>
              <a:rPr lang="ko-KR" altLang="en-US" dirty="0"/>
              <a:t> 공정사에서 제공하는 메모리들을 이용할 수 </a:t>
            </a:r>
            <a:endParaRPr lang="en-US" altLang="ko-KR" dirty="0"/>
          </a:p>
          <a:p>
            <a:pPr marL="457200" lvl="1" indent="0" fontAlgn="base">
              <a:buNone/>
            </a:pPr>
            <a:r>
              <a:rPr lang="en-US" altLang="ko-KR" dirty="0"/>
              <a:t>  </a:t>
            </a:r>
            <a:r>
              <a:rPr lang="ko-KR" altLang="en-US" dirty="0"/>
              <a:t>있다</a:t>
            </a:r>
            <a:r>
              <a:rPr lang="en-US" altLang="ko-KR" dirty="0"/>
              <a:t>. </a:t>
            </a:r>
            <a:endParaRPr lang="ko-KR" altLang="en-US" dirty="0"/>
          </a:p>
          <a:p>
            <a:pPr lvl="0" latinLnBrk="0"/>
            <a:endParaRPr lang="ko-KR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313274978"/>
      </p:ext>
    </p:extLst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2360868" y="1762290"/>
            <a:ext cx="7249124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/>
              <a:t>칩 설계 환경 소개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41442277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sz="2400" b="1" dirty="0"/>
              <a:t>칩 설계 환경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19B6F2F-5D3B-48A7-8A06-57E5FB5D8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칩 설계 환경의 중요성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서버와 리눅스</a:t>
            </a:r>
            <a:r>
              <a:rPr lang="en-US" altLang="ko-KR" dirty="0"/>
              <a:t> OS</a:t>
            </a:r>
            <a:r>
              <a:rPr lang="ko-KR" altLang="ko-KR" dirty="0"/>
              <a:t>에 대한 이해 필요</a:t>
            </a:r>
            <a:endParaRPr lang="ko-KR" altLang="ko-KR" sz="1100" dirty="0"/>
          </a:p>
          <a:p>
            <a:pPr lvl="1" latinLnBrk="0"/>
            <a:r>
              <a:rPr lang="ko-KR" altLang="ko-KR" dirty="0"/>
              <a:t>기본 쉘 및 환경 변수 설정 중요</a:t>
            </a:r>
            <a:endParaRPr lang="ko-KR" altLang="ko-KR" sz="1100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프로젝트 시작 전 필수 준비사항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설계팀 전체의 동일한 설계 환경 구축</a:t>
            </a:r>
            <a:endParaRPr lang="ko-KR" altLang="ko-KR" sz="1100" dirty="0"/>
          </a:p>
          <a:p>
            <a:pPr lvl="1" latinLnBrk="0"/>
            <a:r>
              <a:rPr lang="ko-KR" altLang="ko-KR" dirty="0"/>
              <a:t>동일한 툴 버전 사용으로 호환성 보장</a:t>
            </a:r>
            <a:endParaRPr lang="ko-KR" altLang="ko-KR" sz="1100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환경 설정의 일관성 중요</a:t>
            </a:r>
            <a:endParaRPr lang="ko-KR" altLang="ko-KR" sz="1200" dirty="0"/>
          </a:p>
          <a:p>
            <a:pPr lvl="1" latinLnBrk="0"/>
            <a:r>
              <a:rPr lang="ko-KR" altLang="ko-KR" dirty="0"/>
              <a:t>파일 가져오기</a:t>
            </a:r>
            <a:r>
              <a:rPr lang="en-US" altLang="ko-KR" dirty="0"/>
              <a:t>(import)</a:t>
            </a:r>
            <a:r>
              <a:rPr lang="ko-KR" altLang="ko-KR" dirty="0"/>
              <a:t>와 열기</a:t>
            </a:r>
            <a:r>
              <a:rPr lang="en-US" altLang="ko-KR" dirty="0"/>
              <a:t>(open) </a:t>
            </a:r>
            <a:r>
              <a:rPr lang="ko-KR" altLang="ko-KR" dirty="0"/>
              <a:t>문제 방지</a:t>
            </a:r>
            <a:endParaRPr lang="ko-KR" altLang="ko-KR" sz="1100" dirty="0"/>
          </a:p>
          <a:p>
            <a:pPr lvl="1" latinLnBrk="0"/>
            <a:r>
              <a:rPr lang="ko-KR" altLang="ko-KR" dirty="0"/>
              <a:t>기본 쉘 및 환경 변수의 통일된 설정</a:t>
            </a:r>
            <a:endParaRPr lang="ko-KR" altLang="ko-KR" sz="1100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92856604"/>
      </p:ext>
    </p:extLst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967333" cy="466312"/>
          </a:xfrm>
        </p:spPr>
        <p:txBody>
          <a:bodyPr/>
          <a:lstStyle/>
          <a:p>
            <a:r>
              <a:rPr lang="en-US" altLang="ko-KR" sz="2400" b="1" dirty="0"/>
              <a:t>1.5.1 </a:t>
            </a:r>
            <a:r>
              <a:rPr lang="ko-KR" altLang="en-US" sz="2400" b="1" dirty="0"/>
              <a:t>개발 환경과 </a:t>
            </a:r>
            <a:r>
              <a:rPr lang="en-US" altLang="ko-KR" sz="2400" b="1" dirty="0"/>
              <a:t>OS</a:t>
            </a:r>
            <a:r>
              <a:rPr lang="ko-KR" altLang="en-US" sz="2400" b="1" dirty="0"/>
              <a:t>버전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툴 버전 소개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반도체 설계에 리눅스 사용 이유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장기 실행 안정성</a:t>
            </a:r>
            <a:r>
              <a:rPr lang="en-US" altLang="ko-KR" dirty="0"/>
              <a:t>: </a:t>
            </a:r>
            <a:r>
              <a:rPr lang="ko-KR" altLang="ko-KR" dirty="0"/>
              <a:t>메모리 초과되지 않는 한 툴 실행 문제 없음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윈도우</a:t>
            </a:r>
            <a:r>
              <a:rPr lang="en-US" altLang="ko-KR" dirty="0"/>
              <a:t> OS </a:t>
            </a:r>
            <a:r>
              <a:rPr lang="ko-KR" altLang="ko-KR" dirty="0"/>
              <a:t>단점</a:t>
            </a:r>
            <a:r>
              <a:rPr lang="en-US" altLang="ko-KR" dirty="0"/>
              <a:t>: </a:t>
            </a:r>
            <a:r>
              <a:rPr lang="ko-KR" altLang="ko-KR" dirty="0"/>
              <a:t>창 멈춤</a:t>
            </a:r>
            <a:r>
              <a:rPr lang="en-US" altLang="ko-KR" dirty="0"/>
              <a:t>, </a:t>
            </a:r>
            <a:r>
              <a:rPr lang="ko-KR" altLang="ko-KR" dirty="0"/>
              <a:t>응답 없음</a:t>
            </a:r>
            <a:r>
              <a:rPr lang="en-US" altLang="ko-KR" dirty="0"/>
              <a:t>, </a:t>
            </a:r>
            <a:r>
              <a:rPr lang="ko-KR" altLang="ko-KR" dirty="0"/>
              <a:t>좀비 프로세스 발생 가능</a:t>
            </a:r>
            <a:endParaRPr lang="ko-KR" altLang="ko-KR" sz="1100" dirty="0"/>
          </a:p>
          <a:p>
            <a:pPr lvl="1" latinLnBrk="0"/>
            <a:r>
              <a:rPr lang="ko-KR" altLang="ko-KR" dirty="0"/>
              <a:t>주요</a:t>
            </a:r>
            <a:r>
              <a:rPr lang="en-US" altLang="ko-KR" dirty="0"/>
              <a:t> EDA </a:t>
            </a:r>
            <a:r>
              <a:rPr lang="ko-KR" altLang="ko-KR" dirty="0"/>
              <a:t>툴의 리눅스 환경 최적화</a:t>
            </a:r>
            <a:endParaRPr lang="ko-KR" altLang="ko-KR" sz="1100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리눅스의 장점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서버 및</a:t>
            </a:r>
            <a:r>
              <a:rPr lang="en-US" altLang="ko-KR" dirty="0"/>
              <a:t> PC </a:t>
            </a:r>
            <a:r>
              <a:rPr lang="ko-KR" altLang="ko-KR" dirty="0"/>
              <a:t>모두에 설치 가능</a:t>
            </a:r>
            <a:endParaRPr lang="ko-KR" altLang="ko-KR" sz="1100" dirty="0"/>
          </a:p>
          <a:p>
            <a:pPr lvl="1" latinLnBrk="0"/>
            <a:r>
              <a:rPr lang="ko-KR" altLang="ko-KR" dirty="0"/>
              <a:t>물리적 서버와</a:t>
            </a:r>
            <a:r>
              <a:rPr lang="en-US" altLang="ko-KR" dirty="0"/>
              <a:t> OS </a:t>
            </a:r>
            <a:r>
              <a:rPr lang="ko-KR" altLang="ko-KR" dirty="0"/>
              <a:t>분리 구매 가능</a:t>
            </a:r>
            <a:endParaRPr lang="ko-KR" altLang="ko-KR" sz="1100" dirty="0"/>
          </a:p>
          <a:p>
            <a:pPr lvl="1" latinLnBrk="0"/>
            <a:r>
              <a:rPr lang="ko-KR" altLang="ko-KR" dirty="0"/>
              <a:t>무료 버전 존재</a:t>
            </a:r>
            <a:endParaRPr lang="ko-KR" altLang="ko-KR" sz="1100" dirty="0"/>
          </a:p>
          <a:p>
            <a:pPr lvl="1" latinLnBrk="0"/>
            <a:r>
              <a:rPr lang="ko-KR" altLang="ko-KR" dirty="0"/>
              <a:t>다양한 배포판 선택 가능</a:t>
            </a:r>
            <a:endParaRPr lang="ko-KR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315483815"/>
      </p:ext>
    </p:extLst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6081633" cy="466312"/>
          </a:xfrm>
        </p:spPr>
        <p:txBody>
          <a:bodyPr/>
          <a:lstStyle/>
          <a:p>
            <a:r>
              <a:rPr lang="en-US" altLang="ko-KR" sz="2400" b="1" dirty="0"/>
              <a:t>1.5.1 </a:t>
            </a:r>
            <a:r>
              <a:rPr lang="ko-KR" altLang="en-US" sz="2400" b="1" dirty="0"/>
              <a:t>개발 환경과 </a:t>
            </a:r>
            <a:r>
              <a:rPr lang="en-US" altLang="ko-KR" sz="2400" b="1" dirty="0"/>
              <a:t>OS</a:t>
            </a:r>
            <a:r>
              <a:rPr lang="ko-KR" altLang="en-US" sz="2400" b="1" dirty="0"/>
              <a:t>버전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툴 버전 소개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en-US" dirty="0"/>
              <a:t>리눅스 종류 및 주요 특징</a:t>
            </a:r>
            <a:endParaRPr lang="ko-KR" altLang="ko-KR" sz="11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041D107-8B71-4123-9315-B24B1A7EA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23584"/>
              </p:ext>
            </p:extLst>
          </p:nvPr>
        </p:nvGraphicFramePr>
        <p:xfrm>
          <a:off x="4226402" y="1553861"/>
          <a:ext cx="7810266" cy="5220094"/>
        </p:xfrm>
        <a:graphic>
          <a:graphicData uri="http://schemas.openxmlformats.org/drawingml/2006/table">
            <a:tbl>
              <a:tblPr/>
              <a:tblGrid>
                <a:gridCol w="905099">
                  <a:extLst>
                    <a:ext uri="{9D8B030D-6E8A-4147-A177-3AD203B41FA5}">
                      <a16:colId xmlns:a16="http://schemas.microsoft.com/office/drawing/2014/main" val="395862290"/>
                    </a:ext>
                  </a:extLst>
                </a:gridCol>
                <a:gridCol w="3323688">
                  <a:extLst>
                    <a:ext uri="{9D8B030D-6E8A-4147-A177-3AD203B41FA5}">
                      <a16:colId xmlns:a16="http://schemas.microsoft.com/office/drawing/2014/main" val="1315294915"/>
                    </a:ext>
                  </a:extLst>
                </a:gridCol>
                <a:gridCol w="1288964">
                  <a:extLst>
                    <a:ext uri="{9D8B030D-6E8A-4147-A177-3AD203B41FA5}">
                      <a16:colId xmlns:a16="http://schemas.microsoft.com/office/drawing/2014/main" val="1812843935"/>
                    </a:ext>
                  </a:extLst>
                </a:gridCol>
                <a:gridCol w="957516">
                  <a:extLst>
                    <a:ext uri="{9D8B030D-6E8A-4147-A177-3AD203B41FA5}">
                      <a16:colId xmlns:a16="http://schemas.microsoft.com/office/drawing/2014/main" val="945551608"/>
                    </a:ext>
                  </a:extLst>
                </a:gridCol>
                <a:gridCol w="1334999">
                  <a:extLst>
                    <a:ext uri="{9D8B030D-6E8A-4147-A177-3AD203B41FA5}">
                      <a16:colId xmlns:a16="http://schemas.microsoft.com/office/drawing/2014/main" val="313080596"/>
                    </a:ext>
                  </a:extLst>
                </a:gridCol>
              </a:tblGrid>
              <a:tr h="4892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종류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주요 특징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지원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/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라이선스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기본 파일 시스템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보안 프레임워크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206932"/>
                  </a:ext>
                </a:extLst>
              </a:tr>
              <a:tr h="9964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Red Hat (RHEL)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엔터프라이즈 시장 점유율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안정성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기술지원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보안성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확장성 우수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유료 지원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상업용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유료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XFS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SELinux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621239"/>
                  </a:ext>
                </a:extLst>
              </a:tr>
              <a:tr h="8528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SUSE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독일 기반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엔터프라이즈 집중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안정성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보안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시스템 관리 도구 강점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상업용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유료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오픈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SUSE(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무료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Btrfs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AppArmor(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기본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SELinux(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선택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783175"/>
                  </a:ext>
                </a:extLst>
              </a:tr>
              <a:tr h="103304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CentOS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RHEL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기반 무료 배포판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RHEL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과 높은 호환성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최근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CentOS Linux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종료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커뮤니티 주도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무료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XFS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SELinux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595315"/>
                  </a:ext>
                </a:extLst>
              </a:tr>
              <a:tr h="12916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Rocky Linux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RHEL 100%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호환 무료 배포판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CentOS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대체 목적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장기 지원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(LTS)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 CentOS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종료 후 등장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활발한 커뮤니티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무료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XFS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SELinux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2581" marR="52581" marT="14537" marB="145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413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367250"/>
      </p:ext>
    </p:extLst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776833" cy="466312"/>
          </a:xfrm>
        </p:spPr>
        <p:txBody>
          <a:bodyPr/>
          <a:lstStyle/>
          <a:p>
            <a:r>
              <a:rPr lang="en-US" altLang="ko-KR" sz="2400" b="1" dirty="0"/>
              <a:t>1.5.1 </a:t>
            </a:r>
            <a:r>
              <a:rPr lang="ko-KR" altLang="en-US" sz="2400" b="1" dirty="0"/>
              <a:t>개발 환경과 </a:t>
            </a:r>
            <a:r>
              <a:rPr lang="en-US" altLang="ko-KR" sz="2400" b="1" dirty="0"/>
              <a:t>OS</a:t>
            </a:r>
            <a:r>
              <a:rPr lang="ko-KR" altLang="en-US" sz="2400" b="1" dirty="0"/>
              <a:t>버전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툴 버전 소개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161987" cy="4859964"/>
          </a:xfrm>
        </p:spPr>
        <p:txBody>
          <a:bodyPr/>
          <a:lstStyle/>
          <a:p>
            <a:pPr lvl="0" latinLnBrk="0"/>
            <a:r>
              <a:rPr lang="ko-KR" altLang="ko-KR" dirty="0"/>
              <a:t>서버 사용의 주요 이유</a:t>
            </a:r>
            <a:r>
              <a:rPr lang="en-US" altLang="ko-KR" dirty="0"/>
              <a:t> </a:t>
            </a:r>
            <a:endParaRPr lang="ko-KR" altLang="ko-KR" sz="1400" dirty="0"/>
          </a:p>
          <a:p>
            <a:pPr lvl="1" latinLnBrk="0"/>
            <a:r>
              <a:rPr lang="ko-KR" altLang="ko-KR" dirty="0"/>
              <a:t>팀 기반 협업 지원</a:t>
            </a:r>
            <a:r>
              <a:rPr lang="en-US" altLang="ko-KR" dirty="0"/>
              <a:t>: </a:t>
            </a:r>
            <a:r>
              <a:rPr lang="ko-KR" altLang="ko-KR" dirty="0"/>
              <a:t>다수 인원이 동일 환경에서 작업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자원 공유 효율성</a:t>
            </a:r>
            <a:r>
              <a:rPr lang="en-US" altLang="ko-KR" dirty="0"/>
              <a:t>: </a:t>
            </a:r>
            <a:r>
              <a:rPr lang="ko-KR" altLang="ko-KR" dirty="0"/>
              <a:t>하나의 서버에 툴 한 번 설치로 모든 설계자 사용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유지보수 효율성</a:t>
            </a:r>
            <a:r>
              <a:rPr lang="en-US" altLang="ko-KR" dirty="0"/>
              <a:t>: </a:t>
            </a:r>
            <a:r>
              <a:rPr lang="ko-KR" altLang="ko-KR" dirty="0"/>
              <a:t>메모리</a:t>
            </a:r>
            <a:r>
              <a:rPr lang="en-US" altLang="ko-KR" dirty="0"/>
              <a:t>/</a:t>
            </a:r>
            <a:r>
              <a:rPr lang="ko-KR" altLang="ko-KR" dirty="0"/>
              <a:t>하드디스크 등 단일 서버 업그레이드로 전체 혜택</a:t>
            </a:r>
            <a:endParaRPr lang="ko-KR" altLang="ko-KR" sz="1200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서버의 기술적 장점</a:t>
            </a:r>
            <a:r>
              <a:rPr lang="en-US" altLang="ko-KR" dirty="0"/>
              <a:t> </a:t>
            </a:r>
            <a:endParaRPr lang="ko-KR" altLang="ko-KR" sz="1400" dirty="0"/>
          </a:p>
          <a:p>
            <a:pPr lvl="1" latinLnBrk="0"/>
            <a:r>
              <a:rPr lang="en-US" altLang="ko-KR" dirty="0"/>
              <a:t>PC</a:t>
            </a:r>
            <a:r>
              <a:rPr lang="ko-KR" altLang="ko-KR" dirty="0"/>
              <a:t>보다 많은</a:t>
            </a:r>
            <a:r>
              <a:rPr lang="en-US" altLang="ko-KR" dirty="0"/>
              <a:t> CPU </a:t>
            </a:r>
            <a:r>
              <a:rPr lang="ko-KR" altLang="ko-KR" dirty="0"/>
              <a:t>코어 제공</a:t>
            </a:r>
            <a:endParaRPr lang="ko-KR" altLang="ko-KR" sz="1200" dirty="0"/>
          </a:p>
          <a:p>
            <a:pPr lvl="1" latinLnBrk="0"/>
            <a:r>
              <a:rPr lang="ko-KR" altLang="ko-KR" dirty="0"/>
              <a:t>확장성 우수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높은 안정성으로 장기 운영 가능</a:t>
            </a:r>
            <a:endParaRPr lang="ko-KR" altLang="ko-KR" sz="1200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서버</a:t>
            </a:r>
            <a:r>
              <a:rPr lang="en-US" altLang="ko-KR" dirty="0"/>
              <a:t>-PC </a:t>
            </a:r>
            <a:r>
              <a:rPr lang="ko-KR" altLang="ko-KR" dirty="0"/>
              <a:t>비교</a:t>
            </a:r>
            <a:endParaRPr lang="ko-KR" altLang="ko-KR" sz="1400" dirty="0"/>
          </a:p>
          <a:p>
            <a:pPr lvl="1" latinLnBrk="0"/>
            <a:r>
              <a:rPr lang="ko-KR" altLang="ko-KR" dirty="0"/>
              <a:t>서버</a:t>
            </a:r>
            <a:r>
              <a:rPr lang="en-US" altLang="ko-KR" dirty="0"/>
              <a:t>: </a:t>
            </a:r>
            <a:r>
              <a:rPr lang="ko-KR" altLang="ko-KR" dirty="0"/>
              <a:t>중앙 집중식 자원 관리</a:t>
            </a:r>
            <a:r>
              <a:rPr lang="en-US" altLang="ko-KR" dirty="0"/>
              <a:t>, </a:t>
            </a:r>
            <a:r>
              <a:rPr lang="ko-KR" altLang="ko-KR" dirty="0"/>
              <a:t>효율적인 유지보수</a:t>
            </a:r>
            <a:endParaRPr lang="ko-KR" altLang="ko-KR" sz="1200" dirty="0"/>
          </a:p>
          <a:p>
            <a:pPr lvl="1" latinLnBrk="0"/>
            <a:r>
              <a:rPr lang="en-US" altLang="ko-KR" dirty="0"/>
              <a:t>PC: </a:t>
            </a:r>
            <a:r>
              <a:rPr lang="ko-KR" altLang="ko-KR" dirty="0"/>
              <a:t>개별 관리 필요</a:t>
            </a:r>
            <a:r>
              <a:rPr lang="en-US" altLang="ko-KR" dirty="0"/>
              <a:t>, </a:t>
            </a:r>
            <a:r>
              <a:rPr lang="ko-KR" altLang="ko-KR" dirty="0"/>
              <a:t>자원 및 노동력 낭비 가능성</a:t>
            </a:r>
            <a:endParaRPr lang="ko-KR" altLang="ko-KR" sz="1200" dirty="0"/>
          </a:p>
        </p:txBody>
      </p:sp>
      <p:pic>
        <p:nvPicPr>
          <p:cNvPr id="8" name="Picture 24">
            <a:extLst>
              <a:ext uri="{FF2B5EF4-FFF2-40B4-BE49-F238E27FC236}">
                <a16:creationId xmlns:a16="http://schemas.microsoft.com/office/drawing/2014/main" id="{CCF88FD9-1D8D-4781-A7AD-E212C7FA5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8785" y="3181511"/>
            <a:ext cx="4490546" cy="357823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819592356"/>
      </p:ext>
    </p:extLst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799993" cy="466312"/>
          </a:xfrm>
        </p:spPr>
        <p:txBody>
          <a:bodyPr/>
          <a:lstStyle/>
          <a:p>
            <a:r>
              <a:rPr lang="en-US" altLang="ko-KR" sz="2400" b="1" dirty="0"/>
              <a:t>1.5.1 </a:t>
            </a:r>
            <a:r>
              <a:rPr lang="ko-KR" altLang="en-US" sz="2400" b="1" dirty="0"/>
              <a:t>개발 환경과 </a:t>
            </a:r>
            <a:r>
              <a:rPr lang="en-US" altLang="ko-KR" sz="2400" b="1" dirty="0"/>
              <a:t>OS</a:t>
            </a:r>
            <a:r>
              <a:rPr lang="ko-KR" altLang="en-US" sz="2400" b="1" dirty="0"/>
              <a:t>버전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툴 버전 소개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리눅스 버전별 설치 가능한 서버 환경</a:t>
            </a:r>
            <a:endParaRPr lang="ko-KR" altLang="ko-KR" sz="1400" dirty="0"/>
          </a:p>
          <a:p>
            <a:pPr lvl="1" latinLnBrk="0"/>
            <a:r>
              <a:rPr lang="ko-KR" altLang="ko-KR" dirty="0"/>
              <a:t>각 리눅스 배포판마다 지원하는</a:t>
            </a:r>
            <a:r>
              <a:rPr lang="en-US" altLang="ko-KR" dirty="0"/>
              <a:t> CPU </a:t>
            </a:r>
            <a:r>
              <a:rPr lang="ko-KR" altLang="ko-KR" dirty="0"/>
              <a:t>아키텍처 </a:t>
            </a:r>
            <a:endParaRPr lang="en-US" altLang="ko-KR" dirty="0"/>
          </a:p>
          <a:p>
            <a:pPr marL="457200" lvl="1" indent="0" latinLnBrk="0">
              <a:buNone/>
            </a:pPr>
            <a:r>
              <a:rPr lang="en-US" altLang="ko-KR" dirty="0"/>
              <a:t>   </a:t>
            </a:r>
            <a:r>
              <a:rPr lang="ko-KR" altLang="ko-KR" dirty="0"/>
              <a:t>및 서버 모델 존재</a:t>
            </a:r>
            <a:endParaRPr lang="ko-KR" altLang="ko-KR" sz="1200" dirty="0"/>
          </a:p>
          <a:p>
            <a:pPr lvl="1" latinLnBrk="0"/>
            <a:r>
              <a:rPr lang="ko-KR" altLang="ko-KR" dirty="0"/>
              <a:t>프로젝트 특성에 맞는 적절한 조합 선택 필요</a:t>
            </a:r>
            <a:endParaRPr lang="en-US" altLang="ko-KR" dirty="0"/>
          </a:p>
          <a:p>
            <a:pPr lvl="1" latinLnBrk="0"/>
            <a:endParaRPr lang="ko-KR" altLang="ko-KR" sz="12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A0D8A11-4A6F-49B2-B5BC-F4EBCBF3C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465960"/>
              </p:ext>
            </p:extLst>
          </p:nvPr>
        </p:nvGraphicFramePr>
        <p:xfrm>
          <a:off x="6312877" y="1547844"/>
          <a:ext cx="5799993" cy="4939586"/>
        </p:xfrm>
        <a:graphic>
          <a:graphicData uri="http://schemas.openxmlformats.org/drawingml/2006/table">
            <a:tbl>
              <a:tblPr/>
              <a:tblGrid>
                <a:gridCol w="826477">
                  <a:extLst>
                    <a:ext uri="{9D8B030D-6E8A-4147-A177-3AD203B41FA5}">
                      <a16:colId xmlns:a16="http://schemas.microsoft.com/office/drawing/2014/main" val="3245724692"/>
                    </a:ext>
                  </a:extLst>
                </a:gridCol>
                <a:gridCol w="2343897">
                  <a:extLst>
                    <a:ext uri="{9D8B030D-6E8A-4147-A177-3AD203B41FA5}">
                      <a16:colId xmlns:a16="http://schemas.microsoft.com/office/drawing/2014/main" val="2046592220"/>
                    </a:ext>
                  </a:extLst>
                </a:gridCol>
                <a:gridCol w="2629619">
                  <a:extLst>
                    <a:ext uri="{9D8B030D-6E8A-4147-A177-3AD203B41FA5}">
                      <a16:colId xmlns:a16="http://schemas.microsoft.com/office/drawing/2014/main" val="4113348339"/>
                    </a:ext>
                  </a:extLst>
                </a:gridCol>
              </a:tblGrid>
              <a:tr h="5100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리눅스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버전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공식 지원 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CPU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아키텍처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대표 서버 모델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/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플랫폼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75849"/>
                  </a:ext>
                </a:extLst>
              </a:tr>
              <a:tr h="778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RHEL 7 / CentOS 7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x86_64 (Intel/AMD 64bit)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ppc64le (IBM Power,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리틀 엔디언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s390x (IBM Z)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x86_64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기반 엔터프라이즈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IBM Power Systems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IBM Z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메인프레임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157190"/>
                  </a:ext>
                </a:extLst>
              </a:tr>
              <a:tr h="10262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RHEL 8 / CentOS 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x86_64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aarch64 (ARM64)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ppc64le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s390x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x86_64/ARM64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엔터프라이즈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IBM Power Systems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IBM Z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99130"/>
                  </a:ext>
                </a:extLst>
              </a:tr>
              <a:tr h="10262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Rocky Linux 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x86_64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aarch64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ppc64le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s390x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x86_64/ARM64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엔터프라이즈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IBM Power Systems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IBM Z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12848"/>
                  </a:ext>
                </a:extLst>
              </a:tr>
              <a:tr h="10262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Rocky Linux 9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x86_64 (x86-64-v2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이상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aarch64 (ARMv8.0-A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이상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ppc64le (POWER9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이상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s390x (z14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이상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x86_64/ARM64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엔터프라이즈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IBM Power9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이상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IBM Z z14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이상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9895" marR="59895" marT="16559" marB="1655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857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786705"/>
      </p:ext>
    </p:extLst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786358" cy="466312"/>
          </a:xfrm>
        </p:spPr>
        <p:txBody>
          <a:bodyPr/>
          <a:lstStyle/>
          <a:p>
            <a:r>
              <a:rPr lang="en-US" altLang="ko-KR" sz="2400" b="1" dirty="0"/>
              <a:t>1.5.1 </a:t>
            </a:r>
            <a:r>
              <a:rPr lang="ko-KR" altLang="en-US" sz="2400" b="1" dirty="0"/>
              <a:t>개발 환경과 </a:t>
            </a:r>
            <a:r>
              <a:rPr lang="en-US" altLang="ko-KR" sz="2400" b="1" dirty="0"/>
              <a:t>OS</a:t>
            </a:r>
            <a:r>
              <a:rPr lang="ko-KR" altLang="en-US" sz="2400" b="1" dirty="0"/>
              <a:t>버전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툴 버전 소개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본 책에서 사용되는</a:t>
            </a:r>
            <a:r>
              <a:rPr lang="en-US" altLang="ko-KR" dirty="0"/>
              <a:t> Cadence </a:t>
            </a:r>
            <a:r>
              <a:rPr lang="ko-KR" altLang="ko-KR" dirty="0"/>
              <a:t>툴 버전</a:t>
            </a:r>
            <a:endParaRPr lang="ko-KR" altLang="ko-KR" sz="1400" dirty="0"/>
          </a:p>
          <a:p>
            <a:pPr lvl="1" latinLnBrk="0"/>
            <a:r>
              <a:rPr lang="ko-KR" altLang="ko-KR" dirty="0"/>
              <a:t>동일 버전 설정 시 실습과 최대한 같은 결과 확보 가능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라이센스 구매는 </a:t>
            </a:r>
            <a:r>
              <a:rPr lang="ko-KR" altLang="en-US" dirty="0"/>
              <a:t>학교의 경우</a:t>
            </a:r>
            <a:r>
              <a:rPr lang="en-US" altLang="ko-KR" dirty="0"/>
              <a:t>, </a:t>
            </a:r>
            <a:r>
              <a:rPr lang="ko-KR" altLang="ko-KR" dirty="0"/>
              <a:t>㈜나인플러스에 문의</a:t>
            </a:r>
            <a:endParaRPr lang="ko-KR" altLang="ko-KR" sz="1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C8A50A-FABD-460D-B5A2-CD5A0A26F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7796"/>
              </p:ext>
            </p:extLst>
          </p:nvPr>
        </p:nvGraphicFramePr>
        <p:xfrm>
          <a:off x="3035397" y="2798290"/>
          <a:ext cx="6121206" cy="3649329"/>
        </p:xfrm>
        <a:graphic>
          <a:graphicData uri="http://schemas.openxmlformats.org/drawingml/2006/table">
            <a:tbl>
              <a:tblPr/>
              <a:tblGrid>
                <a:gridCol w="2040402">
                  <a:extLst>
                    <a:ext uri="{9D8B030D-6E8A-4147-A177-3AD203B41FA5}">
                      <a16:colId xmlns:a16="http://schemas.microsoft.com/office/drawing/2014/main" val="2029193531"/>
                    </a:ext>
                  </a:extLst>
                </a:gridCol>
                <a:gridCol w="2230609">
                  <a:extLst>
                    <a:ext uri="{9D8B030D-6E8A-4147-A177-3AD203B41FA5}">
                      <a16:colId xmlns:a16="http://schemas.microsoft.com/office/drawing/2014/main" val="859970666"/>
                    </a:ext>
                  </a:extLst>
                </a:gridCol>
                <a:gridCol w="1850195">
                  <a:extLst>
                    <a:ext uri="{9D8B030D-6E8A-4147-A177-3AD203B41FA5}">
                      <a16:colId xmlns:a16="http://schemas.microsoft.com/office/drawing/2014/main" val="2550742246"/>
                    </a:ext>
                  </a:extLst>
                </a:gridCol>
              </a:tblGrid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툴 명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비고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96382"/>
                  </a:ext>
                </a:extLst>
              </a:tr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Xcelium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XCELIUMMAIN2403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8340"/>
                  </a:ext>
                </a:extLst>
              </a:tr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Verisium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VERISIUMDEBUG2403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559542"/>
                  </a:ext>
                </a:extLst>
              </a:tr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VManager for IMC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VMANAGER2403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366863"/>
                  </a:ext>
                </a:extLst>
              </a:tr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Genus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DDI221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DDI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패키지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963433"/>
                  </a:ext>
                </a:extLst>
              </a:tr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Conformal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CONFRML221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544044"/>
                  </a:ext>
                </a:extLst>
              </a:tr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Tempus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SSV221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155545"/>
                  </a:ext>
                </a:extLst>
              </a:tr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Innovus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DDI221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DDI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패키지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21719"/>
                  </a:ext>
                </a:extLst>
              </a:tr>
              <a:tr h="4054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Virtuoso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IC618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442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370653"/>
      </p:ext>
    </p:extLst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805408" cy="466312"/>
          </a:xfrm>
        </p:spPr>
        <p:txBody>
          <a:bodyPr/>
          <a:lstStyle/>
          <a:p>
            <a:r>
              <a:rPr lang="en-US" altLang="ko-KR" sz="2400" b="1" dirty="0"/>
              <a:t>1.5.1 </a:t>
            </a:r>
            <a:r>
              <a:rPr lang="ko-KR" altLang="en-US" sz="2400" b="1" dirty="0"/>
              <a:t>개발 환경과 </a:t>
            </a:r>
            <a:r>
              <a:rPr lang="en-US" altLang="ko-KR" sz="2400" b="1" dirty="0"/>
              <a:t>OS</a:t>
            </a:r>
            <a:r>
              <a:rPr lang="ko-KR" altLang="en-US" sz="2400" b="1" dirty="0"/>
              <a:t>버전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툴 버전 소개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en-US" altLang="ko-KR" dirty="0"/>
              <a:t>Cadence </a:t>
            </a:r>
            <a:r>
              <a:rPr lang="ko-KR" altLang="ko-KR" dirty="0"/>
              <a:t>홈페이지를 통한 툴 버전 지원</a:t>
            </a:r>
            <a:r>
              <a:rPr lang="en-US" altLang="ko-KR" dirty="0"/>
              <a:t> OS </a:t>
            </a:r>
            <a:r>
              <a:rPr lang="ko-KR" altLang="ko-KR" dirty="0"/>
              <a:t>정보 확인</a:t>
            </a:r>
            <a:r>
              <a:rPr lang="en-US" altLang="ko-KR" dirty="0"/>
              <a:t> </a:t>
            </a:r>
            <a:endParaRPr lang="ko-KR" altLang="ko-KR" sz="1400" dirty="0"/>
          </a:p>
          <a:p>
            <a:pPr lvl="1" latinLnBrk="0"/>
            <a:r>
              <a:rPr lang="ko-KR" altLang="ko-KR" dirty="0"/>
              <a:t>프로젝트 시작</a:t>
            </a:r>
            <a:r>
              <a:rPr lang="en-US" altLang="ko-KR" dirty="0"/>
              <a:t>/</a:t>
            </a:r>
            <a:r>
              <a:rPr lang="ko-KR" altLang="ko-KR" dirty="0"/>
              <a:t>서버 환경 설치 전 참고 필수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라이센스 구매 후</a:t>
            </a:r>
            <a:r>
              <a:rPr lang="en-US" altLang="ko-KR" dirty="0"/>
              <a:t> support.cadence.com</a:t>
            </a:r>
            <a:r>
              <a:rPr lang="ko-KR" altLang="ko-KR" dirty="0"/>
              <a:t>에서 확인 가능</a:t>
            </a:r>
            <a:endParaRPr lang="ko-KR" altLang="ko-KR" sz="1200" dirty="0"/>
          </a:p>
        </p:txBody>
      </p:sp>
      <p:pic>
        <p:nvPicPr>
          <p:cNvPr id="6" name="Picture 26">
            <a:extLst>
              <a:ext uri="{FF2B5EF4-FFF2-40B4-BE49-F238E27FC236}">
                <a16:creationId xmlns:a16="http://schemas.microsoft.com/office/drawing/2014/main" id="{5A095DF1-00E5-4A51-A1D4-3070461AC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41975" y="2690446"/>
            <a:ext cx="4251852" cy="406930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120459987"/>
      </p:ext>
    </p:extLst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767308" cy="466312"/>
          </a:xfrm>
        </p:spPr>
        <p:txBody>
          <a:bodyPr/>
          <a:lstStyle/>
          <a:p>
            <a:r>
              <a:rPr lang="en-US" altLang="ko-KR" sz="2400" b="1" dirty="0"/>
              <a:t>1.5.1 </a:t>
            </a:r>
            <a:r>
              <a:rPr lang="ko-KR" altLang="en-US" sz="2400" b="1" dirty="0"/>
              <a:t>개발 환경과 </a:t>
            </a:r>
            <a:r>
              <a:rPr lang="en-US" altLang="ko-KR" sz="2400" b="1" dirty="0"/>
              <a:t>OS</a:t>
            </a:r>
            <a:r>
              <a:rPr lang="ko-KR" altLang="en-US" sz="2400" b="1" dirty="0"/>
              <a:t>버전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툴 버전 소개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프로젝트 환경 설정 고려사항</a:t>
            </a:r>
            <a:endParaRPr lang="ko-KR" altLang="ko-KR" sz="1400" dirty="0"/>
          </a:p>
        </p:txBody>
      </p:sp>
      <p:pic>
        <p:nvPicPr>
          <p:cNvPr id="7" name="Picture 28">
            <a:extLst>
              <a:ext uri="{FF2B5EF4-FFF2-40B4-BE49-F238E27FC236}">
                <a16:creationId xmlns:a16="http://schemas.microsoft.com/office/drawing/2014/main" id="{3F8F166C-B0C3-493C-914C-174BCDA77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4612" y="2271933"/>
            <a:ext cx="9018085" cy="417568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395055493"/>
      </p:ext>
    </p:extLst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891133" cy="466312"/>
          </a:xfrm>
        </p:spPr>
        <p:txBody>
          <a:bodyPr/>
          <a:lstStyle/>
          <a:p>
            <a:r>
              <a:rPr lang="en-US" altLang="ko-KR" sz="2400" b="1" dirty="0"/>
              <a:t>1.5.1 </a:t>
            </a:r>
            <a:r>
              <a:rPr lang="ko-KR" altLang="en-US" sz="2400" b="1" dirty="0"/>
              <a:t>개발 환경과 </a:t>
            </a:r>
            <a:r>
              <a:rPr lang="en-US" altLang="ko-KR" sz="2400" b="1" dirty="0"/>
              <a:t>OS</a:t>
            </a:r>
            <a:r>
              <a:rPr lang="ko-KR" altLang="en-US" sz="2400" b="1" dirty="0"/>
              <a:t>버전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툴 버전 소개 </a:t>
            </a:r>
          </a:p>
        </p:txBody>
      </p:sp>
      <p:sp>
        <p:nvSpPr>
          <p:cNvPr id="8" name="말풍선: 타원형 7">
            <a:extLst>
              <a:ext uri="{FF2B5EF4-FFF2-40B4-BE49-F238E27FC236}">
                <a16:creationId xmlns:a16="http://schemas.microsoft.com/office/drawing/2014/main" id="{ACA83996-29DB-41B0-A525-25757CA59080}"/>
              </a:ext>
            </a:extLst>
          </p:cNvPr>
          <p:cNvSpPr/>
          <p:nvPr/>
        </p:nvSpPr>
        <p:spPr>
          <a:xfrm>
            <a:off x="620111" y="2639072"/>
            <a:ext cx="3217984" cy="1809836"/>
          </a:xfrm>
          <a:prstGeom prst="wedgeEllipseCallout">
            <a:avLst>
              <a:gd name="adj1" fmla="val -22881"/>
              <a:gd name="adj2" fmla="val -6916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서버와 </a:t>
            </a:r>
            <a:r>
              <a:rPr lang="en-US" altLang="ko-KR" dirty="0">
                <a:solidFill>
                  <a:schemeClr val="tx1"/>
                </a:solidFill>
              </a:rPr>
              <a:t>EDA </a:t>
            </a:r>
            <a:r>
              <a:rPr lang="ko-KR" altLang="en-US" dirty="0">
                <a:solidFill>
                  <a:schemeClr val="tx1"/>
                </a:solidFill>
              </a:rPr>
              <a:t>툴은 </a:t>
            </a:r>
            <a:endParaRPr lang="en-US" altLang="ko-KR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무조건 최신이어야</a:t>
            </a:r>
            <a:endParaRPr lang="en-US" altLang="ko-KR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할까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정답은 아니다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84ECCEB-FA67-4D37-986D-4D29C074E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1" y="1587655"/>
            <a:ext cx="2984736" cy="654383"/>
          </a:xfrm>
        </p:spPr>
        <p:txBody>
          <a:bodyPr/>
          <a:lstStyle/>
          <a:p>
            <a:pPr lvl="0" latinLnBrk="0"/>
            <a:r>
              <a:rPr lang="ko-KR" altLang="en-US" b="1" i="1" dirty="0">
                <a:solidFill>
                  <a:srgbClr val="FF0000"/>
                </a:solidFill>
              </a:rPr>
              <a:t>여기서 문제</a:t>
            </a:r>
            <a:r>
              <a:rPr lang="en-US" altLang="ko-KR" b="1" i="1" dirty="0">
                <a:solidFill>
                  <a:srgbClr val="FF0000"/>
                </a:solidFill>
              </a:rPr>
              <a:t>!</a:t>
            </a:r>
            <a:r>
              <a:rPr lang="ko-KR" altLang="en-US" b="1" i="1" dirty="0">
                <a:solidFill>
                  <a:srgbClr val="FF0000"/>
                </a:solidFill>
              </a:rPr>
              <a:t> </a:t>
            </a:r>
            <a:endParaRPr lang="ko-KR" altLang="ko-KR" sz="1100" b="1" i="1" dirty="0">
              <a:solidFill>
                <a:srgbClr val="FF0000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42624994-7089-48E3-AA07-A0A4D772BE21}"/>
              </a:ext>
            </a:extLst>
          </p:cNvPr>
          <p:cNvSpPr/>
          <p:nvPr/>
        </p:nvSpPr>
        <p:spPr>
          <a:xfrm>
            <a:off x="4838986" y="1720871"/>
            <a:ext cx="7233138" cy="259373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endParaRPr lang="ko-KR" altLang="en-US" dirty="0">
              <a:solidFill>
                <a:schemeClr val="bg1"/>
              </a:solidFill>
            </a:endParaRPr>
          </a:p>
          <a:p>
            <a:pPr fontAlgn="base"/>
            <a:r>
              <a:rPr lang="en-US" altLang="ko-KR" dirty="0">
                <a:solidFill>
                  <a:schemeClr val="bg1"/>
                </a:solidFill>
              </a:rPr>
              <a:t>TSMC 180nm CMOS </a:t>
            </a:r>
            <a:r>
              <a:rPr lang="ko-KR" altLang="en-US" dirty="0">
                <a:solidFill>
                  <a:schemeClr val="bg1"/>
                </a:solidFill>
              </a:rPr>
              <a:t>공정은 아직도 많이 사용하고 있는 공정이다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이 공정은 </a:t>
            </a:r>
            <a:r>
              <a:rPr lang="en-US" altLang="ko-KR" dirty="0">
                <a:solidFill>
                  <a:schemeClr val="bg1"/>
                </a:solidFill>
              </a:rPr>
              <a:t>1998</a:t>
            </a:r>
            <a:r>
              <a:rPr lang="ko-KR" altLang="en-US" dirty="0">
                <a:solidFill>
                  <a:schemeClr val="bg1"/>
                </a:solidFill>
              </a:rPr>
              <a:t>년부터 서비스하기 시작한 공정이어서 </a:t>
            </a:r>
            <a:r>
              <a:rPr lang="en-US" altLang="ko-KR" dirty="0">
                <a:solidFill>
                  <a:schemeClr val="bg1"/>
                </a:solidFill>
              </a:rPr>
              <a:t>PDK</a:t>
            </a:r>
            <a:r>
              <a:rPr lang="ko-KR" altLang="en-US" dirty="0">
                <a:solidFill>
                  <a:schemeClr val="bg1"/>
                </a:solidFill>
              </a:rPr>
              <a:t>를 예전에 만들었을 테니 </a:t>
            </a:r>
            <a:r>
              <a:rPr lang="en-US" altLang="ko-KR" dirty="0">
                <a:solidFill>
                  <a:schemeClr val="bg1"/>
                </a:solidFill>
              </a:rPr>
              <a:t>EDA </a:t>
            </a:r>
            <a:r>
              <a:rPr lang="ko-KR" altLang="en-US" dirty="0">
                <a:solidFill>
                  <a:schemeClr val="bg1"/>
                </a:solidFill>
              </a:rPr>
              <a:t>툴 버전을 선정할 때 그 시점에 사용되었을 </a:t>
            </a:r>
            <a:r>
              <a:rPr lang="en-US" altLang="ko-KR" dirty="0">
                <a:solidFill>
                  <a:schemeClr val="bg1"/>
                </a:solidFill>
              </a:rPr>
              <a:t>Old </a:t>
            </a:r>
            <a:r>
              <a:rPr lang="ko-KR" altLang="en-US" dirty="0">
                <a:solidFill>
                  <a:schemeClr val="bg1"/>
                </a:solidFill>
              </a:rPr>
              <a:t>툴 버전을 사용해야 한다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특히 </a:t>
            </a:r>
            <a:r>
              <a:rPr lang="en-US" altLang="ko-KR" dirty="0">
                <a:solidFill>
                  <a:schemeClr val="bg1"/>
                </a:solidFill>
              </a:rPr>
              <a:t>TSMC 180nm </a:t>
            </a:r>
            <a:r>
              <a:rPr lang="ko-KR" altLang="en-US" dirty="0">
                <a:solidFill>
                  <a:schemeClr val="bg1"/>
                </a:solidFill>
              </a:rPr>
              <a:t>공정에서 사용하는 메모리 컴파일러의 경우 리눅스가 아닌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솔라리스 </a:t>
            </a:r>
            <a:r>
              <a:rPr lang="en-US" altLang="ko-KR" dirty="0">
                <a:solidFill>
                  <a:schemeClr val="bg1"/>
                </a:solidFill>
              </a:rPr>
              <a:t>OS</a:t>
            </a:r>
            <a:r>
              <a:rPr lang="ko-KR" altLang="en-US" dirty="0">
                <a:solidFill>
                  <a:schemeClr val="bg1"/>
                </a:solidFill>
              </a:rPr>
              <a:t>에서 구동해야만 한다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구매한 지 오래된 서버라고 해서 버리기만 한다면 정말 필요할 때 대응하지 못하는 경우가 생길 수 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이것이 기업들과 연구소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학교에서 오래된 서버를 유지하는 이유이다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endParaRPr lang="ko-KR" altLang="en-US" dirty="0">
              <a:solidFill>
                <a:schemeClr val="bg1"/>
              </a:solidFill>
            </a:endParaRPr>
          </a:p>
          <a:p>
            <a:pPr fontAlgn="base"/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831AE338-3739-424E-83FE-B9783E668A32}"/>
              </a:ext>
            </a:extLst>
          </p:cNvPr>
          <p:cNvSpPr/>
          <p:nvPr/>
        </p:nvSpPr>
        <p:spPr>
          <a:xfrm>
            <a:off x="4838986" y="4608454"/>
            <a:ext cx="7233138" cy="173959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dirty="0"/>
              <a:t>EDA </a:t>
            </a:r>
            <a:r>
              <a:rPr lang="ko-KR" altLang="en-US" dirty="0"/>
              <a:t>툴도 같은 맥락에서 </a:t>
            </a:r>
            <a:r>
              <a:rPr lang="en-US" altLang="ko-KR" dirty="0"/>
              <a:t>Old </a:t>
            </a:r>
            <a:r>
              <a:rPr lang="ko-KR" altLang="en-US" dirty="0"/>
              <a:t>버전도 필요하다</a:t>
            </a:r>
            <a:r>
              <a:rPr lang="en-US" altLang="ko-KR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EDA </a:t>
            </a:r>
            <a:r>
              <a:rPr lang="ko-KR" altLang="en-US" dirty="0"/>
              <a:t>툴은 예전부터 지금까지 매년 만들어서 배포하고 있다는 것을 이해해야 한다</a:t>
            </a:r>
            <a:r>
              <a:rPr lang="en-US" altLang="ko-KR" dirty="0"/>
              <a:t>. </a:t>
            </a:r>
            <a:r>
              <a:rPr lang="ko-KR" altLang="en-US" dirty="0"/>
              <a:t>당연하지만</a:t>
            </a:r>
            <a:r>
              <a:rPr lang="en-US" altLang="ko-KR" dirty="0"/>
              <a:t>, </a:t>
            </a:r>
            <a:r>
              <a:rPr lang="ko-KR" altLang="en-US" dirty="0"/>
              <a:t>이전 버전의 툴은 이전 </a:t>
            </a:r>
            <a:r>
              <a:rPr lang="en-US" altLang="ko-KR" dirty="0"/>
              <a:t>OS</a:t>
            </a:r>
            <a:r>
              <a:rPr lang="ko-KR" altLang="en-US" dirty="0"/>
              <a:t>에서 개발했을 것이고</a:t>
            </a:r>
            <a:r>
              <a:rPr lang="en-US" altLang="ko-KR" dirty="0"/>
              <a:t>, </a:t>
            </a:r>
            <a:r>
              <a:rPr lang="ko-KR" altLang="en-US" dirty="0"/>
              <a:t>최신 버전은 최신 </a:t>
            </a:r>
            <a:r>
              <a:rPr lang="en-US" altLang="ko-KR" dirty="0"/>
              <a:t>OS</a:t>
            </a:r>
            <a:r>
              <a:rPr lang="ko-KR" altLang="en-US" dirty="0"/>
              <a:t>에서 개발했을 것이다</a:t>
            </a:r>
            <a:r>
              <a:rPr lang="en-US" altLang="ko-KR" dirty="0"/>
              <a:t>. </a:t>
            </a:r>
            <a:r>
              <a:rPr lang="ko-KR" altLang="en-US" dirty="0"/>
              <a:t>프로젝트의 특성상 꼭 사용해야 버전이 </a:t>
            </a:r>
            <a:r>
              <a:rPr lang="en-US" altLang="ko-KR" dirty="0"/>
              <a:t>Old </a:t>
            </a:r>
            <a:r>
              <a:rPr lang="ko-KR" altLang="en-US" dirty="0"/>
              <a:t>하다면 그에 맞는 </a:t>
            </a:r>
            <a:r>
              <a:rPr lang="en-US" altLang="ko-KR" dirty="0"/>
              <a:t>OS</a:t>
            </a:r>
            <a:r>
              <a:rPr lang="ko-KR" altLang="en-US" dirty="0"/>
              <a:t>도 같이 준비되어야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728143"/>
      </p:ext>
    </p:extLst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리눅스 쉘의 이해</a:t>
            </a:r>
            <a:endParaRPr lang="ko-KR" altLang="ko-KR" sz="1400" dirty="0"/>
          </a:p>
          <a:p>
            <a:pPr lvl="1" latinLnBrk="0"/>
            <a:r>
              <a:rPr lang="ko-KR" altLang="ko-KR" dirty="0"/>
              <a:t>터미널에서 명령어 실행 시 실제로는 쉘이 처리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다양한 쉘 중 주로 사용되는 것은</a:t>
            </a:r>
            <a:r>
              <a:rPr lang="en-US" altLang="ko-KR" dirty="0"/>
              <a:t> csh, bash </a:t>
            </a:r>
            <a:r>
              <a:rPr lang="ko-KR" altLang="ko-KR" dirty="0"/>
              <a:t>두 가지</a:t>
            </a:r>
            <a:endParaRPr lang="ko-KR" altLang="ko-KR" sz="1200" dirty="0"/>
          </a:p>
          <a:p>
            <a:pPr lvl="1" latinLnBrk="0"/>
            <a:r>
              <a:rPr lang="ko-KR" altLang="ko-KR" dirty="0"/>
              <a:t>기본 리눅스 명령은 모든 쉘에서 공통적으로 사용 가능</a:t>
            </a:r>
            <a:endParaRPr lang="ko-KR" altLang="ko-KR" sz="1200" dirty="0"/>
          </a:p>
          <a:p>
            <a:pPr lvl="1" latinLnBrk="0"/>
            <a:r>
              <a:rPr lang="ko-KR" altLang="ko-KR" dirty="0"/>
              <a:t>각 쉘마다 고유 명령어는 다른 쉘에서 오류 발생 가능</a:t>
            </a:r>
            <a:endParaRPr lang="en-US" altLang="ko-KR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쉘 선택 시 고려사항</a:t>
            </a:r>
            <a:endParaRPr lang="ko-KR" altLang="ko-KR" sz="1400" dirty="0"/>
          </a:p>
          <a:p>
            <a:pPr lvl="1" latinLnBrk="0"/>
            <a:r>
              <a:rPr lang="ko-KR" altLang="ko-KR" dirty="0"/>
              <a:t>전통적 반도체 설계 분야에서는</a:t>
            </a:r>
            <a:r>
              <a:rPr lang="en-US" altLang="ko-KR" dirty="0"/>
              <a:t> csh </a:t>
            </a:r>
            <a:r>
              <a:rPr lang="ko-KR" altLang="ko-KR" dirty="0"/>
              <a:t>많이 사용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최근 리눅스에서는</a:t>
            </a:r>
            <a:r>
              <a:rPr lang="en-US" altLang="ko-KR" dirty="0"/>
              <a:t> bash</a:t>
            </a:r>
            <a:r>
              <a:rPr lang="ko-KR" altLang="ko-KR" dirty="0"/>
              <a:t>를 기본 권장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스크립트 코딩</a:t>
            </a:r>
            <a:r>
              <a:rPr lang="en-US" altLang="ko-KR" dirty="0"/>
              <a:t>, </a:t>
            </a:r>
            <a:r>
              <a:rPr lang="ko-KR" altLang="ko-KR" dirty="0"/>
              <a:t>시스템 관리</a:t>
            </a:r>
            <a:r>
              <a:rPr lang="en-US" altLang="ko-KR" dirty="0"/>
              <a:t>, </a:t>
            </a:r>
            <a:r>
              <a:rPr lang="ko-KR" altLang="ko-KR" dirty="0"/>
              <a:t>복잡한 작업에는</a:t>
            </a:r>
            <a:r>
              <a:rPr lang="en-US" altLang="ko-KR" dirty="0"/>
              <a:t> bash</a:t>
            </a:r>
            <a:r>
              <a:rPr lang="ko-KR" altLang="ko-KR" dirty="0"/>
              <a:t>가 유리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사업장</a:t>
            </a:r>
            <a:r>
              <a:rPr lang="en-US" altLang="ko-KR" dirty="0"/>
              <a:t>/</a:t>
            </a:r>
            <a:r>
              <a:rPr lang="ko-KR" altLang="ko-KR" dirty="0"/>
              <a:t>연구소 기존 관행에 따라 결정되는 경우 많음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작업 성격에 따라 선택적 전환 사용 가능</a:t>
            </a:r>
            <a:endParaRPr lang="ko-KR" altLang="ko-KR" sz="1200" dirty="0"/>
          </a:p>
          <a:p>
            <a:pPr lvl="1" latinLnBrk="0"/>
            <a:endParaRPr lang="ko-KR" altLang="ko-KR" sz="1200" dirty="0"/>
          </a:p>
        </p:txBody>
      </p:sp>
      <p:pic>
        <p:nvPicPr>
          <p:cNvPr id="6" name="Picture 30">
            <a:extLst>
              <a:ext uri="{FF2B5EF4-FFF2-40B4-BE49-F238E27FC236}">
                <a16:creationId xmlns:a16="http://schemas.microsoft.com/office/drawing/2014/main" id="{7765B6E3-AF0B-445B-B91F-084238C81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83331" y="3794256"/>
            <a:ext cx="3517260" cy="952303"/>
          </a:xfrm>
          <a:prstGeom prst="rect">
            <a:avLst/>
          </a:prstGeom>
          <a:noFill/>
          <a:ln w="254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FD4838E-DC94-4BAC-90FA-A3959DED8604}"/>
              </a:ext>
            </a:extLst>
          </p:cNvPr>
          <p:cNvSpPr/>
          <p:nvPr/>
        </p:nvSpPr>
        <p:spPr>
          <a:xfrm>
            <a:off x="8396654" y="4889358"/>
            <a:ext cx="3290614" cy="3809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다른 쉘의 명령어를 내린 경우</a:t>
            </a:r>
          </a:p>
        </p:txBody>
      </p:sp>
    </p:spTree>
    <p:extLst>
      <p:ext uri="{BB962C8B-B14F-4D97-AF65-F5344CB8AC3E}">
        <p14:creationId xmlns:p14="http://schemas.microsoft.com/office/powerpoint/2010/main" val="1121272963"/>
      </p:ext>
    </p:extLst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en-US" dirty="0"/>
              <a:t>리눅스 쉘 선택시 고려할 측면 </a:t>
            </a:r>
            <a:endParaRPr lang="en-US" altLang="ko-KR" dirty="0"/>
          </a:p>
          <a:p>
            <a:pPr lvl="1" latinLnBrk="0"/>
            <a:r>
              <a:rPr lang="ko-KR" altLang="en-US" dirty="0"/>
              <a:t>반도체 설계 분야에서 전통적으로 사용되어 온 쉘은 </a:t>
            </a:r>
            <a:r>
              <a:rPr lang="en-US" altLang="ko-KR" dirty="0"/>
              <a:t>csh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endParaRPr lang="ko-KR" altLang="en-US" dirty="0"/>
          </a:p>
          <a:p>
            <a:pPr lvl="1" fontAlgn="base"/>
            <a:r>
              <a:rPr lang="ko-KR" altLang="en-US" dirty="0"/>
              <a:t>요즘은 리눅스에서 기본적으로 </a:t>
            </a:r>
            <a:r>
              <a:rPr lang="en-US" altLang="ko-KR" dirty="0"/>
              <a:t>bash</a:t>
            </a:r>
            <a:r>
              <a:rPr lang="ko-KR" altLang="en-US" dirty="0"/>
              <a:t>를 권장</a:t>
            </a:r>
          </a:p>
          <a:p>
            <a:pPr lvl="2" fontAlgn="base"/>
            <a:r>
              <a:rPr lang="ko-KR" altLang="en-US" dirty="0"/>
              <a:t>쉘 스크립트 코딩과 시스템 관리와 복잡한 작업</a:t>
            </a:r>
            <a:r>
              <a:rPr lang="en-US" altLang="ko-KR" dirty="0"/>
              <a:t>, </a:t>
            </a:r>
            <a:r>
              <a:rPr lang="ko-KR" altLang="en-US" dirty="0"/>
              <a:t>신호처리</a:t>
            </a:r>
            <a:r>
              <a:rPr lang="en-US" altLang="ko-KR" dirty="0"/>
              <a:t>, </a:t>
            </a:r>
            <a:r>
              <a:rPr lang="ko-KR" altLang="en-US" dirty="0"/>
              <a:t>예외처리에는 </a:t>
            </a:r>
            <a:r>
              <a:rPr lang="en-US" altLang="ko-KR" dirty="0"/>
              <a:t>bash</a:t>
            </a:r>
            <a:r>
              <a:rPr lang="ko-KR" altLang="en-US" dirty="0"/>
              <a:t>가 좋다고 알려져 있음 </a:t>
            </a:r>
          </a:p>
          <a:p>
            <a:pPr lvl="1" fontAlgn="base"/>
            <a:r>
              <a:rPr lang="ko-KR" altLang="en-US" dirty="0"/>
              <a:t>사업장의 분위기에 따라서 결정되는 것도 사실</a:t>
            </a:r>
          </a:p>
          <a:p>
            <a:pPr lvl="2" fontAlgn="base"/>
            <a:r>
              <a:rPr lang="ko-KR" altLang="en-US" dirty="0"/>
              <a:t>연구실이나 사업장이 오랜 역사를 가지고 있거나 예전부터 </a:t>
            </a:r>
            <a:r>
              <a:rPr lang="en-US" altLang="ko-KR" dirty="0"/>
              <a:t>Layout</a:t>
            </a:r>
            <a:r>
              <a:rPr lang="ko-KR" altLang="en-US" dirty="0"/>
              <a:t>과 </a:t>
            </a:r>
            <a:r>
              <a:rPr lang="en-US" altLang="ko-KR" dirty="0"/>
              <a:t>GUI </a:t>
            </a:r>
            <a:r>
              <a:rPr lang="ko-KR" altLang="en-US" dirty="0"/>
              <a:t>위주로 일을 해온 곳은 </a:t>
            </a:r>
            <a:r>
              <a:rPr lang="en-US" altLang="ko-KR" dirty="0"/>
              <a:t>csh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2" fontAlgn="base"/>
            <a:r>
              <a:rPr lang="en-US" altLang="ko-KR" dirty="0"/>
              <a:t> GUI </a:t>
            </a:r>
            <a:r>
              <a:rPr lang="ko-KR" altLang="en-US" dirty="0"/>
              <a:t>툴 작업 외에도 스크립트 언어를 많이 쓰는 곳은 </a:t>
            </a:r>
            <a:r>
              <a:rPr lang="en-US" altLang="ko-KR" dirty="0"/>
              <a:t>bash</a:t>
            </a:r>
            <a:r>
              <a:rPr lang="ko-KR" altLang="en-US" dirty="0"/>
              <a:t>를 선호하는 분위기</a:t>
            </a:r>
          </a:p>
          <a:p>
            <a:pPr lvl="0" latinLnBrk="0"/>
            <a:endParaRPr lang="ko-KR" altLang="ko-KR" sz="1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B139B9A-86F2-474D-9402-FF61B65A0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24026"/>
              </p:ext>
            </p:extLst>
          </p:nvPr>
        </p:nvGraphicFramePr>
        <p:xfrm>
          <a:off x="1070734" y="3951550"/>
          <a:ext cx="9314194" cy="2808197"/>
        </p:xfrm>
        <a:graphic>
          <a:graphicData uri="http://schemas.openxmlformats.org/drawingml/2006/table">
            <a:tbl>
              <a:tblPr/>
              <a:tblGrid>
                <a:gridCol w="9314194">
                  <a:extLst>
                    <a:ext uri="{9D8B030D-6E8A-4147-A177-3AD203B41FA5}">
                      <a16:colId xmlns:a16="http://schemas.microsoft.com/office/drawing/2014/main" val="1544801929"/>
                    </a:ext>
                  </a:extLst>
                </a:gridCol>
              </a:tblGrid>
              <a:tr h="280819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제안</a:t>
                      </a:r>
                      <a:r>
                        <a:rPr lang="en-US" altLang="ko-KR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정해진 룰은 없지만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본인이 하는 일의 성격에 따라 선택적으로 바꿔서 사용할 수도 있겠다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GUI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위주로 작업하거나 간단한 명령어 실행을 위주로 한다면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csh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를 사용하다가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복잡한 쉘 스크립트 작업을 해야 한다면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bash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전환해보자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전환 방법</a:t>
                      </a:r>
                      <a:r>
                        <a:rPr lang="en-US" altLang="ko-KR" sz="14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터미널 기본 쉘이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csh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이었다면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터미널을 띄운 뒤 아래 명령으로 간단하게 전환 가능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$&gt; </a:t>
                      </a:r>
                      <a:r>
                        <a:rPr lang="en-US" altLang="ko-KR" sz="1400" b="1" i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bash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bash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작업 후에 원래의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csh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돌아가려면 간단히 아래 명령 수행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$&gt; </a:t>
                      </a:r>
                      <a:r>
                        <a:rPr lang="en-US" altLang="ko-KR" sz="1400" b="1" i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exit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262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64392"/>
      </p:ext>
    </p:extLst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기본 쉘 확인 방법</a:t>
            </a:r>
            <a:endParaRPr lang="ko-KR" altLang="ko-KR" sz="1400" dirty="0"/>
          </a:p>
          <a:p>
            <a:pPr lvl="1" latinLnBrk="0"/>
            <a:r>
              <a:rPr lang="en-US" altLang="ko-KR" dirty="0"/>
              <a:t>/etc/passwd </a:t>
            </a:r>
            <a:r>
              <a:rPr lang="ko-KR" altLang="ko-KR" dirty="0"/>
              <a:t>파일을 통해 설정된 기본 쉘 확인 가능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서버 관리자에게 요청하여 기본 쉘 변경 가능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마지막 항목을</a:t>
            </a:r>
            <a:r>
              <a:rPr lang="en-US" altLang="ko-KR" dirty="0"/>
              <a:t> /bin/bash </a:t>
            </a:r>
            <a:r>
              <a:rPr lang="ko-KR" altLang="ko-KR" dirty="0"/>
              <a:t>등으로 수정하여 기본 쉘 변경</a:t>
            </a:r>
            <a:endParaRPr lang="en-US" altLang="ko-KR" dirty="0"/>
          </a:p>
          <a:p>
            <a:pPr lvl="0" latinLnBrk="0"/>
            <a:endParaRPr lang="en-US" altLang="ko-KR" dirty="0"/>
          </a:p>
          <a:p>
            <a:pPr lvl="0" latinLnBrk="0"/>
            <a:r>
              <a:rPr lang="ko-KR" altLang="ko-KR" dirty="0"/>
              <a:t>쉘 임시 전환 방법</a:t>
            </a:r>
            <a:endParaRPr lang="ko-KR" altLang="ko-KR" sz="1400" dirty="0"/>
          </a:p>
          <a:p>
            <a:pPr lvl="1" latinLnBrk="0"/>
            <a:r>
              <a:rPr lang="en-US" altLang="ko-KR" dirty="0"/>
              <a:t>csh</a:t>
            </a:r>
            <a:r>
              <a:rPr lang="ko-KR" altLang="ko-KR" dirty="0"/>
              <a:t>에서</a:t>
            </a:r>
            <a:r>
              <a:rPr lang="en-US" altLang="ko-KR" dirty="0"/>
              <a:t> bash</a:t>
            </a:r>
            <a:r>
              <a:rPr lang="ko-KR" altLang="ko-KR" dirty="0"/>
              <a:t>로 전환</a:t>
            </a:r>
            <a:r>
              <a:rPr lang="en-US" altLang="ko-KR" dirty="0"/>
              <a:t>: $&gt;bash </a:t>
            </a:r>
            <a:r>
              <a:rPr lang="ko-KR" altLang="ko-KR" dirty="0"/>
              <a:t>명령 실행</a:t>
            </a:r>
            <a:endParaRPr lang="ko-KR" altLang="ko-KR" sz="1200" dirty="0"/>
          </a:p>
          <a:p>
            <a:pPr lvl="1" latinLnBrk="0"/>
            <a:r>
              <a:rPr lang="en-US" altLang="ko-KR" dirty="0"/>
              <a:t>bash</a:t>
            </a:r>
            <a:r>
              <a:rPr lang="ko-KR" altLang="ko-KR" dirty="0"/>
              <a:t>에서</a:t>
            </a:r>
            <a:r>
              <a:rPr lang="en-US" altLang="ko-KR" dirty="0"/>
              <a:t> csh</a:t>
            </a:r>
            <a:r>
              <a:rPr lang="ko-KR" altLang="ko-KR" dirty="0"/>
              <a:t>로 복귀</a:t>
            </a:r>
            <a:r>
              <a:rPr lang="en-US" altLang="ko-KR" dirty="0"/>
              <a:t>: $&gt;exit </a:t>
            </a:r>
            <a:r>
              <a:rPr lang="ko-KR" altLang="ko-KR" dirty="0"/>
              <a:t>명령 실행</a:t>
            </a:r>
            <a:endParaRPr lang="ko-KR" altLang="ko-KR" sz="1200" dirty="0"/>
          </a:p>
          <a:p>
            <a:pPr lvl="1" latinLnBrk="0"/>
            <a:endParaRPr lang="ko-KR" altLang="ko-KR" sz="1200" dirty="0"/>
          </a:p>
        </p:txBody>
      </p:sp>
      <p:pic>
        <p:nvPicPr>
          <p:cNvPr id="6" name="Picture 31">
            <a:extLst>
              <a:ext uri="{FF2B5EF4-FFF2-40B4-BE49-F238E27FC236}">
                <a16:creationId xmlns:a16="http://schemas.microsoft.com/office/drawing/2014/main" id="{BA41A7E2-6D4E-4BDD-AF66-3EF2A7944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72236" y="5467569"/>
            <a:ext cx="5694860" cy="316400"/>
          </a:xfrm>
          <a:prstGeom prst="rect">
            <a:avLst/>
          </a:prstGeom>
          <a:noFill/>
          <a:ln w="254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DA71304-61C5-4157-8055-0E057B552F86}"/>
              </a:ext>
            </a:extLst>
          </p:cNvPr>
          <p:cNvSpPr/>
          <p:nvPr/>
        </p:nvSpPr>
        <p:spPr>
          <a:xfrm>
            <a:off x="2769609" y="5954683"/>
            <a:ext cx="3886167" cy="3809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/etc/passwd</a:t>
            </a:r>
            <a:r>
              <a:rPr lang="ko-KR" altLang="en-US" dirty="0">
                <a:solidFill>
                  <a:schemeClr val="tx1"/>
                </a:solidFill>
              </a:rPr>
              <a:t>파일에서 기본 쉘 확인</a:t>
            </a:r>
          </a:p>
        </p:txBody>
      </p:sp>
    </p:spTree>
    <p:extLst>
      <p:ext uri="{BB962C8B-B14F-4D97-AF65-F5344CB8AC3E}">
        <p14:creationId xmlns:p14="http://schemas.microsoft.com/office/powerpoint/2010/main" val="2003882130"/>
      </p:ext>
    </p:extLst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환경 변수의 중요성</a:t>
            </a:r>
            <a:endParaRPr lang="ko-KR" altLang="ko-KR" sz="1400" dirty="0"/>
          </a:p>
          <a:p>
            <a:pPr lvl="1" latinLnBrk="0"/>
            <a:r>
              <a:rPr lang="ko-KR" altLang="ko-KR" dirty="0"/>
              <a:t>반도체 설계 툴 구동 전 필수 환경 변수 설정 필요</a:t>
            </a:r>
            <a:endParaRPr lang="ko-KR" altLang="ko-KR" sz="1200" dirty="0"/>
          </a:p>
          <a:p>
            <a:pPr lvl="1" latinLnBrk="0"/>
            <a:r>
              <a:rPr lang="ko-KR" altLang="ko-KR" dirty="0"/>
              <a:t>기본</a:t>
            </a:r>
            <a:r>
              <a:rPr lang="en-US" altLang="ko-KR" dirty="0"/>
              <a:t> 3</a:t>
            </a:r>
            <a:r>
              <a:rPr lang="ko-KR" altLang="ko-KR" dirty="0"/>
              <a:t>가지 필수 환경변수</a:t>
            </a:r>
            <a:r>
              <a:rPr lang="en-US" altLang="ko-KR" dirty="0"/>
              <a:t>: </a:t>
            </a:r>
            <a:endParaRPr lang="ko-KR" altLang="ko-KR" sz="1200" dirty="0"/>
          </a:p>
          <a:p>
            <a:pPr lvl="2" latinLnBrk="0"/>
            <a:r>
              <a:rPr lang="ko-KR" altLang="ko-KR" dirty="0"/>
              <a:t>툴 설치 위치 정의</a:t>
            </a:r>
            <a:r>
              <a:rPr lang="en-US" altLang="ko-KR" dirty="0"/>
              <a:t> (</a:t>
            </a:r>
            <a:r>
              <a:rPr lang="ko-KR" altLang="ko-KR" dirty="0"/>
              <a:t>절대 경로</a:t>
            </a:r>
            <a:r>
              <a:rPr lang="en-US" altLang="ko-KR" dirty="0"/>
              <a:t>)</a:t>
            </a:r>
            <a:endParaRPr lang="ko-KR" altLang="ko-KR" sz="1100" dirty="0"/>
          </a:p>
          <a:p>
            <a:pPr lvl="2" latinLnBrk="0"/>
            <a:r>
              <a:rPr lang="ko-KR" altLang="ko-KR" dirty="0"/>
              <a:t>실행 명령</a:t>
            </a:r>
            <a:r>
              <a:rPr lang="en-US" altLang="ko-KR" dirty="0"/>
              <a:t> path </a:t>
            </a:r>
            <a:r>
              <a:rPr lang="ko-KR" altLang="ko-KR" dirty="0"/>
              <a:t>설정</a:t>
            </a:r>
            <a:endParaRPr lang="ko-KR" altLang="ko-KR" sz="1100" dirty="0"/>
          </a:p>
          <a:p>
            <a:pPr lvl="2" latinLnBrk="0"/>
            <a:r>
              <a:rPr lang="ko-KR" altLang="ko-KR" dirty="0"/>
              <a:t>라이센스 위치 정의</a:t>
            </a:r>
            <a:endParaRPr lang="en-US" altLang="ko-KR" dirty="0"/>
          </a:p>
          <a:p>
            <a:pPr lvl="0" latinLnBrk="0"/>
            <a:endParaRPr lang="en-US" altLang="ko-KR" dirty="0"/>
          </a:p>
          <a:p>
            <a:pPr lvl="2" latinLnBrk="0"/>
            <a:endParaRPr lang="ko-KR" altLang="ko-KR" sz="1100" dirty="0"/>
          </a:p>
          <a:p>
            <a:pPr lvl="1" latinLnBrk="0"/>
            <a:endParaRPr lang="ko-KR" altLang="ko-KR" sz="12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7C985C6-1021-4021-9EDA-D6D2A51B6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650632"/>
              </p:ext>
            </p:extLst>
          </p:nvPr>
        </p:nvGraphicFramePr>
        <p:xfrm>
          <a:off x="1395883" y="3865969"/>
          <a:ext cx="7519351" cy="2496069"/>
        </p:xfrm>
        <a:graphic>
          <a:graphicData uri="http://schemas.openxmlformats.org/drawingml/2006/table">
            <a:tbl>
              <a:tblPr/>
              <a:tblGrid>
                <a:gridCol w="7519351">
                  <a:extLst>
                    <a:ext uri="{9D8B030D-6E8A-4147-A177-3AD203B41FA5}">
                      <a16:colId xmlns:a16="http://schemas.microsoft.com/office/drawing/2014/main" val="1544801929"/>
                    </a:ext>
                  </a:extLst>
                </a:gridCol>
              </a:tblGrid>
              <a:tr h="2496069"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툴이 설치되어 있는 위치를 절대 경로로 정의 </a:t>
                      </a: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CONFRML_ROOT = /opt/tools/cadence/CONFRML221</a:t>
                      </a:r>
                    </a:p>
                    <a:p>
                      <a:pPr fontAlgn="base" latinLnBrk="1"/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툴의 실행 명령을 리눅스의 어느 위치에서 실행 가능하도록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path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설정</a:t>
                      </a: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path = /opt/tools/cadence/CONFRML221/bin </a:t>
                      </a:r>
                    </a:p>
                    <a:p>
                      <a:pPr fontAlgn="base" latinLnBrk="1"/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 라이센스의 위치 정의 </a:t>
                      </a: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CDS_LIC_FILE =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27000@111.111.111.111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26247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360469E-844C-4993-86EB-3947A83F1588}"/>
              </a:ext>
            </a:extLst>
          </p:cNvPr>
          <p:cNvSpPr/>
          <p:nvPr/>
        </p:nvSpPr>
        <p:spPr>
          <a:xfrm>
            <a:off x="7218350" y="3484982"/>
            <a:ext cx="3059858" cy="3809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#0. </a:t>
            </a:r>
            <a:r>
              <a:rPr lang="ko-KR" altLang="en-US" dirty="0">
                <a:solidFill>
                  <a:schemeClr val="tx1"/>
                </a:solidFill>
              </a:rPr>
              <a:t>기본내용</a:t>
            </a:r>
            <a:r>
              <a:rPr lang="en-US" altLang="ko-KR" dirty="0">
                <a:solidFill>
                  <a:schemeClr val="tx1"/>
                </a:solidFill>
              </a:rPr>
              <a:t>(csh </a:t>
            </a:r>
            <a:r>
              <a:rPr lang="ko-KR" altLang="en-US" dirty="0">
                <a:solidFill>
                  <a:schemeClr val="tx1"/>
                </a:solidFill>
              </a:rPr>
              <a:t>스타일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82545"/>
      </p:ext>
    </p:extLst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환경 변수 설정 시 주의사항</a:t>
            </a:r>
            <a:endParaRPr lang="ko-KR" altLang="ko-KR" sz="1400" dirty="0"/>
          </a:p>
          <a:p>
            <a:pPr lvl="1" latinLnBrk="0"/>
            <a:r>
              <a:rPr lang="ko-KR" altLang="ko-KR" dirty="0"/>
              <a:t>대</a:t>
            </a:r>
            <a:r>
              <a:rPr lang="en-US" altLang="ko-KR" dirty="0"/>
              <a:t>/</a:t>
            </a:r>
            <a:r>
              <a:rPr lang="ko-KR" altLang="ko-KR" dirty="0"/>
              <a:t>소문자 구분 필수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오타 없이 정확하게 입력</a:t>
            </a:r>
            <a:endParaRPr lang="ko-KR" altLang="ko-KR" sz="1200" dirty="0"/>
          </a:p>
          <a:p>
            <a:pPr lvl="1" latinLnBrk="0"/>
            <a:r>
              <a:rPr lang="ko-KR" altLang="ko-KR" dirty="0"/>
              <a:t>경로 반복 시 변수 재사용 가능</a:t>
            </a:r>
            <a:r>
              <a:rPr lang="en-US" altLang="ko-KR" dirty="0"/>
              <a:t>: path = ${CONFRML_ROOT}/bin</a:t>
            </a:r>
          </a:p>
          <a:p>
            <a:pPr lvl="1" latinLnBrk="0"/>
            <a:endParaRPr lang="ko-KR" altLang="ko-KR" sz="1200" dirty="0"/>
          </a:p>
          <a:p>
            <a:pPr lvl="0" latinLnBrk="0"/>
            <a:r>
              <a:rPr lang="ko-KR" altLang="ko-KR" dirty="0"/>
              <a:t>케이던스 툴 필수 환경 변수</a:t>
            </a:r>
            <a:endParaRPr lang="ko-KR" altLang="ko-KR" sz="1400" dirty="0"/>
          </a:p>
          <a:p>
            <a:pPr lvl="1" latinLnBrk="0"/>
            <a:r>
              <a:rPr lang="en-US" altLang="ko-KR" dirty="0"/>
              <a:t>CDS_LIC_FILE: </a:t>
            </a:r>
            <a:r>
              <a:rPr lang="ko-KR" altLang="ko-KR" dirty="0"/>
              <a:t>라이센스 데몬 서버</a:t>
            </a:r>
            <a:r>
              <a:rPr lang="en-US" altLang="ko-KR" dirty="0"/>
              <a:t> IP</a:t>
            </a:r>
            <a:r>
              <a:rPr lang="ko-KR" altLang="ko-KR" dirty="0"/>
              <a:t>와 포트 지정</a:t>
            </a:r>
            <a:endParaRPr lang="ko-KR" altLang="ko-KR" sz="1200" dirty="0"/>
          </a:p>
          <a:p>
            <a:pPr lvl="1" latinLnBrk="0"/>
            <a:r>
              <a:rPr lang="ko-KR" altLang="ko-KR" dirty="0"/>
              <a:t>여러 툴 공통 환경변수</a:t>
            </a:r>
            <a:r>
              <a:rPr lang="en-US" altLang="ko-KR" dirty="0"/>
              <a:t>: LM_LICENSE_FILE(</a:t>
            </a:r>
            <a:r>
              <a:rPr lang="ko-KR" altLang="ko-KR" dirty="0"/>
              <a:t>선택적 사용</a:t>
            </a:r>
            <a:r>
              <a:rPr lang="en-US" altLang="ko-KR" dirty="0"/>
              <a:t>)</a:t>
            </a:r>
            <a:endParaRPr lang="ko-KR" altLang="ko-KR" sz="1200" dirty="0"/>
          </a:p>
          <a:p>
            <a:pPr lvl="2" latinLnBrk="0"/>
            <a:endParaRPr lang="ko-KR" altLang="ko-KR" sz="1100" dirty="0"/>
          </a:p>
          <a:p>
            <a:pPr lvl="1" latinLnBrk="0"/>
            <a:endParaRPr lang="ko-KR" altLang="ko-KR" sz="12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D9E4498-48B8-4560-8ADC-D7E69769B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787732"/>
              </p:ext>
            </p:extLst>
          </p:nvPr>
        </p:nvGraphicFramePr>
        <p:xfrm>
          <a:off x="1395883" y="4191284"/>
          <a:ext cx="7519351" cy="2496069"/>
        </p:xfrm>
        <a:graphic>
          <a:graphicData uri="http://schemas.openxmlformats.org/drawingml/2006/table">
            <a:tbl>
              <a:tblPr/>
              <a:tblGrid>
                <a:gridCol w="7519351">
                  <a:extLst>
                    <a:ext uri="{9D8B030D-6E8A-4147-A177-3AD203B41FA5}">
                      <a16:colId xmlns:a16="http://schemas.microsoft.com/office/drawing/2014/main" val="1544801929"/>
                    </a:ext>
                  </a:extLst>
                </a:gridCol>
              </a:tblGrid>
              <a:tr h="2496069"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툴이 설치되어 있는 위치를 절대 경로로 정의 </a:t>
                      </a: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CONFRML_ROOT = /opt/tools/cadence/CONFRML221</a:t>
                      </a:r>
                    </a:p>
                    <a:p>
                      <a:pPr fontAlgn="base" latinLnBrk="1"/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툴의 실행 명령을 리눅스의 어느 위치에서 실행 가능하도록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path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path =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${CONFRML_ROOT}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/bin </a:t>
                      </a:r>
                    </a:p>
                    <a:p>
                      <a:pPr fontAlgn="base" latinLnBrk="1"/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 라이센스의 위치 정의 </a:t>
                      </a: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CDS_LIC_FILE =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27000@111.111.111.111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26247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F012508-C408-4DF5-9E86-2A7E7E30FF28}"/>
              </a:ext>
            </a:extLst>
          </p:cNvPr>
          <p:cNvSpPr/>
          <p:nvPr/>
        </p:nvSpPr>
        <p:spPr>
          <a:xfrm>
            <a:off x="9014031" y="3636650"/>
            <a:ext cx="2794038" cy="3809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#1. </a:t>
            </a:r>
            <a:r>
              <a:rPr lang="ko-KR" altLang="en-US" dirty="0">
                <a:solidFill>
                  <a:schemeClr val="tx1"/>
                </a:solidFill>
              </a:rPr>
              <a:t>개선내용</a:t>
            </a:r>
            <a:r>
              <a:rPr lang="en-US" altLang="ko-KR" dirty="0">
                <a:solidFill>
                  <a:schemeClr val="tx1"/>
                </a:solidFill>
              </a:rPr>
              <a:t> (csh </a:t>
            </a:r>
            <a:r>
              <a:rPr lang="ko-KR" altLang="en-US" dirty="0">
                <a:solidFill>
                  <a:schemeClr val="tx1"/>
                </a:solidFill>
              </a:rPr>
              <a:t>스타일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14A58B-76B5-4D6B-B97C-5C45D931A050}"/>
              </a:ext>
            </a:extLst>
          </p:cNvPr>
          <p:cNvSpPr/>
          <p:nvPr/>
        </p:nvSpPr>
        <p:spPr>
          <a:xfrm>
            <a:off x="9014030" y="4017637"/>
            <a:ext cx="3031431" cy="6071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경로 반복시 변수 재사용</a:t>
            </a:r>
          </a:p>
        </p:txBody>
      </p:sp>
    </p:spTree>
    <p:extLst>
      <p:ext uri="{BB962C8B-B14F-4D97-AF65-F5344CB8AC3E}">
        <p14:creationId xmlns:p14="http://schemas.microsoft.com/office/powerpoint/2010/main" val="2153964799"/>
      </p:ext>
    </p:extLst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atinLnBrk="0"/>
            <a:r>
              <a:rPr lang="ko-KR" altLang="en-US" dirty="0"/>
              <a:t>실제 예 </a:t>
            </a:r>
            <a:endParaRPr lang="en-US" altLang="ko-KR" dirty="0"/>
          </a:p>
          <a:p>
            <a:pPr lvl="1" latinLnBrk="0"/>
            <a:r>
              <a:rPr lang="ko-KR" altLang="en-US" dirty="0"/>
              <a:t>공통적인 경로를 재사용 및</a:t>
            </a:r>
            <a:endParaRPr lang="en-US" altLang="ko-KR" dirty="0"/>
          </a:p>
          <a:p>
            <a:pPr lvl="1" latinLnBrk="0"/>
            <a:r>
              <a:rPr lang="ko-KR" altLang="en-US" dirty="0"/>
              <a:t>기존의 </a:t>
            </a:r>
            <a:r>
              <a:rPr lang="en-US" altLang="ko-KR" dirty="0"/>
              <a:t>path</a:t>
            </a:r>
            <a:r>
              <a:rPr lang="ko-KR" altLang="en-US" dirty="0"/>
              <a:t>에 툴의 </a:t>
            </a:r>
            <a:r>
              <a:rPr lang="en-US" altLang="ko-KR" dirty="0"/>
              <a:t>bin</a:t>
            </a:r>
            <a:r>
              <a:rPr lang="ko-KR" altLang="en-US" dirty="0"/>
              <a:t>폴더 위치를 추가 </a:t>
            </a:r>
            <a:endParaRPr lang="en-US" altLang="ko-KR" dirty="0"/>
          </a:p>
          <a:p>
            <a:pPr lvl="1" latinLnBrk="0"/>
            <a:endParaRPr lang="en-US" altLang="ko-KR" dirty="0"/>
          </a:p>
          <a:p>
            <a:pPr lvl="1" latinLnBrk="0"/>
            <a:endParaRPr lang="en-US" altLang="ko-KR" dirty="0"/>
          </a:p>
          <a:p>
            <a:pPr lvl="1" latinLnBrk="0"/>
            <a:endParaRPr lang="en-US" altLang="ko-KR" dirty="0"/>
          </a:p>
          <a:p>
            <a:pPr lvl="1" latinLnBrk="0"/>
            <a:endParaRPr lang="en-US" altLang="ko-KR" dirty="0"/>
          </a:p>
          <a:p>
            <a:pPr lvl="1" latinLnBrk="0"/>
            <a:endParaRPr lang="en-US" altLang="ko-KR" dirty="0"/>
          </a:p>
          <a:p>
            <a:pPr lvl="1" latinLnBrk="0"/>
            <a:endParaRPr lang="en-US" altLang="ko-KR" dirty="0"/>
          </a:p>
          <a:p>
            <a:pPr lvl="0" latinLnBrk="0"/>
            <a:r>
              <a:rPr lang="ko-KR" altLang="ko-KR" dirty="0"/>
              <a:t>환경 변수 파일 적용 방법</a:t>
            </a:r>
            <a:r>
              <a:rPr lang="en-US" altLang="ko-KR" dirty="0"/>
              <a:t>: </a:t>
            </a:r>
            <a:endParaRPr lang="ko-KR" altLang="ko-KR" sz="1400" dirty="0"/>
          </a:p>
          <a:p>
            <a:pPr lvl="1" latinLnBrk="0"/>
            <a:r>
              <a:rPr lang="ko-KR" altLang="ko-KR" dirty="0"/>
              <a:t>작성한 파일</a:t>
            </a:r>
            <a:r>
              <a:rPr lang="en-US" altLang="ko-KR" dirty="0"/>
              <a:t>(</a:t>
            </a:r>
            <a:r>
              <a:rPr lang="ko-KR" altLang="ko-KR" dirty="0"/>
              <a:t>예</a:t>
            </a:r>
            <a:r>
              <a:rPr lang="en-US" altLang="ko-KR" dirty="0"/>
              <a:t>: digital.cshrc)</a:t>
            </a:r>
            <a:r>
              <a:rPr lang="ko-KR" altLang="ko-KR" dirty="0"/>
              <a:t>을</a:t>
            </a:r>
            <a:r>
              <a:rPr lang="en-US" altLang="ko-KR" dirty="0"/>
              <a:t> source </a:t>
            </a:r>
            <a:r>
              <a:rPr lang="ko-KR" altLang="ko-KR" dirty="0"/>
              <a:t>명령으로 적용</a:t>
            </a:r>
            <a:endParaRPr lang="ko-KR" altLang="ko-KR" sz="1200" dirty="0"/>
          </a:p>
          <a:p>
            <a:pPr marL="457200" lvl="1" indent="0" latinLnBrk="0">
              <a:buNone/>
            </a:pPr>
            <a:r>
              <a:rPr lang="en-US" altLang="ko-KR" dirty="0"/>
              <a:t>   </a:t>
            </a:r>
            <a:r>
              <a:rPr lang="en-US" altLang="ko-KR" dirty="0">
                <a:solidFill>
                  <a:srgbClr val="FF0000"/>
                </a:solidFill>
              </a:rPr>
              <a:t>$&gt;source digital.cshrc</a:t>
            </a:r>
            <a:endParaRPr lang="ko-KR" altLang="ko-KR" sz="1200" dirty="0">
              <a:solidFill>
                <a:srgbClr val="FF0000"/>
              </a:solidFill>
            </a:endParaRPr>
          </a:p>
          <a:p>
            <a:pPr lvl="1" latinLnBrk="0"/>
            <a:r>
              <a:rPr lang="ko-KR" altLang="ko-KR" dirty="0"/>
              <a:t>오류 메시지 없으면 정상 적용된 것</a:t>
            </a:r>
            <a:endParaRPr lang="ko-KR" altLang="ko-KR" sz="1200" dirty="0"/>
          </a:p>
          <a:p>
            <a:pPr latinLnBrk="0"/>
            <a:endParaRPr lang="ko-KR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D9E4498-48B8-4560-8ADC-D7E69769B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000126"/>
              </p:ext>
            </p:extLst>
          </p:nvPr>
        </p:nvGraphicFramePr>
        <p:xfrm>
          <a:off x="1395883" y="2727753"/>
          <a:ext cx="7519351" cy="1252708"/>
        </p:xfrm>
        <a:graphic>
          <a:graphicData uri="http://schemas.openxmlformats.org/drawingml/2006/table">
            <a:tbl>
              <a:tblPr/>
              <a:tblGrid>
                <a:gridCol w="7519351">
                  <a:extLst>
                    <a:ext uri="{9D8B030D-6E8A-4147-A177-3AD203B41FA5}">
                      <a16:colId xmlns:a16="http://schemas.microsoft.com/office/drawing/2014/main" val="1544801929"/>
                    </a:ext>
                  </a:extLst>
                </a:gridCol>
              </a:tblGrid>
              <a:tr h="1252708"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setenv CONFRML_ROOT {$CDS_INST_DIR}/CONFRML221</a:t>
                      </a: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path = ( $path {$CONFRML_ROOT}/bin )</a:t>
                      </a:r>
                    </a:p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setenv CDS_LIC_FILE 27000@111.111.111.111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26247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F012508-C408-4DF5-9E86-2A7E7E30FF28}"/>
              </a:ext>
            </a:extLst>
          </p:cNvPr>
          <p:cNvSpPr/>
          <p:nvPr/>
        </p:nvSpPr>
        <p:spPr>
          <a:xfrm>
            <a:off x="8540459" y="1400543"/>
            <a:ext cx="2798973" cy="3809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#2. </a:t>
            </a:r>
            <a:r>
              <a:rPr lang="ko-KR" altLang="en-US" dirty="0">
                <a:solidFill>
                  <a:schemeClr val="tx1"/>
                </a:solidFill>
              </a:rPr>
              <a:t>개선내용</a:t>
            </a:r>
            <a:r>
              <a:rPr lang="en-US" altLang="ko-KR" dirty="0">
                <a:solidFill>
                  <a:schemeClr val="tx1"/>
                </a:solidFill>
              </a:rPr>
              <a:t> (csh </a:t>
            </a:r>
            <a:r>
              <a:rPr lang="ko-KR" altLang="en-US" dirty="0">
                <a:solidFill>
                  <a:schemeClr val="tx1"/>
                </a:solidFill>
              </a:rPr>
              <a:t>스타일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14A58B-76B5-4D6B-B97C-5C45D931A050}"/>
              </a:ext>
            </a:extLst>
          </p:cNvPr>
          <p:cNvSpPr/>
          <p:nvPr/>
        </p:nvSpPr>
        <p:spPr>
          <a:xfrm>
            <a:off x="8540459" y="1781530"/>
            <a:ext cx="3031431" cy="7917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경로 반복시 변수 재사용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기존 </a:t>
            </a:r>
            <a:r>
              <a:rPr lang="en-US" altLang="ko-KR" dirty="0">
                <a:solidFill>
                  <a:schemeClr val="tx1"/>
                </a:solidFill>
              </a:rPr>
              <a:t>path</a:t>
            </a:r>
            <a:r>
              <a:rPr lang="ko-KR" altLang="en-US" dirty="0">
                <a:solidFill>
                  <a:schemeClr val="tx1"/>
                </a:solidFill>
              </a:rPr>
              <a:t>에 추가</a:t>
            </a:r>
          </a:p>
        </p:txBody>
      </p:sp>
      <p:pic>
        <p:nvPicPr>
          <p:cNvPr id="10" name="Picture 33">
            <a:extLst>
              <a:ext uri="{FF2B5EF4-FFF2-40B4-BE49-F238E27FC236}">
                <a16:creationId xmlns:a16="http://schemas.microsoft.com/office/drawing/2014/main" id="{AED689E3-85B6-427D-BA17-48F467B01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95883" y="5907371"/>
            <a:ext cx="4248779" cy="444152"/>
          </a:xfrm>
          <a:prstGeom prst="rect">
            <a:avLst/>
          </a:prstGeom>
          <a:noFill/>
          <a:ln w="254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840045252"/>
      </p:ext>
    </p:extLst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환경 변수 적용 확인 방법</a:t>
            </a:r>
            <a:r>
              <a:rPr lang="en-US" altLang="ko-KR" dirty="0"/>
              <a:t>(csh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</a:p>
          <a:p>
            <a:pPr lvl="0" latinLnBrk="0"/>
            <a:endParaRPr lang="ko-KR" altLang="ko-KR" sz="1400" dirty="0"/>
          </a:p>
          <a:p>
            <a:pPr lvl="1" latinLnBrk="0"/>
            <a:r>
              <a:rPr lang="en-US" altLang="ko-KR" dirty="0"/>
              <a:t>setenv </a:t>
            </a:r>
            <a:r>
              <a:rPr lang="ko-KR" altLang="ko-KR" dirty="0"/>
              <a:t>명령으로 현재 환경 변수 확인</a:t>
            </a:r>
            <a:endParaRPr lang="en-US" altLang="ko-KR" dirty="0"/>
          </a:p>
          <a:p>
            <a:pPr lvl="1" latinLnBrk="0"/>
            <a:endParaRPr lang="en-US" altLang="ko-KR" sz="1200" dirty="0"/>
          </a:p>
          <a:p>
            <a:pPr lvl="1" latinLnBrk="0"/>
            <a:endParaRPr lang="en-US" altLang="ko-KR" sz="1200" dirty="0"/>
          </a:p>
          <a:p>
            <a:pPr lvl="1" latinLnBrk="0"/>
            <a:endParaRPr lang="en-US" altLang="ko-KR" sz="1200" dirty="0"/>
          </a:p>
          <a:p>
            <a:pPr lvl="1" latinLnBrk="0"/>
            <a:endParaRPr lang="en-US" altLang="ko-KR" sz="1200" dirty="0"/>
          </a:p>
          <a:p>
            <a:pPr lvl="1" latinLnBrk="0"/>
            <a:endParaRPr lang="ko-KR" altLang="ko-KR" sz="1200" dirty="0"/>
          </a:p>
          <a:p>
            <a:pPr lvl="1" latinLnBrk="0"/>
            <a:r>
              <a:rPr lang="en-US" altLang="ko-KR" dirty="0"/>
              <a:t>which </a:t>
            </a:r>
            <a:r>
              <a:rPr lang="ko-KR" altLang="ko-KR" dirty="0"/>
              <a:t>툴</a:t>
            </a:r>
            <a:r>
              <a:rPr lang="en-US" altLang="ko-KR" dirty="0"/>
              <a:t> </a:t>
            </a:r>
            <a:r>
              <a:rPr lang="ko-KR" altLang="ko-KR" dirty="0"/>
              <a:t>명령어 명령으로 실행 경로 확인</a:t>
            </a:r>
            <a:endParaRPr lang="en-US" altLang="ko-KR" dirty="0"/>
          </a:p>
          <a:p>
            <a:pPr lvl="2" latinLnBrk="0"/>
            <a:r>
              <a:rPr lang="en-US" altLang="ko-KR" dirty="0"/>
              <a:t>Conformal </a:t>
            </a:r>
            <a:r>
              <a:rPr lang="ko-KR" altLang="en-US" dirty="0"/>
              <a:t>실행 명령어 </a:t>
            </a:r>
            <a:r>
              <a:rPr lang="en-US" altLang="ko-KR" dirty="0"/>
              <a:t>lec</a:t>
            </a:r>
          </a:p>
          <a:p>
            <a:pPr lvl="1" latinLnBrk="0"/>
            <a:endParaRPr lang="en-US" altLang="ko-KR" sz="1200" dirty="0"/>
          </a:p>
          <a:p>
            <a:pPr lvl="1" latinLnBrk="0"/>
            <a:endParaRPr lang="en-US" altLang="ko-KR" sz="1200" dirty="0"/>
          </a:p>
          <a:p>
            <a:pPr lvl="1" latinLnBrk="0"/>
            <a:endParaRPr lang="ko-KR" altLang="ko-KR" sz="1200" dirty="0"/>
          </a:p>
          <a:p>
            <a:endParaRPr lang="en-US" altLang="ko-KR" dirty="0"/>
          </a:p>
        </p:txBody>
      </p:sp>
      <p:pic>
        <p:nvPicPr>
          <p:cNvPr id="11" name="Picture 35">
            <a:extLst>
              <a:ext uri="{FF2B5EF4-FFF2-40B4-BE49-F238E27FC236}">
                <a16:creationId xmlns:a16="http://schemas.microsoft.com/office/drawing/2014/main" id="{98DEAC04-C608-4F94-B2D6-46D49E539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90304" y="2392841"/>
            <a:ext cx="6196896" cy="1119270"/>
          </a:xfrm>
          <a:prstGeom prst="rect">
            <a:avLst/>
          </a:prstGeom>
          <a:noFill/>
          <a:ln w="254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D947F8-5073-4E2B-8B2A-9048F65FD54F}"/>
              </a:ext>
            </a:extLst>
          </p:cNvPr>
          <p:cNvSpPr/>
          <p:nvPr/>
        </p:nvSpPr>
        <p:spPr>
          <a:xfrm>
            <a:off x="5568660" y="2011854"/>
            <a:ext cx="1696884" cy="3809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$&gt; setenv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Picture 37">
            <a:extLst>
              <a:ext uri="{FF2B5EF4-FFF2-40B4-BE49-F238E27FC236}">
                <a16:creationId xmlns:a16="http://schemas.microsoft.com/office/drawing/2014/main" id="{24E9A8FE-3033-4F92-8E6F-C1A2D8430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90304" y="4492565"/>
            <a:ext cx="3385312" cy="487299"/>
          </a:xfrm>
          <a:prstGeom prst="rect">
            <a:avLst/>
          </a:prstGeom>
          <a:noFill/>
          <a:ln w="254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3CDDB1-A98E-4C50-AAB1-9BD587B3AA87}"/>
              </a:ext>
            </a:extLst>
          </p:cNvPr>
          <p:cNvSpPr/>
          <p:nvPr/>
        </p:nvSpPr>
        <p:spPr>
          <a:xfrm>
            <a:off x="5568660" y="4107024"/>
            <a:ext cx="1696884" cy="3809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$&gt; which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lec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023047"/>
      </p:ext>
    </p:extLst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환경 변수 적용 확인 방법</a:t>
            </a:r>
            <a:r>
              <a:rPr lang="en-US" altLang="ko-KR" dirty="0"/>
              <a:t>(csh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</a:p>
          <a:p>
            <a:pPr lvl="0" latinLnBrk="0"/>
            <a:endParaRPr lang="ko-KR" altLang="ko-KR" sz="1400" dirty="0"/>
          </a:p>
          <a:p>
            <a:pPr lvl="1"/>
            <a:r>
              <a:rPr lang="ko-KR" altLang="ko-KR" dirty="0"/>
              <a:t>실제 툴 실행하여 정상 구동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3CDDB1-A98E-4C50-AAB1-9BD587B3AA87}"/>
              </a:ext>
            </a:extLst>
          </p:cNvPr>
          <p:cNvSpPr/>
          <p:nvPr/>
        </p:nvSpPr>
        <p:spPr>
          <a:xfrm>
            <a:off x="5902785" y="2293137"/>
            <a:ext cx="1696884" cy="3809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$&gt; lec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9" name="Picture 38">
            <a:extLst>
              <a:ext uri="{FF2B5EF4-FFF2-40B4-BE49-F238E27FC236}">
                <a16:creationId xmlns:a16="http://schemas.microsoft.com/office/drawing/2014/main" id="{B6C47C20-7211-40C7-8198-A23A0E537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5939" y="2759481"/>
            <a:ext cx="6350576" cy="4071723"/>
          </a:xfrm>
          <a:prstGeom prst="rect">
            <a:avLst/>
          </a:prstGeom>
          <a:noFill/>
          <a:ln w="3556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204374384"/>
      </p:ext>
    </p:extLst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7" name="말풍선: 타원형 6">
            <a:extLst>
              <a:ext uri="{FF2B5EF4-FFF2-40B4-BE49-F238E27FC236}">
                <a16:creationId xmlns:a16="http://schemas.microsoft.com/office/drawing/2014/main" id="{5D15641E-686F-4FB6-868D-71BBBB7923D0}"/>
              </a:ext>
            </a:extLst>
          </p:cNvPr>
          <p:cNvSpPr/>
          <p:nvPr/>
        </p:nvSpPr>
        <p:spPr>
          <a:xfrm>
            <a:off x="852567" y="2639072"/>
            <a:ext cx="2852851" cy="1546066"/>
          </a:xfrm>
          <a:prstGeom prst="wedgeEllipseCallout">
            <a:avLst>
              <a:gd name="adj1" fmla="val -22881"/>
              <a:gd name="adj2" fmla="val -6916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툴 실행에 문제가 </a:t>
            </a:r>
            <a:endParaRPr lang="en-US" altLang="ko-KR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있으면 어떻게 </a:t>
            </a:r>
            <a:endParaRPr lang="en-US" altLang="ko-KR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해결해야 할까</a:t>
            </a:r>
            <a:r>
              <a:rPr lang="en-US" altLang="ko-KR" dirty="0">
                <a:solidFill>
                  <a:schemeClr val="tx1"/>
                </a:solidFill>
              </a:rPr>
              <a:t>? 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E4D1018-2E49-4508-B128-E76C5D8380A9}"/>
              </a:ext>
            </a:extLst>
          </p:cNvPr>
          <p:cNvSpPr txBox="1">
            <a:spLocks/>
          </p:cNvSpPr>
          <p:nvPr/>
        </p:nvSpPr>
        <p:spPr>
          <a:xfrm>
            <a:off x="620110" y="1587655"/>
            <a:ext cx="2984736" cy="6543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b="1" i="1" dirty="0">
                <a:solidFill>
                  <a:srgbClr val="FF0000"/>
                </a:solidFill>
              </a:rPr>
              <a:t>여기서 잠깐</a:t>
            </a:r>
            <a:r>
              <a:rPr lang="en-US" altLang="ko-KR" b="1" i="1" dirty="0">
                <a:solidFill>
                  <a:srgbClr val="FF0000"/>
                </a:solidFill>
              </a:rPr>
              <a:t> !</a:t>
            </a:r>
            <a:r>
              <a:rPr lang="ko-KR" altLang="en-US" b="1" i="1" dirty="0">
                <a:solidFill>
                  <a:srgbClr val="FF0000"/>
                </a:solidFill>
              </a:rPr>
              <a:t> </a:t>
            </a:r>
            <a:endParaRPr lang="ko-KR" altLang="ko-KR" sz="1100" b="1" i="1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E38752-1189-4084-8FD7-06A6165D7905}"/>
              </a:ext>
            </a:extLst>
          </p:cNvPr>
          <p:cNvSpPr/>
          <p:nvPr/>
        </p:nvSpPr>
        <p:spPr>
          <a:xfrm>
            <a:off x="4736123" y="1914846"/>
            <a:ext cx="6096000" cy="2152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342900" lvl="0" indent="-342900" latinLnBrk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툴 실행 문제 해결 사례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 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 latinLnBrk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사례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0: path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설정 오류 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latinLnBrk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증상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: </a:t>
            </a:r>
            <a:r>
              <a:rPr lang="en-US" altLang="ko-KR" kern="0" dirty="0">
                <a:latin typeface="굴림체" panose="020B0609000101010101" pitchFamily="49" charset="-127"/>
                <a:cs typeface="굴림체" panose="020B0609000101010101" pitchFamily="49" charset="-127"/>
              </a:rPr>
              <a:t>$&gt;genus</a:t>
            </a:r>
            <a:r>
              <a:rPr lang="en-US" altLang="ko-KR" kern="0" dirty="0">
                <a:latin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실행 시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"Command not found"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메시지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latinLnBrk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해결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: path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변수 정확히 수정 후 새 터미널에서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source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명령 실행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5" name="Picture 40">
            <a:extLst>
              <a:ext uri="{FF2B5EF4-FFF2-40B4-BE49-F238E27FC236}">
                <a16:creationId xmlns:a16="http://schemas.microsoft.com/office/drawing/2014/main" id="{DDE3BC0E-2FF3-4715-BF88-E9C9A7E78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72114" y="4574342"/>
            <a:ext cx="3115068" cy="796236"/>
          </a:xfrm>
          <a:prstGeom prst="rect">
            <a:avLst/>
          </a:prstGeom>
          <a:noFill/>
          <a:ln w="254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778888473"/>
      </p:ext>
    </p:extLst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1.5.2 </a:t>
            </a:r>
            <a:r>
              <a:rPr lang="ko-KR" altLang="en-US" sz="2400" b="1" dirty="0"/>
              <a:t>기본 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과 환경 변수</a:t>
            </a:r>
          </a:p>
        </p:txBody>
      </p:sp>
      <p:sp>
        <p:nvSpPr>
          <p:cNvPr id="7" name="말풍선: 타원형 6">
            <a:extLst>
              <a:ext uri="{FF2B5EF4-FFF2-40B4-BE49-F238E27FC236}">
                <a16:creationId xmlns:a16="http://schemas.microsoft.com/office/drawing/2014/main" id="{5D15641E-686F-4FB6-868D-71BBBB7923D0}"/>
              </a:ext>
            </a:extLst>
          </p:cNvPr>
          <p:cNvSpPr/>
          <p:nvPr/>
        </p:nvSpPr>
        <p:spPr>
          <a:xfrm>
            <a:off x="852567" y="2639072"/>
            <a:ext cx="2852851" cy="1546066"/>
          </a:xfrm>
          <a:prstGeom prst="wedgeEllipseCallout">
            <a:avLst>
              <a:gd name="adj1" fmla="val -22881"/>
              <a:gd name="adj2" fmla="val -6916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툴 실행에 문제가 </a:t>
            </a:r>
            <a:endParaRPr lang="en-US" altLang="ko-KR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있으면 어떻게 </a:t>
            </a:r>
            <a:endParaRPr lang="en-US" altLang="ko-KR" dirty="0">
              <a:solidFill>
                <a:schemeClr val="tx1"/>
              </a:solidFill>
            </a:endParaRPr>
          </a:p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해결해야 할까</a:t>
            </a:r>
            <a:r>
              <a:rPr lang="en-US" altLang="ko-KR" dirty="0">
                <a:solidFill>
                  <a:schemeClr val="tx1"/>
                </a:solidFill>
              </a:rPr>
              <a:t>? 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E4D1018-2E49-4508-B128-E76C5D8380A9}"/>
              </a:ext>
            </a:extLst>
          </p:cNvPr>
          <p:cNvSpPr txBox="1">
            <a:spLocks/>
          </p:cNvSpPr>
          <p:nvPr/>
        </p:nvSpPr>
        <p:spPr>
          <a:xfrm>
            <a:off x="620110" y="1587655"/>
            <a:ext cx="2984736" cy="6543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b="1" i="1" dirty="0">
                <a:solidFill>
                  <a:srgbClr val="FF0000"/>
                </a:solidFill>
              </a:rPr>
              <a:t>여기서 잠깐</a:t>
            </a:r>
            <a:r>
              <a:rPr lang="en-US" altLang="ko-KR" b="1" i="1" dirty="0">
                <a:solidFill>
                  <a:srgbClr val="FF0000"/>
                </a:solidFill>
              </a:rPr>
              <a:t> !</a:t>
            </a:r>
            <a:r>
              <a:rPr lang="ko-KR" altLang="en-US" b="1" i="1" dirty="0">
                <a:solidFill>
                  <a:srgbClr val="FF0000"/>
                </a:solidFill>
              </a:rPr>
              <a:t> </a:t>
            </a:r>
            <a:endParaRPr lang="ko-KR" altLang="ko-KR" sz="1100" b="1" i="1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E38752-1189-4084-8FD7-06A6165D7905}"/>
              </a:ext>
            </a:extLst>
          </p:cNvPr>
          <p:cNvSpPr/>
          <p:nvPr/>
        </p:nvSpPr>
        <p:spPr>
          <a:xfrm>
            <a:off x="4736123" y="1914846"/>
            <a:ext cx="6096000" cy="22552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342900" lvl="0" indent="-342900" latinLnBrk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툴 실행 문제 해결 사례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 latinLnBrk="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사례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1: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라이센스 연결 오류 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latinLnBrk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증상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: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툴 실행 시 라이센스 관련 오류 메시지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latinLnBrk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해결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-0: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라이센스 데몬 정상 동작 확인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lvl="2" indent="-228600" latinLnBrk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해결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-1: CDS_LIC_FILE </a:t>
            </a:r>
            <a:r>
              <a:rPr lang="ko-KR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환경변수 정확히 설정 후 새 터미널에서</a:t>
            </a:r>
            <a:r>
              <a:rPr lang="en-US" altLang="ko-KR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source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6" name="Picture 42">
            <a:extLst>
              <a:ext uri="{FF2B5EF4-FFF2-40B4-BE49-F238E27FC236}">
                <a16:creationId xmlns:a16="http://schemas.microsoft.com/office/drawing/2014/main" id="{949AF754-BCC3-40F1-A7EF-6AAE54878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36123" y="4508091"/>
            <a:ext cx="7098433" cy="1399280"/>
          </a:xfrm>
          <a:prstGeom prst="rect">
            <a:avLst/>
          </a:prstGeom>
          <a:noFill/>
          <a:ln w="254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323607200"/>
      </p:ext>
    </p:extLst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1.5 </a:t>
            </a:r>
            <a:r>
              <a:rPr lang="ko-KR" altLang="en-US" dirty="0"/>
              <a:t>칩 설계 환경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en-US" altLang="ko-KR" sz="2400" b="1" dirty="0"/>
              <a:t>1.5.3 </a:t>
            </a:r>
            <a:r>
              <a:rPr lang="ko-KR" altLang="en-US" sz="2400" b="1" dirty="0"/>
              <a:t>정상적인 개발 환경 구축 및 검증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46FEC5-609C-4F00-B17C-8298EDFA1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lvl="0" latinLnBrk="0"/>
            <a:r>
              <a:rPr lang="ko-KR" altLang="ko-KR" dirty="0"/>
              <a:t>개발 환경 검증 단계</a:t>
            </a:r>
            <a:endParaRPr lang="ko-KR" altLang="ko-KR" sz="1400" dirty="0"/>
          </a:p>
          <a:p>
            <a:pPr lvl="1" latinLnBrk="0"/>
            <a:r>
              <a:rPr lang="ko-KR" altLang="ko-KR" dirty="0"/>
              <a:t>터미널에서 환경 설정 파일 적용</a:t>
            </a:r>
            <a:r>
              <a:rPr lang="en-US" altLang="ko-KR" dirty="0"/>
              <a:t>:  $&gt;source digital.cshrc</a:t>
            </a:r>
            <a:endParaRPr lang="ko-KR" altLang="ko-KR" sz="1200" dirty="0"/>
          </a:p>
          <a:p>
            <a:pPr lvl="1" latinLnBrk="0"/>
            <a:r>
              <a:rPr lang="ko-KR" altLang="ko-KR" dirty="0"/>
              <a:t>각 </a:t>
            </a:r>
            <a:r>
              <a:rPr lang="ko-KR" altLang="en-US" dirty="0"/>
              <a:t>툴 별</a:t>
            </a:r>
            <a:r>
              <a:rPr lang="ko-KR" altLang="ko-KR" dirty="0"/>
              <a:t> 실행 테스트로 환경 설정 확인</a:t>
            </a:r>
            <a:endParaRPr lang="en-US" altLang="ko-KR" dirty="0"/>
          </a:p>
          <a:p>
            <a:pPr lvl="1" latinLnBrk="0"/>
            <a:endParaRPr lang="ko-KR" altLang="ko-KR" sz="1200" dirty="0"/>
          </a:p>
          <a:p>
            <a:pPr lvl="0" latinLnBrk="0"/>
            <a:r>
              <a:rPr lang="ko-KR" altLang="ko-KR" dirty="0"/>
              <a:t>주요 툴 실행 명령어</a:t>
            </a:r>
            <a:endParaRPr lang="ko-KR" altLang="ko-KR" sz="1400" dirty="0"/>
          </a:p>
          <a:p>
            <a:pPr lvl="1" latinLnBrk="0"/>
            <a:r>
              <a:rPr lang="en-US" altLang="ko-KR" dirty="0"/>
              <a:t>Innovus: $&gt;innovus</a:t>
            </a:r>
            <a:endParaRPr lang="ko-KR" altLang="ko-KR" sz="1200" dirty="0"/>
          </a:p>
          <a:p>
            <a:pPr lvl="1" latinLnBrk="0"/>
            <a:r>
              <a:rPr lang="en-US" altLang="ko-KR" dirty="0"/>
              <a:t>Genus: $&gt;genus (</a:t>
            </a:r>
            <a:r>
              <a:rPr lang="ko-KR" altLang="ko-KR" dirty="0"/>
              <a:t>실행 후 </a:t>
            </a:r>
            <a:r>
              <a:rPr lang="en-US" altLang="ko-KR" dirty="0"/>
              <a:t>gui_show </a:t>
            </a:r>
            <a:r>
              <a:rPr lang="ko-KR" altLang="ko-KR" dirty="0"/>
              <a:t>입력</a:t>
            </a:r>
            <a:r>
              <a:rPr lang="en-US" altLang="ko-KR" dirty="0"/>
              <a:t>)</a:t>
            </a:r>
            <a:endParaRPr lang="ko-KR" altLang="ko-KR" sz="1200" dirty="0"/>
          </a:p>
          <a:p>
            <a:pPr lvl="1" latinLnBrk="0"/>
            <a:r>
              <a:rPr lang="en-US" altLang="ko-KR" dirty="0"/>
              <a:t>Xcelium: $&gt;xrun –version</a:t>
            </a:r>
          </a:p>
          <a:p>
            <a:pPr lvl="1" latinLnBrk="0"/>
            <a:endParaRPr lang="ko-KR" altLang="ko-KR" sz="1200" dirty="0"/>
          </a:p>
          <a:p>
            <a:pPr lvl="0" latinLnBrk="0"/>
            <a:r>
              <a:rPr lang="ko-KR" altLang="ko-KR" dirty="0"/>
              <a:t>실행 성공 시 환경 설정 완료</a:t>
            </a:r>
            <a:endParaRPr lang="ko-KR" altLang="ko-KR" sz="1400" dirty="0"/>
          </a:p>
          <a:p>
            <a:pPr lvl="1" latinLnBrk="0"/>
            <a:r>
              <a:rPr lang="ko-KR" altLang="ko-KR" dirty="0"/>
              <a:t>각 툴이 오류 없이 실행되면 정상적인 환경 구축 완료</a:t>
            </a:r>
            <a:endParaRPr lang="ko-KR" altLang="ko-KR" sz="1200" dirty="0"/>
          </a:p>
          <a:p>
            <a:pPr lvl="1" latinLnBrk="0"/>
            <a:r>
              <a:rPr lang="ko-KR" altLang="ko-KR" dirty="0"/>
              <a:t>문제 발생 시 오류 메시지 확인하여 해당 환경변수 점검</a:t>
            </a:r>
            <a:endParaRPr lang="ko-KR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42472853"/>
      </p:ext>
    </p:extLst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장 반도체 설계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요점 정리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63526E-D487-497C-880E-0FC0F1E6F01D}"/>
              </a:ext>
            </a:extLst>
          </p:cNvPr>
          <p:cNvSpPr/>
          <p:nvPr/>
        </p:nvSpPr>
        <p:spPr>
          <a:xfrm>
            <a:off x="1087315" y="1755815"/>
            <a:ext cx="10536116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/>
              <a:t>1. </a:t>
            </a:r>
            <a:r>
              <a:rPr lang="ko-KR" altLang="en-US" b="1" dirty="0"/>
              <a:t>반도체 설계</a:t>
            </a:r>
            <a:r>
              <a:rPr lang="ko-KR" altLang="en-US" dirty="0"/>
              <a:t>는 크게 </a:t>
            </a:r>
            <a:r>
              <a:rPr lang="en-US" altLang="ko-KR" b="1" dirty="0"/>
              <a:t>Full Custom, Cell based, Mixed</a:t>
            </a:r>
            <a:r>
              <a:rPr lang="ko-KR" altLang="en-US" dirty="0"/>
              <a:t> 세 가지 방식으로 구분된다</a:t>
            </a:r>
            <a:r>
              <a:rPr lang="en-US" altLang="ko-KR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2. </a:t>
            </a:r>
            <a:r>
              <a:rPr lang="en-US" altLang="ko-KR" b="1" dirty="0"/>
              <a:t>Full Custom </a:t>
            </a:r>
            <a:r>
              <a:rPr lang="ko-KR" altLang="en-US" b="1" dirty="0"/>
              <a:t>디자인</a:t>
            </a:r>
            <a:r>
              <a:rPr lang="ko-KR" altLang="en-US" dirty="0"/>
              <a:t>은 설계자가 </a:t>
            </a:r>
            <a:r>
              <a:rPr lang="ko-KR" altLang="en-US" dirty="0" err="1"/>
              <a:t>스키매틱과</a:t>
            </a:r>
            <a:r>
              <a:rPr lang="ko-KR" altLang="en-US" dirty="0"/>
              <a:t> 레이아웃 작업을 </a:t>
            </a:r>
            <a:r>
              <a:rPr lang="en-US" altLang="ko-KR" dirty="0"/>
              <a:t>100% </a:t>
            </a:r>
            <a:r>
              <a:rPr lang="ko-KR" altLang="en-US" dirty="0"/>
              <a:t>직접 진행하는 방식이다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3. </a:t>
            </a:r>
            <a:r>
              <a:rPr lang="en-US" altLang="ko-KR" b="1" dirty="0"/>
              <a:t>Cell Based </a:t>
            </a:r>
            <a:r>
              <a:rPr lang="ko-KR" altLang="en-US" b="1" dirty="0"/>
              <a:t>디자인</a:t>
            </a:r>
            <a:r>
              <a:rPr lang="ko-KR" altLang="en-US" dirty="0"/>
              <a:t>은 미리 만들어진 셀을 이용하여 디자인하는 방식이다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4. Cell Based </a:t>
            </a:r>
            <a:r>
              <a:rPr lang="ko-KR" altLang="en-US" dirty="0"/>
              <a:t>디자인은 </a:t>
            </a:r>
            <a:r>
              <a:rPr lang="en-US" altLang="ko-KR" b="1" dirty="0"/>
              <a:t>HDL(Hardware Description Language) </a:t>
            </a:r>
            <a:r>
              <a:rPr lang="ko-KR" altLang="en-US" b="1" dirty="0"/>
              <a:t>언어</a:t>
            </a:r>
            <a:r>
              <a:rPr lang="ko-KR" altLang="en-US" dirty="0"/>
              <a:t>를 사용하여 회로를 기술한다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5. </a:t>
            </a:r>
            <a:r>
              <a:rPr lang="en-US" altLang="ko-KR" b="1" dirty="0"/>
              <a:t>Mixed </a:t>
            </a:r>
            <a:r>
              <a:rPr lang="ko-KR" altLang="en-US" b="1" dirty="0"/>
              <a:t>디자인</a:t>
            </a:r>
            <a:r>
              <a:rPr lang="ko-KR" altLang="en-US" dirty="0"/>
              <a:t>은 하나의 칩 안에 </a:t>
            </a:r>
            <a:r>
              <a:rPr lang="en-US" altLang="ko-KR" dirty="0"/>
              <a:t>Full Custom</a:t>
            </a:r>
            <a:r>
              <a:rPr lang="ko-KR" altLang="en-US" dirty="0"/>
              <a:t>과 </a:t>
            </a:r>
            <a:r>
              <a:rPr lang="en-US" altLang="ko-KR" dirty="0"/>
              <a:t>Cell Based </a:t>
            </a:r>
            <a:r>
              <a:rPr lang="ko-KR" altLang="en-US" dirty="0"/>
              <a:t>디자인을 모두 구현하는 형태이다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6. </a:t>
            </a:r>
            <a:r>
              <a:rPr lang="ko-KR" altLang="en-US" b="1" dirty="0"/>
              <a:t>아날로그 설계</a:t>
            </a:r>
            <a:r>
              <a:rPr lang="ko-KR" altLang="en-US" dirty="0"/>
              <a:t>는 </a:t>
            </a:r>
            <a:r>
              <a:rPr lang="en-US" altLang="ko-KR" dirty="0"/>
              <a:t>Front-End(</a:t>
            </a:r>
            <a:r>
              <a:rPr lang="ko-KR" altLang="en-US" dirty="0" err="1"/>
              <a:t>스키매틱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Back-End(</a:t>
            </a:r>
            <a:r>
              <a:rPr lang="ko-KR" altLang="en-US" dirty="0"/>
              <a:t>레이아웃</a:t>
            </a:r>
            <a:r>
              <a:rPr lang="en-US" altLang="ko-KR" dirty="0"/>
              <a:t>) </a:t>
            </a:r>
            <a:r>
              <a:rPr lang="ko-KR" altLang="en-US" dirty="0"/>
              <a:t>단계로 나뉜다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7. </a:t>
            </a:r>
            <a:r>
              <a:rPr lang="ko-KR" altLang="en-US" b="1" dirty="0"/>
              <a:t>디지털 설계</a:t>
            </a:r>
            <a:r>
              <a:rPr lang="ko-KR" altLang="en-US" dirty="0"/>
              <a:t>는 </a:t>
            </a:r>
            <a:r>
              <a:rPr lang="en-US" altLang="ko-KR" dirty="0"/>
              <a:t>Front-End(HDL </a:t>
            </a:r>
            <a:r>
              <a:rPr lang="ko-KR" altLang="en-US" dirty="0"/>
              <a:t>코딩</a:t>
            </a:r>
            <a:r>
              <a:rPr lang="en-US" altLang="ko-KR" dirty="0"/>
              <a:t>, </a:t>
            </a:r>
            <a:r>
              <a:rPr lang="ko-KR" altLang="en-US" dirty="0"/>
              <a:t>합성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Back-End(</a:t>
            </a:r>
            <a:r>
              <a:rPr lang="ko-KR" altLang="en-US" dirty="0"/>
              <a:t>자동 배치배선</a:t>
            </a:r>
            <a:r>
              <a:rPr lang="en-US" altLang="ko-KR" dirty="0"/>
              <a:t>) </a:t>
            </a:r>
            <a:r>
              <a:rPr lang="ko-KR" altLang="en-US" dirty="0"/>
              <a:t>단계로 나뉜다</a:t>
            </a:r>
            <a:r>
              <a:rPr lang="en-US" altLang="ko-KR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8. </a:t>
            </a:r>
            <a:r>
              <a:rPr lang="en-US" altLang="ko-KR" b="1" dirty="0"/>
              <a:t>EDA(Electrical Design Automation) </a:t>
            </a:r>
            <a:r>
              <a:rPr lang="ko-KR" altLang="en-US" b="1" dirty="0"/>
              <a:t>툴</a:t>
            </a:r>
            <a:r>
              <a:rPr lang="ko-KR" altLang="en-US" dirty="0"/>
              <a:t>은 반도체 설계 전 과정을 자동화하거나 보조한다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9. </a:t>
            </a:r>
            <a:r>
              <a:rPr lang="en-US" altLang="ko-KR" b="1" dirty="0" err="1"/>
              <a:t>Xcelium</a:t>
            </a:r>
            <a:r>
              <a:rPr lang="en-US" altLang="ko-KR" b="1" dirty="0"/>
              <a:t> </a:t>
            </a:r>
            <a:r>
              <a:rPr lang="ko-KR" altLang="en-US" b="1" dirty="0"/>
              <a:t>툴</a:t>
            </a:r>
            <a:r>
              <a:rPr lang="ko-KR" altLang="en-US" dirty="0"/>
              <a:t>은 </a:t>
            </a:r>
            <a:r>
              <a:rPr lang="en-US" altLang="ko-KR" dirty="0"/>
              <a:t>Function, Pre-Layout, Post-Layout </a:t>
            </a:r>
            <a:r>
              <a:rPr lang="ko-KR" altLang="en-US" b="1" dirty="0"/>
              <a:t>시뮬레이션</a:t>
            </a:r>
            <a:r>
              <a:rPr lang="ko-KR" altLang="en-US" dirty="0"/>
              <a:t>에 사용된다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10. </a:t>
            </a:r>
            <a:r>
              <a:rPr lang="en-US" altLang="ko-KR" b="1" dirty="0"/>
              <a:t>Genus </a:t>
            </a:r>
            <a:r>
              <a:rPr lang="ko-KR" altLang="en-US" b="1" dirty="0"/>
              <a:t>툴</a:t>
            </a:r>
            <a:r>
              <a:rPr lang="ko-KR" altLang="en-US" dirty="0"/>
              <a:t>은 </a:t>
            </a:r>
            <a:r>
              <a:rPr lang="en-US" altLang="ko-KR" dirty="0"/>
              <a:t>HDL </a:t>
            </a:r>
            <a:r>
              <a:rPr lang="ko-KR" altLang="en-US" dirty="0"/>
              <a:t>소스 코드를 게이트</a:t>
            </a:r>
            <a:r>
              <a:rPr lang="en-US" altLang="ko-KR" dirty="0"/>
              <a:t>-</a:t>
            </a:r>
            <a:r>
              <a:rPr lang="ko-KR" altLang="en-US" dirty="0"/>
              <a:t>레벨로 합성</a:t>
            </a:r>
            <a:r>
              <a:rPr lang="en-US" altLang="ko-KR" dirty="0"/>
              <a:t>(Synthesis)</a:t>
            </a:r>
            <a:r>
              <a:rPr lang="ko-KR" altLang="en-US" dirty="0"/>
              <a:t>하는 목적을 가진다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277799"/>
      </p:ext>
    </p:extLst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장 반도체 설계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요점 정리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63526E-D487-497C-880E-0FC0F1E6F01D}"/>
              </a:ext>
            </a:extLst>
          </p:cNvPr>
          <p:cNvSpPr/>
          <p:nvPr/>
        </p:nvSpPr>
        <p:spPr>
          <a:xfrm>
            <a:off x="1087315" y="1755815"/>
            <a:ext cx="10536116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/>
              <a:t>11. </a:t>
            </a:r>
            <a:r>
              <a:rPr lang="en-US" altLang="ko-KR" b="1" dirty="0"/>
              <a:t>Conformal </a:t>
            </a:r>
            <a:r>
              <a:rPr lang="ko-KR" altLang="en-US" b="1" dirty="0"/>
              <a:t>툴</a:t>
            </a:r>
            <a:r>
              <a:rPr lang="ko-KR" altLang="en-US" dirty="0"/>
              <a:t>은 합성 전후의 </a:t>
            </a:r>
            <a:r>
              <a:rPr lang="ko-KR" altLang="en-US" b="1" dirty="0"/>
              <a:t>논리적 </a:t>
            </a:r>
            <a:r>
              <a:rPr lang="ko-KR" altLang="en-US" b="1" dirty="0" err="1"/>
              <a:t>등가성</a:t>
            </a:r>
            <a:r>
              <a:rPr lang="ko-KR" altLang="en-US" b="1" dirty="0"/>
              <a:t> 검증</a:t>
            </a:r>
            <a:r>
              <a:rPr lang="ko-KR" altLang="en-US" dirty="0"/>
              <a:t>을 수행한다</a:t>
            </a:r>
            <a:r>
              <a:rPr lang="en-US" altLang="ko-KR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12. </a:t>
            </a:r>
            <a:r>
              <a:rPr lang="en-US" altLang="ko-KR" b="1" dirty="0" err="1"/>
              <a:t>Innovus</a:t>
            </a:r>
            <a:r>
              <a:rPr lang="en-US" altLang="ko-KR" b="1" dirty="0"/>
              <a:t> </a:t>
            </a:r>
            <a:r>
              <a:rPr lang="ko-KR" altLang="en-US" b="1" dirty="0"/>
              <a:t>툴</a:t>
            </a:r>
            <a:r>
              <a:rPr lang="ko-KR" altLang="en-US" dirty="0"/>
              <a:t>은 게이트 레벨 넷리스트를 물리적인 칩 형태로 자동 배치 및 배선</a:t>
            </a:r>
            <a:r>
              <a:rPr lang="en-US" altLang="ko-KR" dirty="0"/>
              <a:t>(Auto </a:t>
            </a:r>
            <a:r>
              <a:rPr lang="en-US" altLang="ko-KR" dirty="0" err="1"/>
              <a:t>PnR</a:t>
            </a:r>
            <a:r>
              <a:rPr lang="en-US" altLang="ko-KR" dirty="0"/>
              <a:t>)</a:t>
            </a:r>
            <a:r>
              <a:rPr lang="ko-KR" altLang="en-US" dirty="0"/>
              <a:t>한다</a:t>
            </a:r>
            <a:r>
              <a:rPr lang="en-US" altLang="ko-KR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13. </a:t>
            </a:r>
            <a:r>
              <a:rPr lang="en-US" altLang="ko-KR" b="1" dirty="0"/>
              <a:t>Tempus </a:t>
            </a:r>
            <a:r>
              <a:rPr lang="ko-KR" altLang="en-US" b="1" dirty="0"/>
              <a:t>툴</a:t>
            </a:r>
            <a:r>
              <a:rPr lang="ko-KR" altLang="en-US" dirty="0"/>
              <a:t>은 </a:t>
            </a:r>
            <a:r>
              <a:rPr lang="en-US" altLang="ko-KR" dirty="0"/>
              <a:t>Pre-Layout </a:t>
            </a:r>
            <a:r>
              <a:rPr lang="ko-KR" altLang="en-US" dirty="0"/>
              <a:t>및 </a:t>
            </a:r>
            <a:r>
              <a:rPr lang="en-US" altLang="ko-KR" dirty="0"/>
              <a:t>Post-Layout </a:t>
            </a:r>
            <a:r>
              <a:rPr lang="ko-KR" altLang="en-US" b="1" dirty="0"/>
              <a:t>정적 타이밍 분석</a:t>
            </a:r>
            <a:r>
              <a:rPr lang="en-US" altLang="ko-KR" b="1" dirty="0"/>
              <a:t>(STA)</a:t>
            </a:r>
            <a:r>
              <a:rPr lang="ko-KR" altLang="en-US" dirty="0"/>
              <a:t> 및 </a:t>
            </a:r>
            <a:r>
              <a:rPr lang="en-US" altLang="ko-KR" dirty="0"/>
              <a:t>ECO</a:t>
            </a:r>
            <a:r>
              <a:rPr lang="ko-KR" altLang="en-US" dirty="0"/>
              <a:t>를 진행한다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14. </a:t>
            </a:r>
            <a:r>
              <a:rPr lang="en-US" altLang="ko-KR" b="1" dirty="0"/>
              <a:t>Virtuoso </a:t>
            </a:r>
            <a:r>
              <a:rPr lang="ko-KR" altLang="en-US" b="1" dirty="0"/>
              <a:t>툴</a:t>
            </a:r>
            <a:r>
              <a:rPr lang="ko-KR" altLang="en-US" dirty="0"/>
              <a:t>은 아날로그 설계의 </a:t>
            </a:r>
            <a:r>
              <a:rPr lang="ko-KR" altLang="en-US" dirty="0" err="1"/>
              <a:t>스키매틱</a:t>
            </a:r>
            <a:r>
              <a:rPr lang="ko-KR" altLang="en-US" dirty="0"/>
              <a:t> 및 레이아웃 작업을 수행하는 데 사용됩니다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15. </a:t>
            </a:r>
            <a:r>
              <a:rPr lang="en-US" altLang="ko-KR" b="1" dirty="0"/>
              <a:t>PDK(Process Design Kit)</a:t>
            </a:r>
            <a:r>
              <a:rPr lang="ko-KR" altLang="en-US" dirty="0"/>
              <a:t>는 공정사에서 아날로그</a:t>
            </a:r>
            <a:r>
              <a:rPr lang="en-US" altLang="ko-KR" dirty="0"/>
              <a:t>/RF </a:t>
            </a:r>
            <a:r>
              <a:rPr lang="ko-KR" altLang="en-US" dirty="0"/>
              <a:t>설계를 위해 제공하는 소자들의 묶음이다</a:t>
            </a:r>
            <a:r>
              <a:rPr lang="en-US" altLang="ko-KR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16. </a:t>
            </a:r>
            <a:r>
              <a:rPr lang="ko-KR" altLang="en-US" b="1" dirty="0"/>
              <a:t>디지털 라이브러리</a:t>
            </a:r>
            <a:r>
              <a:rPr lang="ko-KR" altLang="en-US" dirty="0"/>
              <a:t>는 </a:t>
            </a:r>
            <a:r>
              <a:rPr lang="en-US" altLang="ko-KR" dirty="0"/>
              <a:t>Standard Cell, IO Cell, Memory Cell</a:t>
            </a:r>
            <a:r>
              <a:rPr lang="ko-KR" altLang="en-US" dirty="0"/>
              <a:t>로 구성된다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17. </a:t>
            </a:r>
            <a:r>
              <a:rPr lang="ko-KR" altLang="en-US" b="1" dirty="0"/>
              <a:t>반도체 설계 환경</a:t>
            </a:r>
            <a:r>
              <a:rPr lang="ko-KR" altLang="en-US" dirty="0"/>
              <a:t>은 주로 </a:t>
            </a:r>
            <a:r>
              <a:rPr lang="ko-KR" altLang="en-US" b="1" dirty="0"/>
              <a:t>리눅스 기반의 운영체제를 사용한다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18. </a:t>
            </a:r>
            <a:r>
              <a:rPr lang="ko-KR" altLang="en-US" b="1" dirty="0"/>
              <a:t>환경 변수</a:t>
            </a:r>
            <a:r>
              <a:rPr lang="ko-KR" altLang="en-US" dirty="0"/>
              <a:t>는 운영체제에서 툴의 실행 및 동작 환경을 정의하며</a:t>
            </a:r>
            <a:r>
              <a:rPr lang="en-US" altLang="ko-KR" dirty="0"/>
              <a:t>, </a:t>
            </a:r>
            <a:r>
              <a:rPr lang="ko-KR" altLang="en-US" b="1" dirty="0"/>
              <a:t>툴 설치 위치</a:t>
            </a:r>
            <a:r>
              <a:rPr lang="en-US" altLang="ko-KR" b="1" dirty="0"/>
              <a:t>, </a:t>
            </a:r>
            <a:r>
              <a:rPr lang="ko-KR" altLang="en-US" b="1" dirty="0"/>
              <a:t>실행 경로</a:t>
            </a:r>
            <a:r>
              <a:rPr lang="en-US" altLang="ko-KR" b="1" dirty="0"/>
              <a:t>(PATH), </a:t>
            </a:r>
            <a:r>
              <a:rPr lang="ko-KR" altLang="en-US" b="1" dirty="0"/>
              <a:t>라이센스 정보 등을 포함한다</a:t>
            </a:r>
            <a:endParaRPr lang="ko-KR" altLang="en-US" dirty="0"/>
          </a:p>
          <a:p>
            <a:pPr fontAlgn="base"/>
            <a:r>
              <a:rPr lang="en-US" altLang="ko-KR" dirty="0"/>
              <a:t>19. </a:t>
            </a:r>
            <a:r>
              <a:rPr lang="ko-KR" altLang="en-US" dirty="0"/>
              <a:t>리눅스 환경에서 주로 사용되는 </a:t>
            </a:r>
            <a:r>
              <a:rPr lang="ko-KR" altLang="en-US" b="1" dirty="0"/>
              <a:t>기본 쉘은 </a:t>
            </a:r>
            <a:r>
              <a:rPr lang="en-US" altLang="ko-KR" b="1" dirty="0" err="1"/>
              <a:t>csh</a:t>
            </a:r>
            <a:r>
              <a:rPr lang="ko-KR" altLang="en-US" b="1" dirty="0"/>
              <a:t>와 </a:t>
            </a:r>
            <a:r>
              <a:rPr lang="en-US" altLang="ko-KR" b="1" dirty="0"/>
              <a:t>bash</a:t>
            </a:r>
            <a:r>
              <a:rPr lang="ko-KR" altLang="en-US" b="1" dirty="0"/>
              <a:t>이다</a:t>
            </a:r>
            <a:r>
              <a:rPr lang="en-US" altLang="ko-KR" b="1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688041"/>
      </p:ext>
    </p:extLst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장 반도체 설계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주요 용어 설명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6771A77-2C42-416B-A339-23974534F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054422"/>
              </p:ext>
            </p:extLst>
          </p:nvPr>
        </p:nvGraphicFramePr>
        <p:xfrm>
          <a:off x="780915" y="1416941"/>
          <a:ext cx="9455285" cy="4772612"/>
        </p:xfrm>
        <a:graphic>
          <a:graphicData uri="http://schemas.openxmlformats.org/drawingml/2006/table">
            <a:tbl>
              <a:tblPr/>
              <a:tblGrid>
                <a:gridCol w="1923203">
                  <a:extLst>
                    <a:ext uri="{9D8B030D-6E8A-4147-A177-3AD203B41FA5}">
                      <a16:colId xmlns:a16="http://schemas.microsoft.com/office/drawing/2014/main" val="1817031983"/>
                    </a:ext>
                  </a:extLst>
                </a:gridCol>
                <a:gridCol w="7532082">
                  <a:extLst>
                    <a:ext uri="{9D8B030D-6E8A-4147-A177-3AD203B41FA5}">
                      <a16:colId xmlns:a16="http://schemas.microsoft.com/office/drawing/2014/main" val="4085719842"/>
                    </a:ext>
                  </a:extLst>
                </a:gridCol>
              </a:tblGrid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용어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설명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18741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Schematic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회로를 도식화한 설계의 그림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456399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Layout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칩에 구현될 물리적인 배치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배선된 설계 결과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919493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Instance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특정 셀이나 소자를 불러와 사용하는 것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스키매틱과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Layout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시에 사용하고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RTL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코딩시에 셀을 불러와 사용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864625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PDK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공정사에서 제공하는 회로 설계용 키트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소자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시뮬레이션 모델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디자인 룰 등 포함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848052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HDL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하드웨어 동작을 기술하기 위한 언어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Verilog, SystemVerilog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가 대표적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300156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Standard Cell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공정사에서 제공하는 기본 셀로서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조합회로와 순차 회로를 포함하여 매우 많은 셀을 포함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962161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Cell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 신호의 인터페이스 및 정전기 보호 회로 포함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455806"/>
                  </a:ext>
                </a:extLst>
              </a:tr>
              <a:tr h="2857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SoC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다양한 기능이 하나의 칩 안에 통합된 큰 규모의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System on Chip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272665"/>
                  </a:ext>
                </a:extLst>
              </a:tr>
              <a:tr h="284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Scan Chain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칩 내부 플립플롭 연결로 결함 테스트 수행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418806"/>
                  </a:ext>
                </a:extLst>
              </a:tr>
              <a:tr h="2524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환경 변수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운영체제에서 툴의 실행 및 동작 환경을 정의하는 변수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687898"/>
                  </a:ext>
                </a:extLst>
              </a:tr>
              <a:tr h="2524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CDS_LIC_FILE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라이센스 서버 연결을 위한 환경 변수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73251"/>
                  </a:ext>
                </a:extLst>
              </a:tr>
              <a:tr h="2524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PATH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실행 가능한 프로그램의 디렉토리 경로 설정 변수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31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263249"/>
      </p:ext>
    </p:extLst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장 반도체 설계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주요 용어 설명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6771A77-2C42-416B-A339-23974534F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297152"/>
              </p:ext>
            </p:extLst>
          </p:nvPr>
        </p:nvGraphicFramePr>
        <p:xfrm>
          <a:off x="780915" y="1416942"/>
          <a:ext cx="9455285" cy="2539034"/>
        </p:xfrm>
        <a:graphic>
          <a:graphicData uri="http://schemas.openxmlformats.org/drawingml/2006/table">
            <a:tbl>
              <a:tblPr/>
              <a:tblGrid>
                <a:gridCol w="1923203">
                  <a:extLst>
                    <a:ext uri="{9D8B030D-6E8A-4147-A177-3AD203B41FA5}">
                      <a16:colId xmlns:a16="http://schemas.microsoft.com/office/drawing/2014/main" val="1817031983"/>
                    </a:ext>
                  </a:extLst>
                </a:gridCol>
                <a:gridCol w="7532082">
                  <a:extLst>
                    <a:ext uri="{9D8B030D-6E8A-4147-A177-3AD203B41FA5}">
                      <a16:colId xmlns:a16="http://schemas.microsoft.com/office/drawing/2014/main" val="4085719842"/>
                    </a:ext>
                  </a:extLst>
                </a:gridCol>
              </a:tblGrid>
              <a:tr h="2220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용어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설명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39410" marR="39410" marT="26273" marB="262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18741"/>
                  </a:ext>
                </a:extLst>
              </a:tr>
              <a:tr h="1962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Rocky Linux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CentOS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후속으로서 안정적인 리눅스 배포판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623187"/>
                  </a:ext>
                </a:extLst>
              </a:tr>
              <a:tr h="1962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ECO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타이밍 에러 등 발견 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후처리용 설계 변경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560383"/>
                  </a:ext>
                </a:extLst>
              </a:tr>
              <a:tr h="1962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STA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정적 타이밍 분석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각 경로의 지연을 수치로 계산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173039"/>
                  </a:ext>
                </a:extLst>
              </a:tr>
              <a:tr h="1962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Netlist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회로의 연결 정보를 담은 파일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합성 및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PnR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입력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54884"/>
                  </a:ext>
                </a:extLst>
              </a:tr>
              <a:tr h="1962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SPEF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기생 소자 추출 정보 파일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(RC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정보 포함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37221" marR="37221" marT="10290" marB="10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453192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GDS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5474" marR="5474" marT="5474" marB="54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칩 설계 결과의 표준 파일 포맷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제조용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5474" marR="5474" marT="5474" marB="54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4508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sdf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5474" marR="5474" marT="5474" marB="54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지연 정보 파일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(Post-layout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시뮬레이션에 사용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5474" marR="5474" marT="5474" marB="54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548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593187"/>
      </p:ext>
    </p:extLst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AD944-BBCA-4EB9-8AB6-75987CBD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 공개 여부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C6B123-9712-4B1C-9388-DAB77750C1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ARM </a:t>
            </a:r>
          </a:p>
          <a:p>
            <a:r>
              <a:rPr lang="en-US" altLang="ko-KR" dirty="0"/>
              <a:t>CADENCE GPDK045</a:t>
            </a:r>
          </a:p>
          <a:p>
            <a:r>
              <a:rPr lang="en-US" altLang="ko-KR" dirty="0"/>
              <a:t>CADENCE </a:t>
            </a:r>
            <a:r>
              <a:rPr lang="en-US" altLang="ko-KR" dirty="0" err="1"/>
              <a:t>Xcelum</a:t>
            </a:r>
            <a:endParaRPr lang="en-US" altLang="ko-KR" dirty="0"/>
          </a:p>
          <a:p>
            <a:r>
              <a:rPr lang="en-US" altLang="ko-KR" dirty="0"/>
              <a:t>CADENCE Genus</a:t>
            </a:r>
          </a:p>
          <a:p>
            <a:r>
              <a:rPr lang="en-US" altLang="ko-KR" dirty="0"/>
              <a:t>CADENCE Conformal</a:t>
            </a:r>
          </a:p>
          <a:p>
            <a:r>
              <a:rPr lang="en-US" altLang="ko-KR" dirty="0"/>
              <a:t>CADENCE Innovus</a:t>
            </a:r>
          </a:p>
          <a:p>
            <a:r>
              <a:rPr lang="en-US" altLang="ko-KR" dirty="0"/>
              <a:t>CADENCE Tempus</a:t>
            </a:r>
          </a:p>
          <a:p>
            <a:r>
              <a:rPr lang="en-US" altLang="ko-KR" dirty="0"/>
              <a:t>CADENCE Virtuoso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5F4AC4-C0F1-4948-8DA3-50B1268C6B0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본 자료의 출처 및 발췌</a:t>
            </a:r>
          </a:p>
        </p:txBody>
      </p:sp>
    </p:spTree>
    <p:extLst>
      <p:ext uri="{BB962C8B-B14F-4D97-AF65-F5344CB8AC3E}">
        <p14:creationId xmlns:p14="http://schemas.microsoft.com/office/powerpoint/2010/main" val="409042137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106103</TotalTime>
  <Words>6841</Words>
  <Application>Microsoft Office PowerPoint</Application>
  <PresentationFormat>Widescreen</PresentationFormat>
  <Paragraphs>1219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9" baseType="lpstr">
      <vt:lpstr>굴림</vt:lpstr>
      <vt:lpstr>굴림체</vt:lpstr>
      <vt:lpstr>맑은 고딕</vt:lpstr>
      <vt:lpstr>배달의민족 도현</vt:lpstr>
      <vt:lpstr>함초롬바탕</vt:lpstr>
      <vt:lpstr>휴먼명조</vt:lpstr>
      <vt:lpstr>Arial</vt:lpstr>
      <vt:lpstr>Cambria</vt:lpstr>
      <vt:lpstr>Courier New</vt:lpstr>
      <vt:lpstr>Symbol</vt:lpstr>
      <vt:lpstr>Times New Roman</vt:lpstr>
      <vt:lpstr>Wingdings</vt:lpstr>
      <vt:lpstr>Office 테마</vt:lpstr>
      <vt:lpstr>PowerPoint Presentation</vt:lpstr>
      <vt:lpstr>PowerPoint Presentation</vt:lpstr>
      <vt:lpstr>1.1 반도체 설계 소개</vt:lpstr>
      <vt:lpstr>1.1 반도체 설계 소개</vt:lpstr>
      <vt:lpstr>1.1 반도체 설계 소개</vt:lpstr>
      <vt:lpstr>1.1 반도체 설계 소개</vt:lpstr>
      <vt:lpstr>1.1 반도체 설계 소개</vt:lpstr>
      <vt:lpstr>1.1 반도체 설계 소개</vt:lpstr>
      <vt:lpstr>1.1 반도체 설계 소개</vt:lpstr>
      <vt:lpstr>1.1 반도체 설계 소개</vt:lpstr>
      <vt:lpstr>PowerPoint Presentation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1.2 반도체 설계 방법</vt:lpstr>
      <vt:lpstr>PowerPoint Presentation</vt:lpstr>
      <vt:lpstr>1.3 EDA(Electrical Design Automation) 툴 </vt:lpstr>
      <vt:lpstr>1.3 EDA(Electrical Design Automation) 툴 </vt:lpstr>
      <vt:lpstr>1.3 EDA(Electrical Design Automation) 툴 </vt:lpstr>
      <vt:lpstr>1.3 EDA(Electrical Design Automation) 툴 </vt:lpstr>
      <vt:lpstr>1.3 EDA(Electrical Design Automation) 툴 </vt:lpstr>
      <vt:lpstr>1.3 EDA(Electrical Design Automation) 툴 </vt:lpstr>
      <vt:lpstr>PowerPoint Presentation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1.4 PDK와 디지털 라이브러리</vt:lpstr>
      <vt:lpstr>PowerPoint Presentation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1.5 칩 설계 환경 소개</vt:lpstr>
      <vt:lpstr>1장 반도체 설계</vt:lpstr>
      <vt:lpstr>1장 반도체 설계</vt:lpstr>
      <vt:lpstr>1장 반도체 설계</vt:lpstr>
      <vt:lpstr>1장 반도체 설계</vt:lpstr>
      <vt:lpstr>자료 공개 여부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선혜승선혜승</dc:creator>
  <cp:lastModifiedBy> 우승안</cp:lastModifiedBy>
  <cp:revision>996</cp:revision>
  <dcterms:created xsi:type="dcterms:W3CDTF">2019-11-05T14:40:42Z</dcterms:created>
  <dcterms:modified xsi:type="dcterms:W3CDTF">2026-04-13T01:58:40Z</dcterms:modified>
</cp:coreProperties>
</file>