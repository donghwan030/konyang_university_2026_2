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401" r:id="rId2"/>
    <p:sldId id="539" r:id="rId3"/>
    <p:sldId id="1373" r:id="rId4"/>
    <p:sldId id="1398" r:id="rId5"/>
    <p:sldId id="1374" r:id="rId6"/>
    <p:sldId id="1375" r:id="rId7"/>
    <p:sldId id="1377" r:id="rId8"/>
    <p:sldId id="1378" r:id="rId9"/>
    <p:sldId id="1379" r:id="rId10"/>
    <p:sldId id="1380" r:id="rId11"/>
    <p:sldId id="1403" r:id="rId12"/>
    <p:sldId id="1370" r:id="rId13"/>
    <p:sldId id="1381" r:id="rId14"/>
    <p:sldId id="1399" r:id="rId15"/>
    <p:sldId id="1400" r:id="rId16"/>
    <p:sldId id="1382" r:id="rId17"/>
    <p:sldId id="1401" r:id="rId18"/>
    <p:sldId id="1383" r:id="rId19"/>
    <p:sldId id="1385" r:id="rId20"/>
    <p:sldId id="1402" r:id="rId21"/>
    <p:sldId id="1386" r:id="rId22"/>
    <p:sldId id="1404" r:id="rId23"/>
    <p:sldId id="1405" r:id="rId24"/>
    <p:sldId id="1406" r:id="rId25"/>
    <p:sldId id="1387" r:id="rId26"/>
    <p:sldId id="1407" r:id="rId27"/>
    <p:sldId id="1371" r:id="rId28"/>
    <p:sldId id="1388" r:id="rId29"/>
    <p:sldId id="1389" r:id="rId30"/>
    <p:sldId id="1408" r:id="rId31"/>
    <p:sldId id="1410" r:id="rId32"/>
    <p:sldId id="1411" r:id="rId33"/>
    <p:sldId id="1412" r:id="rId34"/>
    <p:sldId id="1413" r:id="rId35"/>
    <p:sldId id="1414" r:id="rId36"/>
    <p:sldId id="1415" r:id="rId37"/>
    <p:sldId id="1390" r:id="rId38"/>
    <p:sldId id="1416" r:id="rId39"/>
    <p:sldId id="1417" r:id="rId40"/>
    <p:sldId id="1418" r:id="rId41"/>
    <p:sldId id="1419" r:id="rId42"/>
    <p:sldId id="1420" r:id="rId43"/>
    <p:sldId id="1421" r:id="rId44"/>
    <p:sldId id="1391" r:id="rId45"/>
    <p:sldId id="1409" r:id="rId46"/>
    <p:sldId id="1422" r:id="rId47"/>
    <p:sldId id="1423" r:id="rId48"/>
    <p:sldId id="1424" r:id="rId49"/>
    <p:sldId id="1425" r:id="rId50"/>
    <p:sldId id="1426" r:id="rId51"/>
    <p:sldId id="1428" r:id="rId52"/>
    <p:sldId id="1372" r:id="rId53"/>
    <p:sldId id="1393" r:id="rId54"/>
    <p:sldId id="1394" r:id="rId55"/>
    <p:sldId id="1429" r:id="rId56"/>
    <p:sldId id="1430" r:id="rId57"/>
    <p:sldId id="1395" r:id="rId58"/>
    <p:sldId id="1431" r:id="rId59"/>
    <p:sldId id="1427" r:id="rId60"/>
    <p:sldId id="1432" r:id="rId61"/>
    <p:sldId id="1433" r:id="rId62"/>
    <p:sldId id="1434" r:id="rId63"/>
    <p:sldId id="1435" r:id="rId64"/>
    <p:sldId id="1436" r:id="rId65"/>
    <p:sldId id="1437" r:id="rId66"/>
    <p:sldId id="1438" r:id="rId67"/>
    <p:sldId id="1439" r:id="rId68"/>
    <p:sldId id="1440" r:id="rId69"/>
    <p:sldId id="1441" r:id="rId70"/>
    <p:sldId id="1396" r:id="rId71"/>
    <p:sldId id="1447" r:id="rId72"/>
    <p:sldId id="1448" r:id="rId73"/>
    <p:sldId id="1442" r:id="rId74"/>
    <p:sldId id="1450" r:id="rId75"/>
    <p:sldId id="1443" r:id="rId76"/>
    <p:sldId id="1444" r:id="rId77"/>
    <p:sldId id="1280" r:id="rId78"/>
    <p:sldId id="1451" r:id="rId79"/>
    <p:sldId id="1452" r:id="rId80"/>
    <p:sldId id="1453" r:id="rId81"/>
    <p:sldId id="1282" r:id="rId82"/>
    <p:sldId id="1060" r:id="rId8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dec" initials="i" lastIdx="0" clrIdx="0">
    <p:extLst>
      <p:ext uri="{19B8F6BF-5375-455C-9EA6-DF929625EA0E}">
        <p15:presenceInfo xmlns:p15="http://schemas.microsoft.com/office/powerpoint/2012/main" userId="ide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1" autoAdjust="0"/>
    <p:restoredTop sz="96198" autoAdjust="0"/>
  </p:normalViewPr>
  <p:slideViewPr>
    <p:cSldViewPr snapToGrid="0">
      <p:cViewPr varScale="1">
        <p:scale>
          <a:sx n="109" d="100"/>
          <a:sy n="109" d="100"/>
        </p:scale>
        <p:origin x="70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970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E0C60-68F6-40D9-ABDA-7B7A38D95707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2F44-88DC-4021-9448-3D18B23F4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3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718E3-399E-4EA4-8E70-A129803F9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579033-1C11-4C54-A268-C840CC7CD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75995-22CF-413D-8D22-94949B28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D5D676-A754-4FD7-8366-C80951F3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C6C24-18D2-4BA4-BDC6-03633C85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2470AE-B317-4A9D-B700-C93907E4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411" y="6296932"/>
            <a:ext cx="610589" cy="26418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3DCF1B-78CB-4B6E-8CA3-2E3ED39DC023}"/>
              </a:ext>
            </a:extLst>
          </p:cNvPr>
          <p:cNvSpPr/>
          <p:nvPr userDrawn="1"/>
        </p:nvSpPr>
        <p:spPr>
          <a:xfrm>
            <a:off x="0" y="-1"/>
            <a:ext cx="777240" cy="720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AC77B77-703B-4597-8942-528188B5FF17}"/>
              </a:ext>
            </a:extLst>
          </p:cNvPr>
          <p:cNvCxnSpPr/>
          <p:nvPr userDrawn="1"/>
        </p:nvCxnSpPr>
        <p:spPr>
          <a:xfrm>
            <a:off x="-33018" y="623777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">
            <a:extLst>
              <a:ext uri="{FF2B5EF4-FFF2-40B4-BE49-F238E27FC236}">
                <a16:creationId xmlns:a16="http://schemas.microsoft.com/office/drawing/2014/main" id="{1CBCC62A-1D62-4EEC-A20B-72A014565FC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03514" y="98253"/>
            <a:ext cx="7130143" cy="51350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B349018F-3BAA-4097-8610-0E27A90B9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85305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60758CB-CB66-4965-89B5-479F78B312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37904" y="878627"/>
            <a:ext cx="5040085" cy="466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098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33C98-CD6C-427D-8499-0D98DB87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69270A-B1CE-427E-89ED-CCC575D47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D02ED-C55E-4F9D-B994-95610719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720C3-D5E2-4FFE-8262-44CE7B3C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8513ED-5A20-4D35-AC0A-BFA7EC82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7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DAE87-39A3-4BFC-91CD-A3EECB11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E0C53-AB54-4986-8919-4E62851CF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C60186-FA97-4BEA-973A-5A6BE2289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D984D-3788-4499-9A31-E63FE0109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11C76B-1CD4-4EEF-87A6-6756E527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47B1BC-E527-4B97-8E78-AB67A829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92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17AF1-7778-40D9-8D74-FAC146B2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CC3ED-B76D-410D-B46F-63B814CF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B82E97-FDEE-44F1-AAE2-2C7BECB3D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018A-BD83-4046-858E-B609FCD43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985A4E-8F96-4514-8A6C-3D9E8EFC1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0B95CA-7B65-42F9-B8E8-EEB4860B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E450F7-5DAF-454C-B116-DFF34AAB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5C0B84-4ED3-4DB0-B7C7-D924B144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0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631B9-28C1-4FB8-92EA-5BC175CC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9222B8-1693-4C22-9FC6-5F4228D7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2E2559-E83E-43FC-8676-455910D0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A401-0BEB-4C93-8B7D-09A91AC3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50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560039-91DF-4FDD-80FF-2957A87C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886D58-B753-4FDB-BDA9-4D4BA84A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97C352-7E4D-46FE-8B15-4765890A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9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2D6BA-9A96-40C6-BC8F-87332CE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EA2D9-05AF-4E6A-8227-B73BADCF0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602B0-5226-4E04-8216-E3E74457C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690220-29D2-47E4-B4FD-32810698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D806F0-C8A2-4E36-84C1-3873B052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D1930C-544C-4AE9-91E2-33A00BBB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92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AE082-E8E8-4705-BBF5-CBC4F366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DC365F-8B34-4C5A-9E0B-8F32D1F24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F8ED1F-341F-4DBC-8964-EBDDB0A26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36B4F-EBAA-4839-A899-141367757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3A25B-75A3-4D39-9D18-FD9B8B97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BF5F0D-0E1B-46B0-9FD5-6B04569A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5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DCF22-C889-4B94-AB42-0F52FE40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B2515F-7F36-42F3-A428-7AEF688FE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01696-6DBA-47D0-AF68-C1B25736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56BAC-9D13-4B8C-8437-F7A59CA0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770A9-8FA0-47F7-A95A-F2D06C72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26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F5B6AD-6AA5-411E-AF44-9D15A51D2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59E8FF-F7C6-4E78-8594-CB5304DF4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52BB50-8889-4257-BEBE-D8F1139D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70AE1C-29B6-4E41-88A1-528A36A6B36B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2D7F8-D37F-45A2-9D00-C4565E38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16242-A876-42D4-9674-495D9763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B9B22B-822F-4DF6-91C7-AFF3BE82B8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85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413237F-955C-419F-9FDB-083B434F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411" y="6315457"/>
            <a:ext cx="610589" cy="24566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F3E21F-15B6-4141-94AF-5E35DB0D2F28}"/>
              </a:ext>
            </a:extLst>
          </p:cNvPr>
          <p:cNvSpPr/>
          <p:nvPr userDrawn="1"/>
        </p:nvSpPr>
        <p:spPr>
          <a:xfrm>
            <a:off x="0" y="-1"/>
            <a:ext cx="777240" cy="720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332747A-825F-43D5-A78E-09767FED6F45}"/>
              </a:ext>
            </a:extLst>
          </p:cNvPr>
          <p:cNvCxnSpPr/>
          <p:nvPr userDrawn="1"/>
        </p:nvCxnSpPr>
        <p:spPr>
          <a:xfrm>
            <a:off x="-33018" y="623777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CED21C-41B2-41E7-9679-65FD2EE302D1}"/>
              </a:ext>
            </a:extLst>
          </p:cNvPr>
          <p:cNvSpPr/>
          <p:nvPr userDrawn="1"/>
        </p:nvSpPr>
        <p:spPr>
          <a:xfrm>
            <a:off x="694944" y="950629"/>
            <a:ext cx="72000" cy="360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9344E7E-1B09-48FB-9A04-4509C9A6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61E5AA-79B4-4DF8-9A98-4AA4498F6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4944" y="1767839"/>
            <a:ext cx="10996312" cy="440912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1E9864C-5B3F-4B6B-8550-D5D1262D6C2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040085" cy="466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53632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5A358AA7-4284-4B7D-892B-A0F8C2B4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411" y="6296932"/>
            <a:ext cx="610589" cy="26418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060262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0904158-4E78-43A3-926A-680F759A78B6}"/>
              </a:ext>
            </a:extLst>
          </p:cNvPr>
          <p:cNvSpPr/>
          <p:nvPr userDrawn="1"/>
        </p:nvSpPr>
        <p:spPr>
          <a:xfrm>
            <a:off x="0" y="6586283"/>
            <a:ext cx="12213381" cy="271717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F42948EA-1282-4FE9-8B64-4F4A80224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1411" y="6296932"/>
            <a:ext cx="610589" cy="26418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4B9B22B-822F-4DF6-91C7-AFF3BE82B86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0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npit.co.kr)/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dec.or.kr/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upport.cadence.com/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697558"/>
            <a:ext cx="12192000" cy="3040861"/>
          </a:xfrm>
          <a:prstGeom prst="rect">
            <a:avLst/>
          </a:prstGeom>
          <a:gradFill flip="none" rotWithShape="1">
            <a:gsLst>
              <a:gs pos="0">
                <a:srgbClr val="BCD2DF"/>
              </a:gs>
              <a:gs pos="100000">
                <a:srgbClr val="416585"/>
              </a:gs>
              <a:gs pos="100000">
                <a:srgbClr val="3A3838"/>
              </a:gs>
              <a:gs pos="43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64663" y="2038728"/>
            <a:ext cx="75255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디지털 반도체 설계</a:t>
            </a:r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(Digital Front-End)</a:t>
            </a:r>
          </a:p>
          <a:p>
            <a:pPr algn="r"/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Cadence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로 배우는 </a:t>
            </a:r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Arm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기반 </a:t>
            </a:r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SoC 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86E7-1D9F-4454-8A8E-71BE5FC47023}"/>
              </a:ext>
            </a:extLst>
          </p:cNvPr>
          <p:cNvSpPr txBox="1"/>
          <p:nvPr/>
        </p:nvSpPr>
        <p:spPr>
          <a:xfrm>
            <a:off x="6177083" y="3507345"/>
            <a:ext cx="5713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2</a:t>
            </a:r>
            <a:r>
              <a:rPr lang="ko-KR" altLang="en-US" sz="3600" spc="-151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장 설계용 라이브러리 점검</a:t>
            </a:r>
          </a:p>
        </p:txBody>
      </p:sp>
    </p:spTree>
    <p:extLst>
      <p:ext uri="{BB962C8B-B14F-4D97-AF65-F5344CB8AC3E}">
        <p14:creationId xmlns:p14="http://schemas.microsoft.com/office/powerpoint/2010/main" val="3162367902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823248" y="1762290"/>
            <a:ext cx="10324364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/>
              <a:t>설계용 라이브러리 개요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2105750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2.1.1 </a:t>
            </a:r>
            <a:r>
              <a:rPr lang="ko-KR" altLang="en-US" sz="2400" b="1" dirty="0"/>
              <a:t>설계용 라이브러리란 무엇인가</a:t>
            </a:r>
            <a:r>
              <a:rPr lang="en-US" altLang="ko-KR" sz="2400" b="1" dirty="0"/>
              <a:t>? 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설계용 라이브러리란</a:t>
            </a:r>
            <a:r>
              <a:rPr lang="en-US" altLang="ko-KR" b="1" dirty="0"/>
              <a:t>?</a:t>
            </a:r>
          </a:p>
          <a:p>
            <a:pPr lvl="1"/>
            <a:r>
              <a:rPr lang="ko-KR" altLang="en-US" sz="1600" b="1" dirty="0"/>
              <a:t>미리 검증된 논리 및 기능 블록의 모음</a:t>
            </a:r>
            <a:endParaRPr lang="ko-KR" altLang="en-US" sz="1600" dirty="0"/>
          </a:p>
          <a:p>
            <a:pPr lvl="1"/>
            <a:r>
              <a:rPr lang="ko-KR" altLang="en-US" sz="1600" dirty="0"/>
              <a:t>설계자가 매번 기본 회로를 새로 만들 필요 없음</a:t>
            </a:r>
          </a:p>
          <a:p>
            <a:pPr lvl="1"/>
            <a:r>
              <a:rPr lang="ko-KR" altLang="en-US" sz="1600" dirty="0"/>
              <a:t>효율적이고 안전한 설계 가능</a:t>
            </a:r>
          </a:p>
          <a:p>
            <a:endParaRPr lang="en-US" altLang="ko-KR" sz="1800" b="1" dirty="0"/>
          </a:p>
          <a:p>
            <a:r>
              <a:rPr lang="ko-KR" altLang="en-US" b="1" dirty="0"/>
              <a:t>벽돌 비유로 이해하기</a:t>
            </a:r>
          </a:p>
          <a:p>
            <a:pPr lvl="1"/>
            <a:r>
              <a:rPr lang="ko-KR" altLang="en-US" sz="1600" dirty="0"/>
              <a:t>집 짓기 </a:t>
            </a:r>
            <a:r>
              <a:rPr lang="en-US" altLang="ko-KR" sz="1600" dirty="0"/>
              <a:t>= </a:t>
            </a:r>
            <a:r>
              <a:rPr lang="ko-KR" altLang="en-US" sz="1600" dirty="0"/>
              <a:t>칩 설계</a:t>
            </a:r>
          </a:p>
          <a:p>
            <a:pPr lvl="1"/>
            <a:r>
              <a:rPr lang="ko-KR" altLang="en-US" sz="1600" dirty="0"/>
              <a:t>벽돌 </a:t>
            </a:r>
            <a:r>
              <a:rPr lang="en-US" altLang="ko-KR" sz="1600" dirty="0"/>
              <a:t>= </a:t>
            </a:r>
            <a:r>
              <a:rPr lang="ko-KR" altLang="en-US" sz="1600" dirty="0"/>
              <a:t>라이브러리 셀</a:t>
            </a:r>
          </a:p>
          <a:p>
            <a:pPr lvl="1"/>
            <a:r>
              <a:rPr lang="ko-KR" altLang="en-US" sz="1600" dirty="0"/>
              <a:t>검증된 벽돌로 안전한 건물 완성</a:t>
            </a:r>
            <a:endParaRPr lang="en-US" altLang="ko-KR" sz="1600" dirty="0"/>
          </a:p>
          <a:p>
            <a:endParaRPr lang="en-US" altLang="ko-KR" sz="1800" dirty="0"/>
          </a:p>
          <a:p>
            <a:r>
              <a:rPr lang="en-US" altLang="ko-KR" sz="1800" b="1" dirty="0"/>
              <a:t>CADENCE</a:t>
            </a:r>
            <a:r>
              <a:rPr lang="ko-KR" altLang="en-US" sz="1800" b="1" dirty="0"/>
              <a:t>의 </a:t>
            </a:r>
            <a:r>
              <a:rPr lang="en-US" altLang="ko-KR" sz="1800" b="1" dirty="0"/>
              <a:t>GPDK045</a:t>
            </a:r>
            <a:r>
              <a:rPr lang="ko-KR" altLang="en-US" sz="1800" b="1" dirty="0"/>
              <a:t>를 사용할 예정</a:t>
            </a:r>
          </a:p>
        </p:txBody>
      </p:sp>
    </p:spTree>
    <p:extLst>
      <p:ext uri="{BB962C8B-B14F-4D97-AF65-F5344CB8AC3E}">
        <p14:creationId xmlns:p14="http://schemas.microsoft.com/office/powerpoint/2010/main" val="125492326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2.1.1 </a:t>
            </a:r>
            <a:r>
              <a:rPr lang="ko-KR" altLang="en-US" sz="2400" b="1" dirty="0"/>
              <a:t>설계용 라이브러리란 무엇인가</a:t>
            </a:r>
            <a:r>
              <a:rPr lang="en-US" altLang="ko-KR" sz="2400" b="1" dirty="0"/>
              <a:t>? 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핵심 구성 블록 </a:t>
            </a:r>
            <a:r>
              <a:rPr lang="en-US" altLang="ko-KR" b="1" dirty="0"/>
              <a:t>4</a:t>
            </a:r>
            <a:r>
              <a:rPr lang="ko-KR" altLang="en-US" b="1" dirty="0"/>
              <a:t>가지</a:t>
            </a:r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표준 셀</a:t>
            </a:r>
            <a:r>
              <a:rPr lang="en-US" altLang="ko-KR" b="1" dirty="0"/>
              <a:t>(Standard Cell)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조합 논리</a:t>
            </a:r>
            <a:r>
              <a:rPr lang="en-US" altLang="ko-KR" dirty="0"/>
              <a:t>: AND, OR, NOT, XOR </a:t>
            </a:r>
            <a:r>
              <a:rPr lang="ko-KR" altLang="en-US" dirty="0"/>
              <a:t>등</a:t>
            </a:r>
          </a:p>
          <a:p>
            <a:pPr lvl="2"/>
            <a:r>
              <a:rPr lang="ko-KR" altLang="en-US" dirty="0"/>
              <a:t>순차 논리</a:t>
            </a:r>
            <a:r>
              <a:rPr lang="en-US" altLang="ko-KR" dirty="0"/>
              <a:t>: </a:t>
            </a:r>
            <a:r>
              <a:rPr lang="ko-KR" altLang="en-US" dirty="0" err="1"/>
              <a:t>플립플롭</a:t>
            </a:r>
            <a:r>
              <a:rPr lang="en-US" altLang="ko-KR" dirty="0"/>
              <a:t>, </a:t>
            </a:r>
            <a:r>
              <a:rPr lang="ko-KR" altLang="en-US" dirty="0"/>
              <a:t>래치 등</a:t>
            </a:r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입출력 셀</a:t>
            </a:r>
            <a:r>
              <a:rPr lang="en-US" altLang="ko-KR" b="1" dirty="0"/>
              <a:t>(I/O Cell)</a:t>
            </a:r>
            <a:r>
              <a:rPr lang="ko-KR" altLang="en-US" dirty="0"/>
              <a:t> </a:t>
            </a:r>
          </a:p>
          <a:p>
            <a:pPr lvl="2"/>
            <a:r>
              <a:rPr lang="ko-KR" altLang="en-US" dirty="0"/>
              <a:t>칩과 외부 연결 인터페이스</a:t>
            </a:r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메모리 블록</a:t>
            </a:r>
            <a:r>
              <a:rPr lang="ko-KR" altLang="en-US" dirty="0"/>
              <a:t> </a:t>
            </a:r>
          </a:p>
          <a:p>
            <a:pPr lvl="2"/>
            <a:r>
              <a:rPr lang="en-US" altLang="ko-KR" dirty="0"/>
              <a:t>SRAM, ROM </a:t>
            </a:r>
            <a:r>
              <a:rPr lang="ko-KR" altLang="en-US" dirty="0"/>
              <a:t>등</a:t>
            </a:r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특수 기능 블록</a:t>
            </a:r>
            <a:r>
              <a:rPr lang="ko-KR" altLang="en-US" dirty="0"/>
              <a:t> </a:t>
            </a:r>
          </a:p>
          <a:p>
            <a:pPr lvl="2"/>
            <a:r>
              <a:rPr lang="en-US" altLang="ko-KR" dirty="0"/>
              <a:t>PLL, DLL </a:t>
            </a:r>
            <a:r>
              <a:rPr lang="ko-KR" altLang="en-US" dirty="0"/>
              <a:t>등 </a:t>
            </a:r>
            <a:r>
              <a:rPr lang="ko-KR" altLang="en-US" dirty="0" err="1"/>
              <a:t>클록</a:t>
            </a:r>
            <a:r>
              <a:rPr lang="ko-KR" altLang="en-US" dirty="0"/>
              <a:t> 생성 및 분배 회로</a:t>
            </a:r>
          </a:p>
        </p:txBody>
      </p:sp>
    </p:spTree>
    <p:extLst>
      <p:ext uri="{BB962C8B-B14F-4D97-AF65-F5344CB8AC3E}">
        <p14:creationId xmlns:p14="http://schemas.microsoft.com/office/powerpoint/2010/main" val="16838480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2.1.2 </a:t>
            </a:r>
            <a:r>
              <a:rPr lang="ko-KR" altLang="en-US" sz="2400" b="1" dirty="0"/>
              <a:t>라이브러리의 중요성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설계 효율성 향상</a:t>
            </a:r>
          </a:p>
          <a:p>
            <a:pPr lvl="1"/>
            <a:r>
              <a:rPr lang="ko-KR" altLang="en-US" b="1" dirty="0"/>
              <a:t>검증된 셀 재사용</a:t>
            </a:r>
            <a:r>
              <a:rPr lang="ko-KR" altLang="en-US" dirty="0"/>
              <a:t> → 설계 시간 단축</a:t>
            </a:r>
          </a:p>
          <a:p>
            <a:pPr lvl="1"/>
            <a:r>
              <a:rPr lang="ko-KR" altLang="en-US" b="1" dirty="0"/>
              <a:t>상위 수준 설계 집중</a:t>
            </a:r>
            <a:r>
              <a:rPr lang="ko-KR" altLang="en-US" dirty="0"/>
              <a:t> 가능</a:t>
            </a:r>
          </a:p>
          <a:p>
            <a:pPr lvl="1"/>
            <a:r>
              <a:rPr lang="ko-KR" altLang="en-US" b="1" dirty="0"/>
              <a:t>결함 가능성 감소</a:t>
            </a:r>
            <a:endParaRPr lang="ko-KR" altLang="en-US" dirty="0"/>
          </a:p>
          <a:p>
            <a:endParaRPr lang="en-US" altLang="ko-KR" b="1" dirty="0"/>
          </a:p>
          <a:p>
            <a:r>
              <a:rPr lang="ko-KR" altLang="en-US" b="1" dirty="0"/>
              <a:t>제조 공정 최적화</a:t>
            </a:r>
          </a:p>
          <a:p>
            <a:pPr lvl="1"/>
            <a:r>
              <a:rPr lang="ko-KR" altLang="en-US" b="1" dirty="0"/>
              <a:t>공정 최적화된 레이아웃</a:t>
            </a:r>
            <a:r>
              <a:rPr lang="ko-KR" altLang="en-US" dirty="0"/>
              <a:t> 제공</a:t>
            </a:r>
          </a:p>
          <a:p>
            <a:pPr lvl="1"/>
            <a:r>
              <a:rPr lang="ko-KR" altLang="en-US" b="1" dirty="0" err="1"/>
              <a:t>수율</a:t>
            </a:r>
            <a:r>
              <a:rPr lang="en-US" altLang="ko-KR" b="1" dirty="0"/>
              <a:t>(Yield) </a:t>
            </a:r>
            <a:r>
              <a:rPr lang="ko-KR" altLang="en-US" b="1" dirty="0"/>
              <a:t>향상</a:t>
            </a:r>
            <a:r>
              <a:rPr lang="ko-KR" altLang="en-US" dirty="0"/>
              <a:t>을 위한 설계 규칙 준수</a:t>
            </a:r>
          </a:p>
          <a:p>
            <a:pPr lvl="1"/>
            <a:r>
              <a:rPr lang="ko-KR" altLang="en-US" b="1" dirty="0"/>
              <a:t>공정 변화 민감도 최소화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688427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2.1.3 </a:t>
            </a:r>
            <a:r>
              <a:rPr lang="ko-KR" altLang="en-US" sz="2400" b="1" dirty="0"/>
              <a:t>라이브러리의 분류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b="1" dirty="0"/>
              <a:t>공급 주체에 따른 분류</a:t>
            </a:r>
            <a:endParaRPr lang="en-US" altLang="ko-KR" b="1" dirty="0"/>
          </a:p>
          <a:p>
            <a:pPr fontAlgn="base"/>
            <a:endParaRPr lang="ko-KR" altLang="en-US" dirty="0"/>
          </a:p>
          <a:p>
            <a:pPr lvl="1" fontAlgn="base"/>
            <a:r>
              <a:rPr lang="ko-KR" altLang="en-US" dirty="0"/>
              <a:t>파운드리 제공 </a:t>
            </a:r>
            <a:endParaRPr lang="en-US" altLang="ko-KR" dirty="0"/>
          </a:p>
          <a:p>
            <a:pPr lvl="2" fontAlgn="base"/>
            <a:r>
              <a:rPr lang="en-US" altLang="ko-KR" dirty="0"/>
              <a:t>TSMC, Samsung, Global Foundries </a:t>
            </a:r>
            <a:r>
              <a:rPr lang="ko-KR" altLang="en-US" dirty="0"/>
              <a:t>등 반도체 제조사가 직접 제공하는 </a:t>
            </a:r>
            <a:r>
              <a:rPr lang="ko-KR" altLang="en-US" dirty="0" err="1"/>
              <a:t>상업용</a:t>
            </a:r>
            <a:r>
              <a:rPr lang="ko-KR" altLang="en-US" dirty="0"/>
              <a:t> 라이브러리</a:t>
            </a:r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dirty="0"/>
              <a:t>설계 자동화 기업 제공 </a:t>
            </a:r>
            <a:endParaRPr lang="en-US" altLang="ko-KR" dirty="0"/>
          </a:p>
          <a:p>
            <a:pPr lvl="2" fontAlgn="base"/>
            <a:r>
              <a:rPr lang="en-US" altLang="ko-KR" dirty="0"/>
              <a:t>CADENCE, SYNOPSYS, Siemens </a:t>
            </a:r>
            <a:r>
              <a:rPr lang="ko-KR" altLang="en-US" dirty="0"/>
              <a:t>등 </a:t>
            </a:r>
            <a:r>
              <a:rPr lang="en-US" altLang="ko-KR" dirty="0"/>
              <a:t>EDA </a:t>
            </a:r>
            <a:r>
              <a:rPr lang="ko-KR" altLang="en-US" dirty="0"/>
              <a:t>툴 기업에서 제공하는 교육용 라이브러리 </a:t>
            </a:r>
            <a:endParaRPr lang="ko-KR" altLang="en-US" sz="12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en-US" altLang="ko-KR" dirty="0"/>
              <a:t>IP(Intellectual Property) </a:t>
            </a:r>
            <a:r>
              <a:rPr lang="ko-KR" altLang="en-US" dirty="0"/>
              <a:t>업체 제공</a:t>
            </a:r>
            <a:endParaRPr lang="en-US" altLang="ko-KR" dirty="0"/>
          </a:p>
          <a:p>
            <a:pPr lvl="2" fontAlgn="base"/>
            <a:r>
              <a:rPr lang="en-US" altLang="ko-KR" dirty="0"/>
              <a:t>ARM</a:t>
            </a:r>
            <a:r>
              <a:rPr lang="ko-KR" altLang="en-US" dirty="0"/>
              <a:t>을 비롯한 많은 </a:t>
            </a:r>
            <a:r>
              <a:rPr lang="en-US" altLang="ko-KR" dirty="0"/>
              <a:t>IP </a:t>
            </a:r>
            <a:r>
              <a:rPr lang="ko-KR" altLang="en-US" dirty="0"/>
              <a:t>개발 업체들이 제공하는 라이브러리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0158677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2.1.3 </a:t>
            </a:r>
            <a:r>
              <a:rPr lang="ko-KR" altLang="en-US" sz="2400" b="1" dirty="0"/>
              <a:t>라이브러리의 분류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b="1" dirty="0"/>
              <a:t>포함 정보에 따른 분류 </a:t>
            </a:r>
            <a:endParaRPr lang="en-US" altLang="ko-KR" b="1" dirty="0"/>
          </a:p>
          <a:p>
            <a:pPr lvl="1" fontAlgn="base"/>
            <a:r>
              <a:rPr lang="ko-KR" altLang="en-US" dirty="0"/>
              <a:t>타이밍 라이브러리</a:t>
            </a:r>
            <a:r>
              <a:rPr lang="en-US" altLang="ko-KR" dirty="0"/>
              <a:t>(.lib) </a:t>
            </a:r>
          </a:p>
          <a:p>
            <a:pPr lvl="2" fontAlgn="base"/>
            <a:r>
              <a:rPr lang="ko-KR" altLang="en-US" dirty="0"/>
              <a:t>셀의 타이밍</a:t>
            </a:r>
            <a:r>
              <a:rPr lang="en-US" altLang="ko-KR" dirty="0"/>
              <a:t>, </a:t>
            </a:r>
            <a:r>
              <a:rPr lang="ko-KR" altLang="en-US" dirty="0"/>
              <a:t>전력 소모 등 전기적 특성 정보 </a:t>
            </a:r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dirty="0"/>
              <a:t>논리 라이브러리</a:t>
            </a:r>
            <a:r>
              <a:rPr lang="en-US" altLang="ko-KR" dirty="0"/>
              <a:t>(.v) </a:t>
            </a:r>
          </a:p>
          <a:p>
            <a:pPr lvl="2" fontAlgn="base"/>
            <a:r>
              <a:rPr lang="ko-KR" altLang="en-US" dirty="0"/>
              <a:t>셀의 논리적 동작을 기술한 </a:t>
            </a:r>
            <a:r>
              <a:rPr lang="en-US" altLang="ko-KR" dirty="0"/>
              <a:t>Verilog/VHDL </a:t>
            </a:r>
            <a:r>
              <a:rPr lang="ko-KR" altLang="en-US" dirty="0"/>
              <a:t>모델 </a:t>
            </a:r>
            <a:endParaRPr lang="ko-KR" altLang="en-US" sz="1200" dirty="0"/>
          </a:p>
          <a:p>
            <a:pPr lvl="1" fontAlgn="base"/>
            <a:endParaRPr lang="en-US" altLang="ko-KR" dirty="0"/>
          </a:p>
          <a:p>
            <a:pPr lvl="1" fontAlgn="base"/>
            <a:r>
              <a:rPr lang="ko-KR" altLang="en-US" dirty="0"/>
              <a:t>물리 라이브러리</a:t>
            </a:r>
            <a:r>
              <a:rPr lang="en-US" altLang="ko-KR" dirty="0"/>
              <a:t>(.</a:t>
            </a:r>
            <a:r>
              <a:rPr lang="en-US" altLang="ko-KR" dirty="0" err="1"/>
              <a:t>lef</a:t>
            </a:r>
            <a:r>
              <a:rPr lang="en-US" altLang="ko-KR" dirty="0"/>
              <a:t>/.</a:t>
            </a:r>
            <a:r>
              <a:rPr lang="en-US" altLang="ko-KR" dirty="0" err="1"/>
              <a:t>gds</a:t>
            </a:r>
            <a:r>
              <a:rPr lang="en-US" altLang="ko-KR" dirty="0"/>
              <a:t>)</a:t>
            </a:r>
          </a:p>
          <a:p>
            <a:pPr lvl="2" fontAlgn="base"/>
            <a:r>
              <a:rPr lang="en-US" altLang="ko-KR" dirty="0"/>
              <a:t> </a:t>
            </a:r>
            <a:r>
              <a:rPr lang="ko-KR" altLang="en-US" dirty="0"/>
              <a:t>셀의 물리적 레이아웃 정보 </a:t>
            </a:r>
            <a:endParaRPr lang="en-US" altLang="ko-KR" dirty="0"/>
          </a:p>
          <a:p>
            <a:pPr lvl="2" fontAlgn="base"/>
            <a:endParaRPr lang="en-US" altLang="ko-KR" sz="1200" dirty="0"/>
          </a:p>
          <a:p>
            <a:r>
              <a:rPr lang="en-US" altLang="ko-KR" b="1" dirty="0"/>
              <a:t>GPDK045 </a:t>
            </a:r>
            <a:r>
              <a:rPr lang="ko-KR" altLang="en-US" b="1" dirty="0"/>
              <a:t>특징</a:t>
            </a:r>
          </a:p>
          <a:p>
            <a:pPr lvl="1"/>
            <a:r>
              <a:rPr lang="en-US" altLang="ko-KR" dirty="0"/>
              <a:t>CADENCE </a:t>
            </a:r>
            <a:r>
              <a:rPr lang="ko-KR" altLang="en-US" dirty="0"/>
              <a:t>교육용 라이브러리</a:t>
            </a:r>
          </a:p>
          <a:p>
            <a:pPr lvl="1"/>
            <a:r>
              <a:rPr lang="ko-KR" altLang="en-US" dirty="0"/>
              <a:t>상용 공정과 동일한 구조</a:t>
            </a:r>
          </a:p>
          <a:p>
            <a:pPr lvl="1"/>
            <a:r>
              <a:rPr lang="ko-KR" altLang="en-US" dirty="0"/>
              <a:t>유일하게 </a:t>
            </a:r>
            <a:r>
              <a:rPr lang="en-US" altLang="ko-KR" dirty="0"/>
              <a:t>IO </a:t>
            </a:r>
            <a:r>
              <a:rPr lang="ko-KR" altLang="en-US" dirty="0"/>
              <a:t>라이브러리 제공</a:t>
            </a:r>
          </a:p>
          <a:p>
            <a:pPr fontAlgn="base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4872914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2.1.4 GPDK045 </a:t>
            </a:r>
            <a:r>
              <a:rPr lang="ko-KR" altLang="en-US" sz="2400" b="1" dirty="0"/>
              <a:t>라이브러리 수령 절차 안내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나인플러스를 통한 신청</a:t>
            </a:r>
          </a:p>
          <a:p>
            <a:pPr lvl="1"/>
            <a:r>
              <a:rPr lang="en-US" altLang="ko-KR" b="1" dirty="0"/>
              <a:t>CADENCE </a:t>
            </a:r>
            <a:r>
              <a:rPr lang="ko-KR" altLang="en-US" b="1" dirty="0"/>
              <a:t>한국 대리점</a:t>
            </a:r>
            <a:endParaRPr lang="ko-KR" altLang="en-US" dirty="0"/>
          </a:p>
          <a:p>
            <a:pPr lvl="1"/>
            <a:r>
              <a:rPr lang="ko-KR" altLang="en-US" dirty="0"/>
              <a:t>대학</a:t>
            </a:r>
            <a:r>
              <a:rPr lang="en-US" altLang="ko-KR" dirty="0"/>
              <a:t>, </a:t>
            </a:r>
            <a:r>
              <a:rPr lang="ko-KR" altLang="en-US" dirty="0"/>
              <a:t>연구기관</a:t>
            </a:r>
            <a:r>
              <a:rPr lang="en-US" altLang="ko-KR" dirty="0"/>
              <a:t>, </a:t>
            </a:r>
            <a:r>
              <a:rPr lang="ko-KR" altLang="en-US" dirty="0"/>
              <a:t>기업 대상</a:t>
            </a:r>
          </a:p>
          <a:p>
            <a:endParaRPr lang="en-US" altLang="ko-KR" b="1" dirty="0"/>
          </a:p>
          <a:p>
            <a:r>
              <a:rPr lang="ko-KR" altLang="en-US" b="1" dirty="0"/>
              <a:t>나인플러스</a:t>
            </a:r>
            <a:r>
              <a:rPr lang="en-US" altLang="ko-KR" b="1" dirty="0"/>
              <a:t>IT </a:t>
            </a:r>
            <a:r>
              <a:rPr lang="ko-KR" altLang="en-US" b="1" dirty="0"/>
              <a:t>라이센스 특징</a:t>
            </a:r>
          </a:p>
          <a:p>
            <a:pPr lvl="1"/>
            <a:r>
              <a:rPr lang="ko-KR" altLang="en-US" b="1" dirty="0" err="1"/>
              <a:t>상업용</a:t>
            </a:r>
            <a:r>
              <a:rPr lang="en-US" altLang="ko-KR" b="1" dirty="0"/>
              <a:t>/</a:t>
            </a:r>
            <a:r>
              <a:rPr lang="ko-KR" altLang="en-US" b="1" dirty="0"/>
              <a:t>교육용 모두 구매 가능</a:t>
            </a:r>
            <a:endParaRPr lang="ko-KR" altLang="en-US" dirty="0"/>
          </a:p>
          <a:p>
            <a:pPr lvl="1"/>
            <a:r>
              <a:rPr lang="ko-KR" altLang="en-US" b="1" dirty="0"/>
              <a:t>맞춤형 </a:t>
            </a:r>
            <a:r>
              <a:rPr lang="en-US" altLang="ko-KR" b="1" dirty="0"/>
              <a:t>Feature </a:t>
            </a:r>
            <a:r>
              <a:rPr lang="ko-KR" altLang="en-US" b="1" dirty="0"/>
              <a:t>구성</a:t>
            </a:r>
            <a:r>
              <a:rPr lang="ko-KR" altLang="en-US" dirty="0"/>
              <a:t> 가능</a:t>
            </a:r>
          </a:p>
          <a:p>
            <a:pPr lvl="1"/>
            <a:r>
              <a:rPr lang="ko-KR" altLang="en-US" b="1" dirty="0"/>
              <a:t>빠른 발급</a:t>
            </a:r>
            <a:r>
              <a:rPr lang="ko-KR" altLang="en-US" dirty="0"/>
              <a:t> 및 연중 상시 구매</a:t>
            </a:r>
          </a:p>
          <a:p>
            <a:pPr lvl="1"/>
            <a:r>
              <a:rPr lang="ko-KR" altLang="en-US" b="1" dirty="0"/>
              <a:t>기술 지원</a:t>
            </a:r>
            <a:r>
              <a:rPr lang="ko-KR" altLang="en-US" dirty="0"/>
              <a:t> 포함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33C7E48-690B-4ED2-AA53-4F1CBCCA5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28692"/>
              </p:ext>
            </p:extLst>
          </p:nvPr>
        </p:nvGraphicFramePr>
        <p:xfrm>
          <a:off x="2707870" y="4908101"/>
          <a:ext cx="6041276" cy="1612255"/>
        </p:xfrm>
        <a:graphic>
          <a:graphicData uri="http://schemas.openxmlformats.org/drawingml/2006/table">
            <a:tbl>
              <a:tblPr/>
              <a:tblGrid>
                <a:gridCol w="6041276">
                  <a:extLst>
                    <a:ext uri="{9D8B030D-6E8A-4147-A177-3AD203B41FA5}">
                      <a16:colId xmlns:a16="http://schemas.microsoft.com/office/drawing/2014/main" val="3160043580"/>
                    </a:ext>
                  </a:extLst>
                </a:gridCol>
              </a:tblGrid>
              <a:tr h="1612255"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나인플러스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IT(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주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영업 담당자에게 연락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hlinkClick r:id="rId2"/>
                        </a:rPr>
                        <a:t>https://npit.co.kr)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필요한 툴에 대한 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Feature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수량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사용 기간 협의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견적 및 구매 계약 진행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라이센스 발급 및 툴과 </a:t>
                      </a:r>
                      <a:r>
                        <a:rPr lang="ko-KR" altLang="en-US" sz="16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데몬의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설치 지원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3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32537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2.1.4 GPDK045 </a:t>
            </a:r>
            <a:r>
              <a:rPr lang="ko-KR" altLang="en-US" sz="2400" b="1" dirty="0"/>
              <a:t>라이브러리 수령 절차 안내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IDEC</a:t>
            </a:r>
            <a:r>
              <a:rPr lang="ko-KR" altLang="en-US" b="1" dirty="0"/>
              <a:t>을 통한 신청</a:t>
            </a:r>
          </a:p>
          <a:p>
            <a:pPr lvl="1"/>
            <a:r>
              <a:rPr lang="ko-KR" altLang="en-US" b="1" dirty="0"/>
              <a:t>반도체설계교육센터</a:t>
            </a:r>
            <a:endParaRPr lang="ko-KR" altLang="en-US" dirty="0"/>
          </a:p>
          <a:p>
            <a:pPr lvl="1"/>
            <a:r>
              <a:rPr lang="ko-KR" altLang="en-US" b="1" dirty="0"/>
              <a:t>대학 교육 및 연구 목적만</a:t>
            </a:r>
            <a:r>
              <a:rPr lang="ko-KR" altLang="en-US" dirty="0"/>
              <a:t> 사용</a:t>
            </a:r>
          </a:p>
          <a:p>
            <a:endParaRPr lang="en-US" altLang="ko-KR" b="1" dirty="0"/>
          </a:p>
          <a:p>
            <a:r>
              <a:rPr lang="en-US" altLang="ko-KR" b="1" dirty="0"/>
              <a:t>IDEC </a:t>
            </a:r>
            <a:r>
              <a:rPr lang="ko-KR" altLang="en-US" b="1" dirty="0"/>
              <a:t>라이센스 특징</a:t>
            </a:r>
          </a:p>
          <a:p>
            <a:pPr lvl="1"/>
            <a:r>
              <a:rPr lang="en-US" altLang="ko-KR" b="1" dirty="0"/>
              <a:t>University Package</a:t>
            </a:r>
            <a:r>
              <a:rPr lang="ko-KR" altLang="en-US" dirty="0"/>
              <a:t> 고정 구성</a:t>
            </a:r>
          </a:p>
          <a:p>
            <a:pPr lvl="1"/>
            <a:r>
              <a:rPr lang="ko-KR" altLang="en-US" b="1" dirty="0"/>
              <a:t>매년</a:t>
            </a:r>
            <a:r>
              <a:rPr lang="en-US" altLang="ko-KR" b="1" dirty="0"/>
              <a:t>/</a:t>
            </a:r>
            <a:r>
              <a:rPr lang="ko-KR" altLang="en-US" b="1" dirty="0" err="1"/>
              <a:t>매학기</a:t>
            </a:r>
            <a:r>
              <a:rPr lang="ko-KR" altLang="en-US" b="1" dirty="0"/>
              <a:t> 신청</a:t>
            </a:r>
            <a:r>
              <a:rPr lang="ko-KR" altLang="en-US" dirty="0"/>
              <a:t> 가능</a:t>
            </a:r>
          </a:p>
          <a:p>
            <a:pPr lvl="1"/>
            <a:r>
              <a:rPr lang="ko-KR" altLang="en-US" b="1" dirty="0"/>
              <a:t>네트워크 라이센스</a:t>
            </a:r>
            <a:r>
              <a:rPr lang="ko-KR" altLang="en-US" dirty="0"/>
              <a:t> 방식</a:t>
            </a:r>
          </a:p>
          <a:p>
            <a:pPr lvl="1"/>
            <a:r>
              <a:rPr lang="en-US" altLang="ko-KR" b="1" dirty="0"/>
              <a:t>IDEC </a:t>
            </a:r>
            <a:r>
              <a:rPr lang="ko-KR" altLang="en-US" b="1" dirty="0"/>
              <a:t>직접 데몬 운영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유지보수 부담 없음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6DBCCA-7D1D-4612-8E43-1C4349F1C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836250"/>
              </p:ext>
            </p:extLst>
          </p:nvPr>
        </p:nvGraphicFramePr>
        <p:xfrm>
          <a:off x="2870434" y="4835364"/>
          <a:ext cx="6169657" cy="1782969"/>
        </p:xfrm>
        <a:graphic>
          <a:graphicData uri="http://schemas.openxmlformats.org/drawingml/2006/table">
            <a:tbl>
              <a:tblPr/>
              <a:tblGrid>
                <a:gridCol w="6169657">
                  <a:extLst>
                    <a:ext uri="{9D8B030D-6E8A-4147-A177-3AD203B41FA5}">
                      <a16:colId xmlns:a16="http://schemas.microsoft.com/office/drawing/2014/main" val="620408629"/>
                    </a:ext>
                  </a:extLst>
                </a:gridCol>
              </a:tblGrid>
              <a:tr h="178296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1. IDEC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회원 가입 및 로그인 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altLang="ko-KR" sz="1600" kern="0" spc="-50" dirty="0">
                          <a:solidFill>
                            <a:srgbClr val="800080"/>
                          </a:solidFill>
                          <a:effectLst/>
                          <a:latin typeface="휴먼명조"/>
                          <a:ea typeface="휴먼명조"/>
                          <a:hlinkClick r:id="rId2"/>
                        </a:rPr>
                        <a:t>https://www.idec.or.kr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2.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교수 아이디로 접속 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-&gt;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참여 교수 신청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매년 초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3.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참여 교수 승인 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-&gt; IDEC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사이트 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EDA Tool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메뉴에서 라이센스 신청 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4. IDEC 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심사 후 라이센스 비용처리 및 발급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32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27766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설계용 라이브러리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2.1.4 GPDK045 </a:t>
            </a:r>
            <a:r>
              <a:rPr lang="ko-KR" altLang="en-US" sz="2400" b="1" dirty="0"/>
              <a:t>라이브러리 수령 절차 안내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Cadence </a:t>
            </a:r>
            <a:r>
              <a:rPr lang="ko-KR" altLang="en-US" b="1" dirty="0"/>
              <a:t>사이트 등록 방법 및 자료 활용 방법</a:t>
            </a:r>
          </a:p>
          <a:p>
            <a:pPr lvl="1"/>
            <a:r>
              <a:rPr lang="en-US" altLang="ko-KR" b="1" dirty="0"/>
              <a:t>Support </a:t>
            </a:r>
            <a:r>
              <a:rPr lang="ko-KR" altLang="en-US" b="1" dirty="0"/>
              <a:t>사이트 접속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https://support.cadence.com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새 계정 등록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소속 기관 이메일 필수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라이센스 정보 입력</a:t>
            </a:r>
            <a:r>
              <a:rPr lang="ko-KR" altLang="en-US" dirty="0"/>
              <a:t>하여 계정 인증</a:t>
            </a:r>
          </a:p>
          <a:p>
            <a:pPr lvl="1"/>
            <a:r>
              <a:rPr lang="en-US" altLang="ko-KR" b="1" dirty="0"/>
              <a:t>Downloads </a:t>
            </a:r>
            <a:r>
              <a:rPr lang="ko-KR" altLang="en-US" b="1" dirty="0"/>
              <a:t>메뉴</a:t>
            </a:r>
            <a:r>
              <a:rPr lang="ko-KR" altLang="en-US" dirty="0"/>
              <a:t>에서 </a:t>
            </a:r>
            <a:r>
              <a:rPr lang="en-US" altLang="ko-KR" dirty="0"/>
              <a:t>GPDK045 </a:t>
            </a:r>
            <a:r>
              <a:rPr lang="ko-KR" altLang="en-US" dirty="0"/>
              <a:t>다운로드</a:t>
            </a:r>
          </a:p>
          <a:p>
            <a:endParaRPr lang="en-US" altLang="ko-KR" b="1" dirty="0"/>
          </a:p>
          <a:p>
            <a:r>
              <a:rPr lang="ko-KR" altLang="en-US" b="1" dirty="0"/>
              <a:t>추가 자료 접근 가능</a:t>
            </a:r>
          </a:p>
          <a:p>
            <a:pPr lvl="1"/>
            <a:r>
              <a:rPr lang="en-US" altLang="ko-KR" b="1" dirty="0"/>
              <a:t>RAK(Rapid Adoption Kit)</a:t>
            </a:r>
            <a:r>
              <a:rPr lang="ko-KR" altLang="en-US" dirty="0"/>
              <a:t> 접근</a:t>
            </a:r>
          </a:p>
          <a:p>
            <a:pPr lvl="1"/>
            <a:r>
              <a:rPr lang="en-US" altLang="ko-KR" b="1" dirty="0"/>
              <a:t>Application Notes, Technical Papers</a:t>
            </a:r>
            <a:endParaRPr lang="ko-KR" altLang="en-US" dirty="0"/>
          </a:p>
          <a:p>
            <a:pPr lvl="1"/>
            <a:r>
              <a:rPr lang="en-US" altLang="ko-KR" b="1" dirty="0"/>
              <a:t>Community </a:t>
            </a:r>
            <a:r>
              <a:rPr lang="ko-KR" altLang="en-US" b="1" dirty="0"/>
              <a:t>포럼</a:t>
            </a:r>
            <a:r>
              <a:rPr lang="ko-KR" altLang="en-US" dirty="0"/>
              <a:t> 질의응답</a:t>
            </a:r>
          </a:p>
          <a:p>
            <a:pPr lvl="1"/>
            <a:r>
              <a:rPr lang="ko-KR" altLang="en-US" b="1" dirty="0"/>
              <a:t>온라인 교육 자료</a:t>
            </a:r>
            <a:r>
              <a:rPr lang="ko-KR" altLang="en-US" dirty="0"/>
              <a:t> 및 </a:t>
            </a:r>
            <a:r>
              <a:rPr lang="en-US" altLang="ko-KR" dirty="0"/>
              <a:t>Webinar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686E778-8408-4DC1-9FE0-4C2C8615B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69528" y="3429000"/>
            <a:ext cx="6478308" cy="3297595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49950603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2.1.4 GPDK045 </a:t>
            </a:r>
            <a:r>
              <a:rPr lang="ko-KR" altLang="en-US" sz="2400" b="1" dirty="0"/>
              <a:t>라이브러리 수령 절차 안내</a:t>
            </a:r>
            <a:endParaRPr lang="en-US" altLang="ko-KR" sz="24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A307EFA-449B-47F1-B06E-82F022A39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31808"/>
              </p:ext>
            </p:extLst>
          </p:nvPr>
        </p:nvGraphicFramePr>
        <p:xfrm>
          <a:off x="1925782" y="2317481"/>
          <a:ext cx="8340436" cy="2492231"/>
        </p:xfrm>
        <a:graphic>
          <a:graphicData uri="http://schemas.openxmlformats.org/drawingml/2006/table">
            <a:tbl>
              <a:tblPr/>
              <a:tblGrid>
                <a:gridCol w="8340436">
                  <a:extLst>
                    <a:ext uri="{9D8B030D-6E8A-4147-A177-3AD203B41FA5}">
                      <a16:colId xmlns:a16="http://schemas.microsoft.com/office/drawing/2014/main" val="2724452910"/>
                    </a:ext>
                  </a:extLst>
                </a:gridCol>
              </a:tblGrid>
              <a:tr h="2492231">
                <a:tc>
                  <a:txBody>
                    <a:bodyPr/>
                    <a:lstStyle/>
                    <a:p>
                      <a:pPr fontAlgn="base" latinLnBrk="1"/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주의사항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라이센스는 라이센스 계약 조건에 따라 사용해야 한다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교육용 라이센스는 상업적 목적으로 사용할 수 없으며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라이브러리 및 툴에 대한 무단 공유는 금지된다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GPDK045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라이브러리는 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케이던스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라이센스 계약 구매가 선행되어야 한다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라이센스 획득에는 소속 기관의 지원과 절차가 필요하므로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시간과 노력이 필요하다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따라서 사전에 충분한 시간을 두고 준비하는 것이 좋다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28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068453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823248" y="1762290"/>
            <a:ext cx="10324364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GPDK 045 </a:t>
            </a:r>
            <a:r>
              <a:rPr lang="ko-KR" altLang="en-US" sz="4800" dirty="0"/>
              <a:t>구성 및 실습 환경 준비 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421406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2.2.1 </a:t>
            </a:r>
            <a:r>
              <a:rPr lang="ko-KR" altLang="en-US" sz="2400" b="1" dirty="0"/>
              <a:t>압축 파일과 디렉토리 구조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제공받은 압축 파일 </a:t>
            </a:r>
            <a:r>
              <a:rPr lang="en-US" altLang="ko-KR" b="1" dirty="0"/>
              <a:t>SoC.tar.gz </a:t>
            </a:r>
            <a:r>
              <a:rPr lang="ko-KR" altLang="en-US" b="1" dirty="0"/>
              <a:t>를 리눅스에 </a:t>
            </a:r>
            <a:r>
              <a:rPr lang="ko-KR" altLang="en-US" b="1" dirty="0" err="1"/>
              <a:t>업로드（계정의</a:t>
            </a:r>
            <a:r>
              <a:rPr lang="ko-KR" altLang="en-US" b="1" dirty="0"/>
              <a:t>　</a:t>
            </a:r>
            <a:r>
              <a:rPr lang="ko-KR" altLang="en-US" b="1" dirty="0" err="1"/>
              <a:t>홈디렉토리</a:t>
            </a:r>
            <a:r>
              <a:rPr lang="ko-KR" altLang="en-US" b="1" dirty="0"/>
              <a:t>）</a:t>
            </a:r>
            <a:endParaRPr lang="en-US" altLang="ko-KR" b="1" dirty="0"/>
          </a:p>
          <a:p>
            <a:endParaRPr lang="ko-KR" altLang="en-US" b="1" dirty="0"/>
          </a:p>
          <a:p>
            <a:r>
              <a:rPr lang="ko-KR" altLang="en-US" b="1"/>
              <a:t>리눅스　접속　및　홈 </a:t>
            </a:r>
            <a:r>
              <a:rPr lang="ko-KR" altLang="en-US" b="1" dirty="0"/>
              <a:t>디렉토리로 이동 및 압축 해제 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80ECB2-146D-4345-B5C9-2C05C6D51B91}"/>
              </a:ext>
            </a:extLst>
          </p:cNvPr>
          <p:cNvSpPr/>
          <p:nvPr/>
        </p:nvSpPr>
        <p:spPr>
          <a:xfrm>
            <a:off x="997527" y="3304309"/>
            <a:ext cx="4842164" cy="77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 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tar </a:t>
            </a:r>
            <a:r>
              <a:rPr lang="en-US" altLang="ko-KR" b="1" i="1" dirty="0" err="1"/>
              <a:t>zxvf</a:t>
            </a:r>
            <a:r>
              <a:rPr lang="en-US" altLang="ko-KR" b="1" i="1" dirty="0"/>
              <a:t> SoC.tar.gz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503306-76A3-4F4B-ABCB-BDFD50B53494}"/>
              </a:ext>
            </a:extLst>
          </p:cNvPr>
          <p:cNvSpPr/>
          <p:nvPr/>
        </p:nvSpPr>
        <p:spPr>
          <a:xfrm>
            <a:off x="1208809" y="50571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용량 정보</a:t>
            </a:r>
          </a:p>
          <a:p>
            <a:pPr lvl="1"/>
            <a:r>
              <a:rPr lang="en-US" altLang="ko-KR" b="1" dirty="0"/>
              <a:t>SoC.tar.gz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1.1GB</a:t>
            </a:r>
          </a:p>
          <a:p>
            <a:pPr lvl="1"/>
            <a:r>
              <a:rPr lang="ko-KR" altLang="en-US" b="1" dirty="0"/>
              <a:t>압축 해제 후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2.8GB</a:t>
            </a:r>
          </a:p>
          <a:p>
            <a:pPr lvl="1"/>
            <a:r>
              <a:rPr lang="ko-KR" altLang="en-US" b="1" dirty="0"/>
              <a:t>총 필요 공간</a:t>
            </a:r>
            <a:r>
              <a:rPr lang="en-US" altLang="ko-KR" dirty="0"/>
              <a:t>: 4GB </a:t>
            </a:r>
            <a:r>
              <a:rPr lang="ko-KR" altLang="en-US" dirty="0"/>
              <a:t>이상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363C8D-F2D6-4903-8FFE-00C95AA84437}"/>
              </a:ext>
            </a:extLst>
          </p:cNvPr>
          <p:cNvSpPr/>
          <p:nvPr/>
        </p:nvSpPr>
        <p:spPr>
          <a:xfrm>
            <a:off x="997527" y="4350945"/>
            <a:ext cx="4842164" cy="4365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dirty="0">
                <a:solidFill>
                  <a:schemeClr val="tx1"/>
                </a:solidFill>
              </a:rPr>
              <a:t>참고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기호 </a:t>
            </a:r>
            <a:r>
              <a:rPr lang="en-US" altLang="ko-KR" dirty="0">
                <a:solidFill>
                  <a:schemeClr val="tx1"/>
                </a:solidFill>
              </a:rPr>
              <a:t>~ : </a:t>
            </a:r>
            <a:r>
              <a:rPr lang="ko-KR" altLang="en-US" dirty="0">
                <a:solidFill>
                  <a:schemeClr val="tx1"/>
                </a:solidFill>
              </a:rPr>
              <a:t>계정의 홈 디렉토리를 뜻함</a:t>
            </a:r>
          </a:p>
        </p:txBody>
      </p:sp>
    </p:spTree>
    <p:extLst>
      <p:ext uri="{BB962C8B-B14F-4D97-AF65-F5344CB8AC3E}">
        <p14:creationId xmlns:p14="http://schemas.microsoft.com/office/powerpoint/2010/main" val="403006103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2.2.1 </a:t>
            </a:r>
            <a:r>
              <a:rPr lang="ko-KR" altLang="en-US" sz="2400" b="1" dirty="0"/>
              <a:t>압축 파일과 디렉토리 구조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CSHRC</a:t>
            </a:r>
            <a:r>
              <a:rPr lang="ko-KR" altLang="en-US" dirty="0"/>
              <a:t> </a:t>
            </a:r>
          </a:p>
          <a:p>
            <a:pPr lvl="1"/>
            <a:r>
              <a:rPr lang="en-US" altLang="ko-KR" dirty="0" err="1"/>
              <a:t>digital.cshrc</a:t>
            </a:r>
            <a:r>
              <a:rPr lang="en-US" altLang="ko-KR" dirty="0"/>
              <a:t> </a:t>
            </a:r>
            <a:r>
              <a:rPr lang="ko-KR" altLang="en-US" dirty="0"/>
              <a:t>환경 변수 파일</a:t>
            </a:r>
          </a:p>
          <a:p>
            <a:r>
              <a:rPr lang="en-US" altLang="ko-KR" b="1" dirty="0"/>
              <a:t>GPDK045</a:t>
            </a:r>
            <a:r>
              <a:rPr lang="ko-KR" altLang="en-US" dirty="0"/>
              <a:t> </a:t>
            </a:r>
          </a:p>
          <a:p>
            <a:pPr lvl="1"/>
            <a:r>
              <a:rPr lang="en-US" altLang="ko-KR" dirty="0"/>
              <a:t>Analog + Digital </a:t>
            </a:r>
            <a:r>
              <a:rPr lang="ko-KR" altLang="en-US" dirty="0"/>
              <a:t>설계 파일</a:t>
            </a:r>
            <a:endParaRPr lang="en-US" altLang="ko-KR" dirty="0"/>
          </a:p>
          <a:p>
            <a:r>
              <a:rPr lang="en-US" altLang="ko-KR" b="1" dirty="0"/>
              <a:t>Merge </a:t>
            </a:r>
          </a:p>
          <a:p>
            <a:pPr lvl="1"/>
            <a:r>
              <a:rPr lang="en-US" altLang="ko-KR" dirty="0"/>
              <a:t>Virtuoso</a:t>
            </a:r>
            <a:r>
              <a:rPr lang="ko-KR" altLang="en-US" dirty="0"/>
              <a:t>를 이용한 </a:t>
            </a:r>
            <a:r>
              <a:rPr lang="ko-KR" altLang="en-US" dirty="0" err="1"/>
              <a:t>머지</a:t>
            </a:r>
            <a:r>
              <a:rPr lang="ko-KR" altLang="en-US" dirty="0"/>
              <a:t> 환경 </a:t>
            </a:r>
            <a:endParaRPr lang="en-US" altLang="ko-KR" dirty="0"/>
          </a:p>
          <a:p>
            <a:r>
              <a:rPr lang="en-US" altLang="ko-KR" b="1" dirty="0" err="1"/>
              <a:t>SW_install</a:t>
            </a:r>
            <a:endParaRPr lang="en-US" altLang="ko-KR" b="1" dirty="0"/>
          </a:p>
          <a:p>
            <a:pPr lvl="1"/>
            <a:r>
              <a:rPr lang="en-US" altLang="ko-KR" dirty="0"/>
              <a:t>KEIL MDK </a:t>
            </a:r>
            <a:r>
              <a:rPr lang="ko-KR" altLang="en-US" dirty="0"/>
              <a:t>툴의 설치 파일 포함</a:t>
            </a:r>
            <a:endParaRPr lang="en-US" altLang="ko-KR" dirty="0"/>
          </a:p>
          <a:p>
            <a:r>
              <a:rPr lang="en-US" altLang="ko-KR" b="1" dirty="0"/>
              <a:t>SoC_make_G45</a:t>
            </a:r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디지털 </a:t>
            </a:r>
            <a:r>
              <a:rPr lang="en-US" altLang="ko-KR" dirty="0"/>
              <a:t>Flow </a:t>
            </a:r>
            <a:r>
              <a:rPr lang="ko-KR" altLang="en-US" dirty="0"/>
              <a:t>실습 폴더</a:t>
            </a:r>
            <a:endParaRPr lang="en-US" altLang="ko-KR" dirty="0"/>
          </a:p>
          <a:p>
            <a:r>
              <a:rPr lang="en-US" altLang="ko-KR" b="1" dirty="0"/>
              <a:t>cortexm0_designstart</a:t>
            </a:r>
            <a:r>
              <a:rPr lang="ko-KR" altLang="en-US" dirty="0"/>
              <a:t> </a:t>
            </a:r>
          </a:p>
          <a:p>
            <a:pPr lvl="1"/>
            <a:r>
              <a:rPr lang="en-US" altLang="ko-KR" dirty="0" err="1"/>
              <a:t>DesignStart</a:t>
            </a:r>
            <a:r>
              <a:rPr lang="en-US" altLang="ko-KR" dirty="0"/>
              <a:t> </a:t>
            </a:r>
            <a:r>
              <a:rPr lang="ko-KR" altLang="en-US" dirty="0"/>
              <a:t>패키지 자체</a:t>
            </a:r>
          </a:p>
          <a:p>
            <a:pPr lvl="1"/>
            <a:r>
              <a:rPr lang="en-US" altLang="ko-KR" dirty="0"/>
              <a:t>HW + SW </a:t>
            </a:r>
            <a:r>
              <a:rPr lang="ko-KR" altLang="en-US" dirty="0"/>
              <a:t>리소스 포함</a:t>
            </a:r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98F443-34FE-410C-BF3B-62043A51D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283" y="1587655"/>
            <a:ext cx="5745607" cy="48599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978658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2.2.1 </a:t>
            </a:r>
            <a:r>
              <a:rPr lang="ko-KR" altLang="en-US" sz="2400" b="1" dirty="0"/>
              <a:t>압축 파일과 디렉토리 구조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GPDK045/digital </a:t>
            </a:r>
            <a:r>
              <a:rPr lang="ko-KR" altLang="en-US" b="1" dirty="0"/>
              <a:t>폴더   </a:t>
            </a:r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TEST</a:t>
            </a:r>
            <a:r>
              <a:rPr lang="ko-KR" altLang="en-US" dirty="0"/>
              <a:t> 폴더 </a:t>
            </a:r>
            <a:r>
              <a:rPr lang="en-US" altLang="ko-KR" dirty="0"/>
              <a:t>: </a:t>
            </a:r>
            <a:r>
              <a:rPr lang="ko-KR" altLang="en-US" dirty="0"/>
              <a:t>표준 셀 </a:t>
            </a:r>
            <a:r>
              <a:rPr lang="en-US" altLang="ko-KR" dirty="0"/>
              <a:t>+ IO </a:t>
            </a:r>
            <a:r>
              <a:rPr lang="ko-KR" altLang="en-US" dirty="0"/>
              <a:t>셀의</a:t>
            </a:r>
            <a:r>
              <a:rPr lang="en-US" altLang="ko-KR" dirty="0"/>
              <a:t> LAB</a:t>
            </a:r>
            <a:endParaRPr lang="ko-KR" altLang="en-US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gsclib045_all_4.4</a:t>
            </a:r>
            <a:r>
              <a:rPr lang="ko-KR" altLang="en-US" dirty="0"/>
              <a:t> 폴더 </a:t>
            </a:r>
          </a:p>
          <a:p>
            <a:pPr lvl="2"/>
            <a:r>
              <a:rPr lang="ko-KR" altLang="en-US" b="1" dirty="0"/>
              <a:t>스탠다드 셀 라이브러리</a:t>
            </a:r>
            <a:r>
              <a:rPr lang="ko-KR" altLang="en-US" dirty="0"/>
              <a:t> 정보</a:t>
            </a:r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giolib045_v3.5</a:t>
            </a:r>
            <a:r>
              <a:rPr lang="ko-KR" altLang="en-US" dirty="0"/>
              <a:t> 폴더 </a:t>
            </a:r>
          </a:p>
          <a:p>
            <a:pPr lvl="2"/>
            <a:r>
              <a:rPr lang="en-US" altLang="ko-KR" b="1" dirty="0"/>
              <a:t>IO </a:t>
            </a:r>
            <a:r>
              <a:rPr lang="ko-KR" altLang="en-US" b="1" dirty="0"/>
              <a:t>셀 라이브러리</a:t>
            </a:r>
            <a:r>
              <a:rPr lang="ko-KR" altLang="en-US" dirty="0"/>
              <a:t> 정보</a:t>
            </a:r>
          </a:p>
          <a:p>
            <a:endParaRPr lang="en-US" altLang="ko-KR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764BA3-2D16-4AD1-BDFC-EC2A46990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84893" y="5396804"/>
            <a:ext cx="6834205" cy="685260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3050783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2.2.2 </a:t>
            </a:r>
            <a:r>
              <a:rPr lang="ko-KR" altLang="en-US" sz="2400" b="1" dirty="0"/>
              <a:t>주요 파일 형식의 역할과 사용 툴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타이밍 라이브러리 파일</a:t>
            </a:r>
            <a:r>
              <a:rPr lang="en-US" altLang="ko-KR" b="1" dirty="0"/>
              <a:t>(.lib)</a:t>
            </a:r>
          </a:p>
          <a:p>
            <a:pPr lvl="1"/>
            <a:r>
              <a:rPr lang="ko-KR" altLang="en-US" b="1" dirty="0"/>
              <a:t>스탠다드 셀의 모든 정보</a:t>
            </a:r>
            <a:r>
              <a:rPr lang="ko-KR" altLang="en-US" dirty="0"/>
              <a:t>가 담긴 설명서</a:t>
            </a:r>
          </a:p>
          <a:p>
            <a:pPr lvl="1"/>
            <a:r>
              <a:rPr lang="ko-KR" altLang="en-US" b="1" dirty="0"/>
              <a:t>타이밍</a:t>
            </a:r>
            <a:r>
              <a:rPr lang="en-US" altLang="ko-KR" b="1" dirty="0"/>
              <a:t>, </a:t>
            </a:r>
            <a:r>
              <a:rPr lang="ko-KR" altLang="en-US" b="1" dirty="0"/>
              <a:t>크기</a:t>
            </a:r>
            <a:r>
              <a:rPr lang="en-US" altLang="ko-KR" b="1" dirty="0"/>
              <a:t>, </a:t>
            </a:r>
            <a:r>
              <a:rPr lang="ko-KR" altLang="en-US" b="1" dirty="0"/>
              <a:t>딜레이</a:t>
            </a:r>
            <a:r>
              <a:rPr lang="en-US" altLang="ko-KR" b="1" dirty="0"/>
              <a:t>, </a:t>
            </a:r>
            <a:r>
              <a:rPr lang="ko-KR" altLang="en-US" b="1" dirty="0"/>
              <a:t>전력 소모</a:t>
            </a:r>
            <a:r>
              <a:rPr lang="ko-KR" altLang="en-US" dirty="0"/>
              <a:t> 특성</a:t>
            </a:r>
          </a:p>
          <a:p>
            <a:pPr lvl="1"/>
            <a:r>
              <a:rPr lang="ko-KR" altLang="en-US" b="1" dirty="0"/>
              <a:t>다양한 조건</a:t>
            </a:r>
            <a:r>
              <a:rPr lang="en-US" altLang="ko-KR" dirty="0"/>
              <a:t>(fast, slow, typical) </a:t>
            </a:r>
            <a:r>
              <a:rPr lang="ko-KR" altLang="en-US" dirty="0"/>
              <a:t>특성</a:t>
            </a:r>
          </a:p>
          <a:p>
            <a:endParaRPr lang="en-US" altLang="ko-KR" b="1" dirty="0"/>
          </a:p>
          <a:p>
            <a:r>
              <a:rPr lang="ko-KR" altLang="en-US" b="1" dirty="0"/>
              <a:t>사용 툴</a:t>
            </a:r>
          </a:p>
          <a:p>
            <a:pPr lvl="1"/>
            <a:r>
              <a:rPr lang="en-US" altLang="ko-KR" b="1" dirty="0"/>
              <a:t>Genus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합성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 err="1"/>
              <a:t>Innovus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Tempus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타이밍 분석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Conformal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논리 등가 검증</a:t>
            </a:r>
            <a:r>
              <a:rPr lang="en-US" altLang="ko-KR" dirty="0"/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4BA264-E5F5-469F-B9B4-B363F3F2AB6A}"/>
              </a:ext>
            </a:extLst>
          </p:cNvPr>
          <p:cNvSpPr/>
          <p:nvPr/>
        </p:nvSpPr>
        <p:spPr>
          <a:xfrm>
            <a:off x="4842164" y="3236767"/>
            <a:ext cx="5615454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 SoC/GPDK045/digital/giolib045_v3.5/timing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BC9148-9532-49EB-8480-4146263438B7}"/>
              </a:ext>
            </a:extLst>
          </p:cNvPr>
          <p:cNvSpPr/>
          <p:nvPr/>
        </p:nvSpPr>
        <p:spPr>
          <a:xfrm>
            <a:off x="4842164" y="4649960"/>
            <a:ext cx="7232071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 SoC/GPDK045/digital/gsclib045_all_v4.4/gsclib045/timing</a:t>
            </a:r>
            <a:endParaRPr lang="en-US" altLang="ko-KR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58AC6A3-EDDF-4D92-9410-2D6105FE8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42164" y="3857151"/>
            <a:ext cx="5803016" cy="255244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5D8F5555-38EB-4CAC-8885-14607CCC6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42164" y="5270344"/>
            <a:ext cx="5055573" cy="1539203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92235649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2.2.2 </a:t>
            </a:r>
            <a:r>
              <a:rPr lang="ko-KR" altLang="en-US" sz="2400" b="1" dirty="0"/>
              <a:t>주요 파일 형식의 역할과 사용 툴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타이밍 라이브러리 파일</a:t>
            </a:r>
            <a:r>
              <a:rPr lang="en-US" altLang="ko-KR" b="1" dirty="0"/>
              <a:t>(.lib)</a:t>
            </a:r>
          </a:p>
          <a:p>
            <a:pPr lvl="1"/>
            <a:r>
              <a:rPr lang="en-US" altLang="ko-KR" b="1" dirty="0"/>
              <a:t>README.txt </a:t>
            </a:r>
            <a:r>
              <a:rPr lang="ko-KR" altLang="en-US" b="1" dirty="0"/>
              <a:t>파일</a:t>
            </a:r>
            <a:r>
              <a:rPr lang="en-US" altLang="ko-KR" b="1" dirty="0"/>
              <a:t> </a:t>
            </a:r>
            <a:r>
              <a:rPr lang="ko-KR" altLang="en-US" b="1" dirty="0"/>
              <a:t>참고 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4BA264-E5F5-469F-B9B4-B363F3F2AB6A}"/>
              </a:ext>
            </a:extLst>
          </p:cNvPr>
          <p:cNvSpPr/>
          <p:nvPr/>
        </p:nvSpPr>
        <p:spPr>
          <a:xfrm>
            <a:off x="1797627" y="2623417"/>
            <a:ext cx="8801100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vim SoC/GPDK045/digital/gsclib045_all_v4.4/gsclib045/timing/README.txt </a:t>
            </a:r>
            <a:endParaRPr lang="en-US" altLang="ko-KR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B44C26D2-C58C-4AF5-9857-1D9855AB6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33897" y="3097134"/>
            <a:ext cx="6861930" cy="3352639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4193882608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2.2.2 </a:t>
            </a:r>
            <a:r>
              <a:rPr lang="ko-KR" altLang="en-US" sz="2400" b="1" dirty="0"/>
              <a:t>주요 파일 형식의 역할과 사용 툴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합성 데이터베이스 파일</a:t>
            </a:r>
            <a:r>
              <a:rPr lang="en-US" altLang="ko-KR" b="1" dirty="0"/>
              <a:t>(.</a:t>
            </a:r>
            <a:r>
              <a:rPr lang="en-US" altLang="ko-KR" b="1" dirty="0" err="1"/>
              <a:t>db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b="1" dirty="0"/>
              <a:t>.lib </a:t>
            </a:r>
            <a:r>
              <a:rPr lang="ko-KR" altLang="en-US" b="1" dirty="0"/>
              <a:t>파일과 동일한 정보</a:t>
            </a:r>
            <a:endParaRPr lang="ko-KR" altLang="en-US" dirty="0"/>
          </a:p>
          <a:p>
            <a:pPr lvl="1"/>
            <a:r>
              <a:rPr lang="ko-KR" altLang="en-US" b="1" dirty="0"/>
              <a:t>바이너리 형태</a:t>
            </a:r>
            <a:r>
              <a:rPr lang="ko-KR" altLang="en-US" dirty="0"/>
              <a:t>로 변환</a:t>
            </a:r>
          </a:p>
          <a:p>
            <a:pPr lvl="1"/>
            <a:r>
              <a:rPr lang="ko-KR" altLang="en-US" b="1" dirty="0"/>
              <a:t>합성 툴에서 빠른 로딩</a:t>
            </a:r>
            <a:r>
              <a:rPr lang="ko-KR" altLang="en-US" dirty="0"/>
              <a:t> 가능</a:t>
            </a:r>
          </a:p>
          <a:p>
            <a:pPr lvl="1"/>
            <a:r>
              <a:rPr lang="en-US" altLang="ko-KR" i="1" dirty="0"/>
              <a:t>GPDK</a:t>
            </a:r>
            <a:r>
              <a:rPr lang="ko-KR" altLang="en-US" i="1" dirty="0"/>
              <a:t>에는 </a:t>
            </a:r>
            <a:r>
              <a:rPr lang="en-US" altLang="ko-KR" i="1" dirty="0"/>
              <a:t>.</a:t>
            </a:r>
            <a:r>
              <a:rPr lang="en-US" altLang="ko-KR" i="1" dirty="0" err="1"/>
              <a:t>db</a:t>
            </a:r>
            <a:r>
              <a:rPr lang="ko-KR" altLang="en-US" i="1" dirty="0"/>
              <a:t>파일 제공 안됨</a:t>
            </a:r>
            <a:endParaRPr lang="ko-KR" altLang="en-US" dirty="0"/>
          </a:p>
          <a:p>
            <a:endParaRPr lang="en-US" altLang="ko-KR" b="1" dirty="0"/>
          </a:p>
          <a:p>
            <a:r>
              <a:rPr lang="ko-KR" altLang="en-US" b="1" dirty="0"/>
              <a:t>논리 모델 파일</a:t>
            </a:r>
            <a:r>
              <a:rPr lang="en-US" altLang="ko-KR" b="1" dirty="0"/>
              <a:t>(.v)</a:t>
            </a:r>
          </a:p>
          <a:p>
            <a:pPr lvl="1"/>
            <a:r>
              <a:rPr lang="en-US" altLang="ko-KR" b="1" dirty="0"/>
              <a:t>Verilog HDL</a:t>
            </a:r>
            <a:r>
              <a:rPr lang="ko-KR" altLang="en-US" b="1" dirty="0"/>
              <a:t>로 셀 동작 기술</a:t>
            </a:r>
            <a:endParaRPr lang="ko-KR" altLang="en-US" dirty="0"/>
          </a:p>
          <a:p>
            <a:pPr lvl="1"/>
            <a:r>
              <a:rPr lang="ko-KR" altLang="en-US" b="1" dirty="0"/>
              <a:t>입출력 인터페이스</a:t>
            </a:r>
            <a:r>
              <a:rPr lang="ko-KR" altLang="en-US" dirty="0"/>
              <a:t> 포함</a:t>
            </a:r>
          </a:p>
          <a:p>
            <a:pPr lvl="1"/>
            <a:r>
              <a:rPr lang="ko-KR" altLang="en-US" b="1" dirty="0"/>
              <a:t>딜레이 적용</a:t>
            </a:r>
            <a:r>
              <a:rPr lang="ko-KR" altLang="en-US" dirty="0"/>
              <a:t> 기능</a:t>
            </a:r>
          </a:p>
          <a:p>
            <a:pPr lvl="1"/>
            <a:r>
              <a:rPr lang="ko-KR" altLang="en-US" b="1" dirty="0"/>
              <a:t>사용 툴</a:t>
            </a:r>
            <a:r>
              <a:rPr lang="en-US" altLang="ko-KR" dirty="0"/>
              <a:t>: </a:t>
            </a:r>
            <a:r>
              <a:rPr lang="en-US" altLang="ko-KR" dirty="0" err="1"/>
              <a:t>Xcelium</a:t>
            </a:r>
            <a:r>
              <a:rPr lang="en-US" altLang="ko-KR" dirty="0"/>
              <a:t>, Conformal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432F-485A-4843-BBD5-4967BDA0933B}"/>
              </a:ext>
            </a:extLst>
          </p:cNvPr>
          <p:cNvSpPr/>
          <p:nvPr/>
        </p:nvSpPr>
        <p:spPr>
          <a:xfrm>
            <a:off x="4842164" y="3310406"/>
            <a:ext cx="5615454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 SoC/GPDK045/digital/giolib045_v3.5/vlog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985C84-1FB7-4E15-B8E7-DF788156C984}"/>
              </a:ext>
            </a:extLst>
          </p:cNvPr>
          <p:cNvSpPr/>
          <p:nvPr/>
        </p:nvSpPr>
        <p:spPr>
          <a:xfrm>
            <a:off x="4842164" y="4732707"/>
            <a:ext cx="7232071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 SoC/GPDK045/digital/gsclib045_all_v4.4/gsclib045/</a:t>
            </a:r>
            <a:r>
              <a:rPr lang="en-US" altLang="ko-KR" b="1" i="1" dirty="0" err="1"/>
              <a:t>verilog</a:t>
            </a:r>
            <a:r>
              <a:rPr lang="en-US" altLang="ko-KR" b="1" i="1" dirty="0"/>
              <a:t> </a:t>
            </a:r>
            <a:endParaRPr lang="en-US" altLang="ko-KR" dirty="0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BCF55A28-8CE0-4B92-AB1E-C53B6CDC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69007" y="3865586"/>
            <a:ext cx="6702884" cy="25231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5950E535-4F2F-4CC0-AC9D-12DFDC9CF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42163" y="5292540"/>
            <a:ext cx="7286240" cy="1014742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78953561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2.2.2 </a:t>
            </a:r>
            <a:r>
              <a:rPr lang="ko-KR" altLang="en-US" sz="2400" b="1" dirty="0"/>
              <a:t>주요 파일 형식의 역할과 사용 툴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레이아웃 교환 형식 파일</a:t>
            </a:r>
            <a:r>
              <a:rPr lang="en-US" altLang="ko-KR" b="1" dirty="0"/>
              <a:t>(.</a:t>
            </a:r>
            <a:r>
              <a:rPr lang="en-US" altLang="ko-KR" b="1" dirty="0" err="1"/>
              <a:t>lef</a:t>
            </a:r>
            <a:r>
              <a:rPr lang="en-US" altLang="ko-KR" b="1" dirty="0"/>
              <a:t>)</a:t>
            </a:r>
          </a:p>
          <a:p>
            <a:pPr lvl="1"/>
            <a:r>
              <a:rPr lang="ko-KR" altLang="en-US" b="1" dirty="0"/>
              <a:t>셀의 실제 레이아웃</a:t>
            </a:r>
            <a:r>
              <a:rPr lang="ko-KR" altLang="en-US" dirty="0"/>
              <a:t> 정보</a:t>
            </a:r>
          </a:p>
          <a:p>
            <a:pPr lvl="1"/>
            <a:r>
              <a:rPr lang="ko-KR" altLang="en-US" b="1" dirty="0"/>
              <a:t>팬텀 셀 형태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빈 깡통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입출력 핀 정보만</a:t>
            </a:r>
            <a:r>
              <a:rPr lang="ko-KR" altLang="en-US" dirty="0"/>
              <a:t> 포함</a:t>
            </a:r>
          </a:p>
          <a:p>
            <a:endParaRPr lang="en-US" altLang="ko-KR" b="1" dirty="0"/>
          </a:p>
          <a:p>
            <a:r>
              <a:rPr lang="ko-KR" altLang="en-US" b="1" dirty="0"/>
              <a:t>포함 정보</a:t>
            </a:r>
          </a:p>
          <a:p>
            <a:pPr lvl="1"/>
            <a:r>
              <a:rPr lang="ko-KR" altLang="en-US" b="1" dirty="0"/>
              <a:t>핀의 위치와 크기</a:t>
            </a:r>
            <a:endParaRPr lang="ko-KR" altLang="en-US" dirty="0"/>
          </a:p>
          <a:p>
            <a:pPr lvl="1"/>
            <a:r>
              <a:rPr lang="ko-KR" altLang="en-US" b="1" dirty="0"/>
              <a:t>메탈 정보</a:t>
            </a:r>
            <a:endParaRPr lang="ko-KR" altLang="en-US" dirty="0"/>
          </a:p>
          <a:p>
            <a:pPr lvl="1"/>
            <a:r>
              <a:rPr lang="ko-KR" altLang="en-US" b="1" dirty="0"/>
              <a:t>라우팅용 레이어 정보</a:t>
            </a:r>
            <a:endParaRPr lang="ko-KR" altLang="en-US" dirty="0"/>
          </a:p>
          <a:p>
            <a:pPr lvl="1"/>
            <a:r>
              <a:rPr lang="ko-KR" altLang="en-US" b="1" dirty="0"/>
              <a:t>사용 툴</a:t>
            </a:r>
            <a:r>
              <a:rPr lang="en-US" altLang="ko-KR" dirty="0"/>
              <a:t>: </a:t>
            </a:r>
            <a:r>
              <a:rPr lang="en-US" altLang="ko-KR" dirty="0" err="1"/>
              <a:t>Innovus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2BF04D-F821-461A-9917-51ECC1EAE238}"/>
              </a:ext>
            </a:extLst>
          </p:cNvPr>
          <p:cNvSpPr/>
          <p:nvPr/>
        </p:nvSpPr>
        <p:spPr>
          <a:xfrm>
            <a:off x="4842164" y="3597484"/>
            <a:ext cx="5615454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 SoC/GPDK045/digital/giolib045_v3.5/</a:t>
            </a:r>
            <a:r>
              <a:rPr lang="en-US" altLang="ko-KR" b="1" i="1" dirty="0" err="1"/>
              <a:t>lef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7A4588-4994-464D-A2C0-DC8DA54A04E5}"/>
              </a:ext>
            </a:extLst>
          </p:cNvPr>
          <p:cNvSpPr/>
          <p:nvPr/>
        </p:nvSpPr>
        <p:spPr>
          <a:xfrm>
            <a:off x="4842164" y="5019785"/>
            <a:ext cx="7232071" cy="38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 SoC/GPDK045/digital/gsclib045_all_v4.4/gsclib045/</a:t>
            </a:r>
            <a:r>
              <a:rPr lang="en-US" altLang="ko-KR" b="1" i="1" dirty="0" err="1"/>
              <a:t>lef</a:t>
            </a:r>
            <a:endParaRPr lang="en-US" altLang="ko-KR" dirty="0"/>
          </a:p>
        </p:txBody>
      </p:sp>
      <p:pic>
        <p:nvPicPr>
          <p:cNvPr id="9" name="Picture 17">
            <a:extLst>
              <a:ext uri="{FF2B5EF4-FFF2-40B4-BE49-F238E27FC236}">
                <a16:creationId xmlns:a16="http://schemas.microsoft.com/office/drawing/2014/main" id="{2856E6E1-7759-4494-85EF-391C4DA02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42164" y="4178676"/>
            <a:ext cx="4770120" cy="19050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10" name="Picture 19">
            <a:extLst>
              <a:ext uri="{FF2B5EF4-FFF2-40B4-BE49-F238E27FC236}">
                <a16:creationId xmlns:a16="http://schemas.microsoft.com/office/drawing/2014/main" id="{BC3A289E-CBE5-499F-A116-72CF1AD53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42163" y="5600977"/>
            <a:ext cx="7214199" cy="61278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81768482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2.2.2 </a:t>
            </a:r>
            <a:r>
              <a:rPr lang="ko-KR" altLang="en-US" sz="2400" b="1" dirty="0"/>
              <a:t>주요 파일 형식의 역할과 사용 툴 </a:t>
            </a:r>
            <a:endParaRPr lang="en-US" altLang="ko-KR" sz="24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A307EFA-449B-47F1-B06E-82F022A39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273183"/>
              </p:ext>
            </p:extLst>
          </p:nvPr>
        </p:nvGraphicFramePr>
        <p:xfrm>
          <a:off x="1925781" y="1851169"/>
          <a:ext cx="8550907" cy="4300250"/>
        </p:xfrm>
        <a:graphic>
          <a:graphicData uri="http://schemas.openxmlformats.org/drawingml/2006/table">
            <a:tbl>
              <a:tblPr/>
              <a:tblGrid>
                <a:gridCol w="8550907">
                  <a:extLst>
                    <a:ext uri="{9D8B030D-6E8A-4147-A177-3AD203B41FA5}">
                      <a16:colId xmlns:a16="http://schemas.microsoft.com/office/drawing/2014/main" val="2724452910"/>
                    </a:ext>
                  </a:extLst>
                </a:gridCol>
              </a:tblGrid>
              <a:tr h="4300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여기서 잠깐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!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GPDK045/digital/gsclib045_all_v4.4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폴더 내에는 문턱전압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(Threshold Voltage)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특성에 따라서 </a:t>
                      </a:r>
                      <a:r>
                        <a:rPr lang="en-US" altLang="ko-KR" sz="18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lvt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en-US" altLang="ko-KR" sz="18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svt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en-US" altLang="ko-KR" sz="18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hvt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 대한 폴더들이 준비되어 있다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낮은 문턱전압 </a:t>
                      </a:r>
                      <a:r>
                        <a:rPr lang="en-US" altLang="ko-KR" sz="18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lvt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는 셀의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On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까지 금방 도달하는 특성이 있으므로 고속 디자인에 유리하고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높은 문턱전압 </a:t>
                      </a:r>
                      <a:r>
                        <a:rPr lang="en-US" altLang="ko-KR" sz="18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hvt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는 그의 반대이다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본 교재는 초보자를 위하여 집필하는 것이니 기본 문턱전압인 </a:t>
                      </a:r>
                      <a:r>
                        <a:rPr lang="en-US" altLang="ko-KR" sz="18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svt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가지고 진행하도록 한다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GPDK045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폴더에는 공정의 자세한 정보나 셀 리스트 등이 제공되지 않아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 초보자에게는 어려움이 많을 것 같다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기본적인 내용들을 부록으로 기재해 놓았으니 참고하기를 바란다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28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130538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.</a:t>
            </a:r>
            <a:r>
              <a:rPr lang="en-US" altLang="ko-KR" sz="2400" b="1" dirty="0" err="1"/>
              <a:t>cshrc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파일 설정 및 툴 연동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Cadence </a:t>
            </a:r>
            <a:r>
              <a:rPr lang="ko-KR" altLang="en-US" b="1" dirty="0"/>
              <a:t>툴 사용을 위한 필수 설정</a:t>
            </a:r>
          </a:p>
          <a:p>
            <a:pPr lvl="1"/>
            <a:r>
              <a:rPr lang="en-US" altLang="ko-KR" b="1" dirty="0"/>
              <a:t>C</a:t>
            </a:r>
            <a:r>
              <a:rPr lang="ko-KR" altLang="en-US" b="1" dirty="0"/>
              <a:t>쉘</a:t>
            </a:r>
            <a:r>
              <a:rPr lang="en-US" altLang="ko-KR" b="1" dirty="0"/>
              <a:t>(</a:t>
            </a:r>
            <a:r>
              <a:rPr lang="en-US" altLang="ko-KR" b="1" dirty="0" err="1"/>
              <a:t>csh</a:t>
            </a:r>
            <a:r>
              <a:rPr lang="en-US" altLang="ko-KR" b="1" dirty="0"/>
              <a:t>) </a:t>
            </a:r>
            <a:r>
              <a:rPr lang="ko-KR" altLang="en-US" b="1" dirty="0"/>
              <a:t>기반</a:t>
            </a:r>
            <a:r>
              <a:rPr lang="ko-KR" altLang="en-US" dirty="0"/>
              <a:t> 환경 변수</a:t>
            </a:r>
          </a:p>
          <a:p>
            <a:pPr lvl="1"/>
            <a:r>
              <a:rPr lang="en-US" altLang="ko-KR" b="1" dirty="0"/>
              <a:t>4</a:t>
            </a:r>
            <a:r>
              <a:rPr lang="ko-KR" altLang="en-US" b="1" dirty="0"/>
              <a:t>가지 핵심 요소</a:t>
            </a:r>
            <a:r>
              <a:rPr lang="ko-KR" altLang="en-US" dirty="0"/>
              <a:t> 설정 필요</a:t>
            </a:r>
          </a:p>
          <a:p>
            <a:endParaRPr lang="en-US" altLang="ko-KR" b="1" dirty="0"/>
          </a:p>
          <a:p>
            <a:r>
              <a:rPr lang="ko-KR" altLang="en-US" b="1" dirty="0"/>
              <a:t>환경 변수 </a:t>
            </a:r>
            <a:r>
              <a:rPr lang="en-US" altLang="ko-KR" b="1" dirty="0"/>
              <a:t>4</a:t>
            </a:r>
            <a:r>
              <a:rPr lang="ko-KR" altLang="en-US" b="1" dirty="0"/>
              <a:t>가지</a:t>
            </a:r>
          </a:p>
          <a:p>
            <a:pPr lvl="1"/>
            <a:r>
              <a:rPr lang="ko-KR" altLang="en-US" b="1" dirty="0"/>
              <a:t>라이센스 정보</a:t>
            </a:r>
            <a:endParaRPr lang="ko-KR" altLang="en-US" dirty="0"/>
          </a:p>
          <a:p>
            <a:pPr lvl="1"/>
            <a:r>
              <a:rPr lang="ko-KR" altLang="en-US" b="1" dirty="0"/>
              <a:t>툴의 설치 경로</a:t>
            </a:r>
            <a:endParaRPr lang="ko-KR" altLang="en-US" dirty="0"/>
          </a:p>
          <a:p>
            <a:pPr lvl="1"/>
            <a:r>
              <a:rPr lang="en-US" altLang="ko-KR" b="1" dirty="0"/>
              <a:t>PATH </a:t>
            </a:r>
            <a:r>
              <a:rPr lang="ko-KR" altLang="en-US" b="1" dirty="0"/>
              <a:t>경로</a:t>
            </a:r>
            <a:endParaRPr lang="ko-KR" altLang="en-US" dirty="0"/>
          </a:p>
          <a:p>
            <a:pPr lvl="1"/>
            <a:r>
              <a:rPr lang="en-US" altLang="ko-KR" b="1" dirty="0"/>
              <a:t>OA </a:t>
            </a:r>
            <a:r>
              <a:rPr lang="ko-KR" altLang="en-US" b="1" dirty="0"/>
              <a:t>버전 및 경로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실습 파일</a:t>
            </a:r>
          </a:p>
          <a:p>
            <a:pPr lvl="1"/>
            <a:r>
              <a:rPr lang="en-US" altLang="ko-KR" b="1" dirty="0"/>
              <a:t>SoC/CSHRC/</a:t>
            </a:r>
            <a:r>
              <a:rPr lang="en-US" altLang="ko-KR" b="1" dirty="0" err="1"/>
              <a:t>digital.cshrc</a:t>
            </a:r>
            <a:r>
              <a:rPr lang="ko-KR" altLang="en-US" dirty="0"/>
              <a:t> 파일 수정</a:t>
            </a:r>
          </a:p>
          <a:p>
            <a:pPr lvl="1"/>
            <a:r>
              <a:rPr lang="ko-KR" altLang="en-US" b="1" dirty="0" err="1"/>
              <a:t>독자별</a:t>
            </a:r>
            <a:r>
              <a:rPr lang="ko-KR" altLang="en-US" b="1" dirty="0"/>
              <a:t> 환경에 맞게</a:t>
            </a:r>
            <a:r>
              <a:rPr lang="ko-KR" altLang="en-US" dirty="0"/>
              <a:t> 맞춤 설정</a:t>
            </a:r>
          </a:p>
        </p:txBody>
      </p:sp>
    </p:spTree>
    <p:extLst>
      <p:ext uri="{BB962C8B-B14F-4D97-AF65-F5344CB8AC3E}">
        <p14:creationId xmlns:p14="http://schemas.microsoft.com/office/powerpoint/2010/main" val="3797041759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.</a:t>
            </a:r>
            <a:r>
              <a:rPr lang="en-US" altLang="ko-KR" sz="2400" b="1" dirty="0" err="1"/>
              <a:t>cshrc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파일 설정 및 툴 연동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b="1" dirty="0"/>
              <a:t>샘플 </a:t>
            </a:r>
            <a:r>
              <a:rPr lang="en-US" altLang="ko-KR" b="1" dirty="0" err="1"/>
              <a:t>digital.cshrc</a:t>
            </a:r>
            <a:r>
              <a:rPr lang="en-US" altLang="ko-KR" b="1" dirty="0"/>
              <a:t> </a:t>
            </a:r>
            <a:r>
              <a:rPr lang="ko-KR" altLang="en-US" b="1" dirty="0"/>
              <a:t>수정을 통한 환경 변수 설정 </a:t>
            </a:r>
          </a:p>
          <a:p>
            <a:pPr fontAlgn="base"/>
            <a:endParaRPr lang="ko-KR" altLang="en-US" dirty="0"/>
          </a:p>
          <a:p>
            <a:r>
              <a:rPr lang="ko-KR" altLang="en-US" b="1" dirty="0"/>
              <a:t>라이센스 정보 설정</a:t>
            </a:r>
          </a:p>
          <a:p>
            <a:pPr lvl="1"/>
            <a:r>
              <a:rPr lang="en-US" altLang="ko-KR" b="1" dirty="0"/>
              <a:t>CDS_LIC_FILE</a:t>
            </a:r>
            <a:r>
              <a:rPr lang="ko-KR" altLang="en-US" dirty="0"/>
              <a:t> 환경 변수 </a:t>
            </a:r>
            <a:r>
              <a:rPr lang="en-US" altLang="ko-KR" dirty="0"/>
              <a:t>(10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b="1" dirty="0"/>
              <a:t>[</a:t>
            </a:r>
            <a:r>
              <a:rPr lang="ko-KR" altLang="en-US" b="1" dirty="0"/>
              <a:t>라이선스 포트</a:t>
            </a:r>
            <a:r>
              <a:rPr lang="en-US" altLang="ko-KR" b="1" dirty="0"/>
              <a:t>@</a:t>
            </a:r>
            <a:r>
              <a:rPr lang="ko-KR" altLang="en-US" b="1" dirty="0"/>
              <a:t>서버 </a:t>
            </a:r>
            <a:r>
              <a:rPr lang="en-US" altLang="ko-KR" b="1" dirty="0"/>
              <a:t>IP]</a:t>
            </a:r>
            <a:r>
              <a:rPr lang="ko-KR" altLang="en-US" dirty="0"/>
              <a:t> 형식</a:t>
            </a:r>
          </a:p>
          <a:p>
            <a:pPr lvl="1"/>
            <a:r>
              <a:rPr lang="ko-KR" altLang="en-US" b="1" dirty="0"/>
              <a:t>라이선스 구매처에 문의</a:t>
            </a:r>
            <a:r>
              <a:rPr lang="ko-KR" altLang="en-US" dirty="0"/>
              <a:t> 필요</a:t>
            </a:r>
          </a:p>
          <a:p>
            <a:r>
              <a:rPr lang="ko-KR" altLang="en-US" b="1" dirty="0"/>
              <a:t>툴 설치 경로 설정</a:t>
            </a:r>
          </a:p>
          <a:p>
            <a:pPr lvl="1"/>
            <a:r>
              <a:rPr lang="en-US" altLang="ko-KR" b="1" dirty="0"/>
              <a:t>CDS_INST_DIR</a:t>
            </a:r>
            <a:r>
              <a:rPr lang="ko-KR" altLang="en-US" dirty="0"/>
              <a:t> 변수 </a:t>
            </a:r>
            <a:r>
              <a:rPr lang="en-US" altLang="ko-KR" dirty="0"/>
              <a:t>(13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CADENCE </a:t>
            </a:r>
            <a:r>
              <a:rPr lang="ko-KR" altLang="en-US" b="1" dirty="0"/>
              <a:t>최상위 폴더</a:t>
            </a:r>
            <a:r>
              <a:rPr lang="ko-KR" altLang="en-US" dirty="0"/>
              <a:t> 경로</a:t>
            </a:r>
          </a:p>
          <a:p>
            <a:pPr lvl="1"/>
            <a:r>
              <a:rPr lang="ko-KR" altLang="en-US" b="1" dirty="0" err="1"/>
              <a:t>독자별</a:t>
            </a:r>
            <a:r>
              <a:rPr lang="ko-KR" altLang="en-US" b="1" dirty="0"/>
              <a:t> 설치 경로로 수정</a:t>
            </a:r>
            <a:r>
              <a:rPr lang="ko-KR" altLang="en-US" dirty="0"/>
              <a:t> 필요</a:t>
            </a:r>
          </a:p>
          <a:p>
            <a:endParaRPr lang="en-US" altLang="ko-KR" b="1" dirty="0"/>
          </a:p>
          <a:p>
            <a:r>
              <a:rPr lang="ko-KR" altLang="en-US" b="1" dirty="0"/>
              <a:t>주의사항</a:t>
            </a:r>
          </a:p>
          <a:p>
            <a:pPr lvl="1"/>
            <a:r>
              <a:rPr lang="ko-KR" altLang="en-US" b="1" dirty="0"/>
              <a:t>변수명은 수정 금지</a:t>
            </a:r>
            <a:endParaRPr lang="ko-KR" altLang="en-US" dirty="0"/>
          </a:p>
          <a:p>
            <a:pPr lvl="1"/>
            <a:r>
              <a:rPr lang="ko-KR" altLang="en-US" b="1" dirty="0"/>
              <a:t>경로만 정확하게 수정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76D9AC-6435-4A0A-969F-546F964EDE35}"/>
              </a:ext>
            </a:extLst>
          </p:cNvPr>
          <p:cNvSpPr/>
          <p:nvPr/>
        </p:nvSpPr>
        <p:spPr>
          <a:xfrm>
            <a:off x="6360568" y="3429000"/>
            <a:ext cx="3906981" cy="836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vim SoC/CSHRC/</a:t>
            </a:r>
            <a:r>
              <a:rPr lang="en-US" altLang="ko-KR" b="1" i="1" dirty="0" err="1"/>
              <a:t>digital.cshrc</a:t>
            </a:r>
            <a:r>
              <a:rPr lang="en-US" altLang="ko-KR" b="1" i="1" dirty="0"/>
              <a:t> </a:t>
            </a:r>
            <a:endParaRPr lang="en-US" altLang="ko-KR" dirty="0"/>
          </a:p>
        </p:txBody>
      </p:sp>
      <p:pic>
        <p:nvPicPr>
          <p:cNvPr id="6" name="Picture 21">
            <a:extLst>
              <a:ext uri="{FF2B5EF4-FFF2-40B4-BE49-F238E27FC236}">
                <a16:creationId xmlns:a16="http://schemas.microsoft.com/office/drawing/2014/main" id="{B8189628-92D1-4296-9E26-8A044FAA2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60568" y="4521257"/>
            <a:ext cx="5526632" cy="107796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92226942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.</a:t>
            </a:r>
            <a:r>
              <a:rPr lang="en-US" altLang="ko-KR" sz="2400" b="1" dirty="0" err="1"/>
              <a:t>cshrc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파일 설정 및 툴 연동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b="1" dirty="0"/>
              <a:t>샘플 </a:t>
            </a:r>
            <a:r>
              <a:rPr lang="en-US" altLang="ko-KR" b="1" dirty="0" err="1"/>
              <a:t>digital.cshrc</a:t>
            </a:r>
            <a:r>
              <a:rPr lang="en-US" altLang="ko-KR" b="1" dirty="0"/>
              <a:t> </a:t>
            </a:r>
            <a:r>
              <a:rPr lang="ko-KR" altLang="en-US" b="1" dirty="0"/>
              <a:t>수정을 통한 환경 변수 설정 </a:t>
            </a:r>
          </a:p>
          <a:p>
            <a:pPr fontAlgn="base"/>
            <a:endParaRPr lang="ko-KR" altLang="en-US" dirty="0"/>
          </a:p>
          <a:p>
            <a:r>
              <a:rPr lang="ko-KR" altLang="en-US" b="1" dirty="0"/>
              <a:t>개별 툴 경로 설정 </a:t>
            </a:r>
            <a:r>
              <a:rPr lang="en-US" altLang="ko-KR" b="1" dirty="0"/>
              <a:t>(21, 25, 31, 36, 41, 46</a:t>
            </a:r>
            <a:r>
              <a:rPr lang="ko-KR" altLang="en-US" b="1" dirty="0"/>
              <a:t>행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b="1" dirty="0"/>
              <a:t>XCELIUM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시뮬레이션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GENUS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합성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CONFORMAL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등가 검증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INNOVUS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배치 및 배선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TEMPUS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타이밍 분석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VIRTUOSO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레이아웃</a:t>
            </a:r>
            <a:r>
              <a:rPr lang="en-US" altLang="ko-KR" dirty="0"/>
              <a:t>)</a:t>
            </a:r>
          </a:p>
          <a:p>
            <a:endParaRPr lang="en-US" altLang="ko-KR" b="1" dirty="0"/>
          </a:p>
          <a:p>
            <a:pPr lvl="1"/>
            <a:endParaRPr lang="ko-KR" altLang="en-US" dirty="0"/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20704CDC-FECA-431C-8000-D1BC1446D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78289" y="5065603"/>
            <a:ext cx="6659107" cy="1284973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84801069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.</a:t>
            </a:r>
            <a:r>
              <a:rPr lang="en-US" altLang="ko-KR" sz="2400" b="1" dirty="0" err="1"/>
              <a:t>cshrc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파일 설정 및 툴 연동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b="1" dirty="0"/>
              <a:t>샘플 </a:t>
            </a:r>
            <a:r>
              <a:rPr lang="en-US" altLang="ko-KR" b="1" dirty="0" err="1"/>
              <a:t>digital.cshrc</a:t>
            </a:r>
            <a:r>
              <a:rPr lang="en-US" altLang="ko-KR" b="1" dirty="0"/>
              <a:t> </a:t>
            </a:r>
            <a:r>
              <a:rPr lang="ko-KR" altLang="en-US" b="1" dirty="0"/>
              <a:t>수정을 통한 환경 변수 설정 </a:t>
            </a:r>
          </a:p>
          <a:p>
            <a:pPr fontAlgn="base"/>
            <a:endParaRPr lang="ko-KR" altLang="en-US" dirty="0"/>
          </a:p>
          <a:p>
            <a:r>
              <a:rPr lang="en-US" altLang="ko-KR" b="1" dirty="0"/>
              <a:t>PATH </a:t>
            </a:r>
            <a:r>
              <a:rPr lang="ko-KR" altLang="en-US" b="1" dirty="0"/>
              <a:t>변수 자동 설정</a:t>
            </a:r>
          </a:p>
          <a:p>
            <a:pPr lvl="1"/>
            <a:r>
              <a:rPr lang="ko-KR" altLang="en-US" b="1" dirty="0"/>
              <a:t>각 툴의 </a:t>
            </a:r>
            <a:r>
              <a:rPr lang="en-US" altLang="ko-KR" b="1" dirty="0"/>
              <a:t>bin </a:t>
            </a:r>
            <a:r>
              <a:rPr lang="ko-KR" altLang="en-US" b="1" dirty="0"/>
              <a:t>폴더</a:t>
            </a:r>
            <a:r>
              <a:rPr lang="ko-KR" altLang="en-US" dirty="0"/>
              <a:t> 경로 자동 추가</a:t>
            </a:r>
          </a:p>
          <a:p>
            <a:pPr lvl="1"/>
            <a:r>
              <a:rPr lang="ko-KR" altLang="en-US" b="1" dirty="0"/>
              <a:t>어느 </a:t>
            </a:r>
            <a:r>
              <a:rPr lang="ko-KR" altLang="en-US" b="1" dirty="0" err="1"/>
              <a:t>위치에서든</a:t>
            </a:r>
            <a:r>
              <a:rPr lang="ko-KR" altLang="en-US" b="1" dirty="0"/>
              <a:t> 툴 실행</a:t>
            </a:r>
            <a:r>
              <a:rPr lang="ko-KR" altLang="en-US" dirty="0"/>
              <a:t> 가능</a:t>
            </a:r>
          </a:p>
          <a:p>
            <a:endParaRPr lang="en-US" altLang="ko-KR" dirty="0"/>
          </a:p>
          <a:p>
            <a:r>
              <a:rPr lang="en-US" altLang="ko-KR" b="1" dirty="0"/>
              <a:t>OA_HOME </a:t>
            </a:r>
            <a:r>
              <a:rPr lang="ko-KR" altLang="en-US" b="1" dirty="0"/>
              <a:t>변수 설정 </a:t>
            </a:r>
            <a:r>
              <a:rPr lang="en-US" altLang="ko-KR" b="1" dirty="0"/>
              <a:t>(33</a:t>
            </a:r>
            <a:r>
              <a:rPr lang="ko-KR" altLang="en-US" b="1" dirty="0"/>
              <a:t>행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b="1" dirty="0"/>
              <a:t>Open Access </a:t>
            </a:r>
            <a:r>
              <a:rPr lang="ko-KR" altLang="en-US" b="1" dirty="0"/>
              <a:t>포맷</a:t>
            </a:r>
            <a:r>
              <a:rPr lang="ko-KR" altLang="en-US" dirty="0"/>
              <a:t> 접근용</a:t>
            </a:r>
          </a:p>
          <a:p>
            <a:pPr lvl="1"/>
            <a:r>
              <a:rPr lang="en-US" altLang="ko-KR" b="1" dirty="0" err="1"/>
              <a:t>Innovus</a:t>
            </a:r>
            <a:r>
              <a:rPr lang="en-US" altLang="ko-KR" b="1" dirty="0"/>
              <a:t> </a:t>
            </a:r>
            <a:r>
              <a:rPr lang="ko-KR" altLang="en-US" b="1" dirty="0"/>
              <a:t>설치 폴더</a:t>
            </a:r>
            <a:r>
              <a:rPr lang="ko-KR" altLang="en-US" dirty="0"/>
              <a:t> 하위 </a:t>
            </a:r>
            <a:r>
              <a:rPr lang="en-US" altLang="ko-KR" dirty="0" err="1"/>
              <a:t>oa</a:t>
            </a:r>
            <a:r>
              <a:rPr lang="en-US" altLang="ko-KR" dirty="0"/>
              <a:t> </a:t>
            </a:r>
            <a:r>
              <a:rPr lang="ko-KR" altLang="en-US" dirty="0"/>
              <a:t>폴더</a:t>
            </a:r>
          </a:p>
          <a:p>
            <a:pPr lvl="1"/>
            <a:r>
              <a:rPr lang="ko-KR" altLang="en-US" b="1" dirty="0"/>
              <a:t>본인 경로에 맞게</a:t>
            </a:r>
            <a:r>
              <a:rPr lang="ko-KR" altLang="en-US" dirty="0"/>
              <a:t> 기재</a:t>
            </a:r>
          </a:p>
          <a:p>
            <a:endParaRPr lang="ko-KR" altLang="en-US" dirty="0"/>
          </a:p>
        </p:txBody>
      </p:sp>
      <p:pic>
        <p:nvPicPr>
          <p:cNvPr id="9" name="Picture 24">
            <a:extLst>
              <a:ext uri="{FF2B5EF4-FFF2-40B4-BE49-F238E27FC236}">
                <a16:creationId xmlns:a16="http://schemas.microsoft.com/office/drawing/2014/main" id="{C236DB26-D5BD-43FF-BBBE-0478F4DAF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45271" y="5270345"/>
            <a:ext cx="5976772" cy="80833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441327889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.</a:t>
            </a:r>
            <a:r>
              <a:rPr lang="en-US" altLang="ko-KR" sz="2400" b="1" dirty="0" err="1"/>
              <a:t>cshrc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파일 설정 및 툴 연동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dirty="0"/>
              <a:t>리눅스 시스템에 적용 및 검토</a:t>
            </a:r>
            <a:endParaRPr lang="en-US" altLang="ko-KR" dirty="0"/>
          </a:p>
          <a:p>
            <a:pPr lvl="1" fontAlgn="base"/>
            <a:r>
              <a:rPr lang="en-US" altLang="ko-KR" dirty="0"/>
              <a:t>source </a:t>
            </a:r>
            <a:r>
              <a:rPr lang="ko-KR" altLang="en-US" dirty="0"/>
              <a:t>명령으로 리눅스 시스템 전반에 적용 </a:t>
            </a:r>
            <a:endParaRPr lang="en-US" altLang="ko-KR" dirty="0"/>
          </a:p>
          <a:p>
            <a:pPr lvl="1" fontAlgn="base"/>
            <a:r>
              <a:rPr lang="ko-KR" altLang="en-US" dirty="0"/>
              <a:t>확인 명령 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30B39E-52A8-4E2A-9D58-25F953C67B21}"/>
              </a:ext>
            </a:extLst>
          </p:cNvPr>
          <p:cNvSpPr/>
          <p:nvPr/>
        </p:nvSpPr>
        <p:spPr>
          <a:xfrm>
            <a:off x="6216943" y="1636467"/>
            <a:ext cx="5188293" cy="827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fr-FR" altLang="ko-KR" b="1" i="1" dirty="0"/>
              <a:t>$&gt; source ~/SoC/CSHRC/digital.cshrc</a:t>
            </a:r>
          </a:p>
          <a:p>
            <a:pPr fontAlgn="base"/>
            <a:r>
              <a:rPr lang="en-US" altLang="ko-KR" b="1" i="1" dirty="0"/>
              <a:t>$&gt; </a:t>
            </a:r>
            <a:r>
              <a:rPr lang="en-US" altLang="ko-KR" b="1" i="1" dirty="0" err="1"/>
              <a:t>setenv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which </a:t>
            </a:r>
            <a:r>
              <a:rPr lang="en-US" altLang="ko-KR" b="1" i="1" dirty="0" err="1"/>
              <a:t>xrun</a:t>
            </a:r>
            <a:r>
              <a:rPr lang="en-US" altLang="ko-KR" b="1" i="1" dirty="0"/>
              <a:t> </a:t>
            </a:r>
            <a:endParaRPr lang="fr-FR" altLang="ko-KR" dirty="0"/>
          </a:p>
        </p:txBody>
      </p:sp>
      <p:pic>
        <p:nvPicPr>
          <p:cNvPr id="6" name="Picture 26">
            <a:extLst>
              <a:ext uri="{FF2B5EF4-FFF2-40B4-BE49-F238E27FC236}">
                <a16:creationId xmlns:a16="http://schemas.microsoft.com/office/drawing/2014/main" id="{EE6CB831-67BB-4A84-961C-E4C5083E3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110" y="2801566"/>
            <a:ext cx="4991072" cy="374303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7" name="Picture 28">
            <a:extLst>
              <a:ext uri="{FF2B5EF4-FFF2-40B4-BE49-F238E27FC236}">
                <a16:creationId xmlns:a16="http://schemas.microsoft.com/office/drawing/2014/main" id="{BEDD9413-24FE-4374-BD6B-A986DEC3A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51585" y="2801566"/>
            <a:ext cx="5919011" cy="63980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23657191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2.2 GPDK 045 </a:t>
            </a:r>
            <a:r>
              <a:rPr lang="ko-KR" altLang="en-US" dirty="0"/>
              <a:t>구성 및 실습 환경 준비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2.2.3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.</a:t>
            </a:r>
            <a:r>
              <a:rPr lang="en-US" altLang="ko-KR" sz="2400" b="1" dirty="0" err="1"/>
              <a:t>cshrc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파일 설정 및 툴 연동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en-US" altLang="ko-KR" dirty="0" err="1"/>
              <a:t>digital.cshrc</a:t>
            </a:r>
            <a:r>
              <a:rPr lang="en-US" altLang="ko-KR" dirty="0"/>
              <a:t> </a:t>
            </a:r>
            <a:r>
              <a:rPr lang="ko-KR" altLang="en-US" dirty="0"/>
              <a:t>샘플 </a:t>
            </a:r>
            <a:endParaRPr lang="en-US" altLang="ko-KR" dirty="0"/>
          </a:p>
          <a:p>
            <a:pPr lvl="1" fontAlgn="base"/>
            <a:r>
              <a:rPr lang="en-US" altLang="ko-KR" dirty="0"/>
              <a:t>#4</a:t>
            </a:r>
            <a:r>
              <a:rPr lang="ko-KR" altLang="en-US" dirty="0"/>
              <a:t>번까지의 툴 사용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512258-D5F5-4973-A434-F2AEB4E44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2" y="2549153"/>
            <a:ext cx="6810375" cy="3705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3805933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823248" y="1762290"/>
            <a:ext cx="10324364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실습 </a:t>
            </a:r>
            <a:r>
              <a:rPr lang="en-US" altLang="ko-KR" sz="4800" dirty="0"/>
              <a:t>: STD </a:t>
            </a:r>
            <a:r>
              <a:rPr lang="ko-KR" altLang="en-US" sz="4800" dirty="0"/>
              <a:t>셀 테스트와 해석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3719323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2.3.1 </a:t>
            </a:r>
            <a:r>
              <a:rPr lang="ko-KR" altLang="en-US" sz="2400" b="1" dirty="0"/>
              <a:t>실습 개요 및 환경 설정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STD </a:t>
            </a:r>
            <a:r>
              <a:rPr lang="ko-KR" altLang="en-US" b="1" dirty="0"/>
              <a:t>셀 테스트 목적</a:t>
            </a:r>
          </a:p>
          <a:p>
            <a:pPr lvl="1"/>
            <a:r>
              <a:rPr lang="en-US" altLang="ko-KR" b="1" dirty="0"/>
              <a:t>GPDK045 </a:t>
            </a:r>
            <a:r>
              <a:rPr lang="ko-KR" altLang="en-US" b="1" dirty="0"/>
              <a:t>스탠다드 셀</a:t>
            </a:r>
            <a:r>
              <a:rPr lang="ko-KR" altLang="en-US" dirty="0"/>
              <a:t> 동작 확인</a:t>
            </a:r>
          </a:p>
          <a:p>
            <a:pPr lvl="1"/>
            <a:r>
              <a:rPr lang="ko-KR" altLang="en-US" b="1" dirty="0"/>
              <a:t>시뮬레이션 결과 분석</a:t>
            </a:r>
            <a:r>
              <a:rPr lang="ko-KR" altLang="en-US" dirty="0"/>
              <a:t> 방법 습득</a:t>
            </a:r>
          </a:p>
          <a:p>
            <a:pPr lvl="1"/>
            <a:r>
              <a:rPr lang="ko-KR" altLang="en-US" b="1" dirty="0"/>
              <a:t>다양한 환경</a:t>
            </a:r>
            <a:r>
              <a:rPr lang="ko-KR" altLang="en-US" dirty="0"/>
              <a:t>에서 특성 파악</a:t>
            </a:r>
          </a:p>
          <a:p>
            <a:endParaRPr lang="en-US" altLang="ko-KR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가지 </a:t>
            </a:r>
            <a:r>
              <a:rPr lang="en-US" altLang="ko-KR" b="1" dirty="0"/>
              <a:t>LAB </a:t>
            </a:r>
            <a:r>
              <a:rPr lang="ko-KR" altLang="en-US" b="1" dirty="0"/>
              <a:t>구성</a:t>
            </a:r>
          </a:p>
          <a:p>
            <a:pPr lvl="1"/>
            <a:r>
              <a:rPr lang="en-US" altLang="ko-KR" b="1" dirty="0"/>
              <a:t>LAB1</a:t>
            </a:r>
            <a:r>
              <a:rPr lang="en-US" altLang="ko-KR" dirty="0"/>
              <a:t>: </a:t>
            </a:r>
            <a:r>
              <a:rPr lang="en-US" altLang="ko-KR" dirty="0" err="1"/>
              <a:t>SimVision</a:t>
            </a:r>
            <a:r>
              <a:rPr lang="en-US" altLang="ko-KR" dirty="0"/>
              <a:t> GUI </a:t>
            </a:r>
            <a:r>
              <a:rPr lang="ko-KR" altLang="en-US" dirty="0"/>
              <a:t>기본 동작</a:t>
            </a:r>
          </a:p>
          <a:p>
            <a:pPr lvl="1"/>
            <a:r>
              <a:rPr lang="en-US" altLang="ko-KR" b="1" dirty="0"/>
              <a:t>LAB2</a:t>
            </a:r>
            <a:r>
              <a:rPr lang="en-US" altLang="ko-KR" dirty="0"/>
              <a:t>: CLI + </a:t>
            </a:r>
            <a:r>
              <a:rPr lang="ko-KR" altLang="en-US" dirty="0"/>
              <a:t>덤프 데이터 분석</a:t>
            </a:r>
          </a:p>
          <a:p>
            <a:pPr lvl="1"/>
            <a:r>
              <a:rPr lang="en-US" altLang="ko-KR" b="1" dirty="0"/>
              <a:t>LAB3</a:t>
            </a:r>
            <a:r>
              <a:rPr lang="en-US" altLang="ko-KR" dirty="0"/>
              <a:t>: 1GHz </a:t>
            </a:r>
            <a:r>
              <a:rPr lang="ko-KR" altLang="en-US" dirty="0"/>
              <a:t>고속 동작 검증</a:t>
            </a:r>
          </a:p>
          <a:p>
            <a:endParaRPr lang="en-US" altLang="ko-KR" b="1" dirty="0"/>
          </a:p>
          <a:p>
            <a:r>
              <a:rPr lang="ko-KR" altLang="en-US" b="1" dirty="0"/>
              <a:t>공통적인 파일 구성</a:t>
            </a:r>
          </a:p>
          <a:p>
            <a:pPr lvl="1"/>
            <a:r>
              <a:rPr lang="en-US" altLang="ko-KR" b="1" dirty="0"/>
              <a:t>README, </a:t>
            </a:r>
            <a:r>
              <a:rPr lang="en-US" altLang="ko-KR" b="1" dirty="0" err="1"/>
              <a:t>TB_std_cell.v</a:t>
            </a:r>
            <a:endParaRPr lang="ko-KR" altLang="en-US" dirty="0"/>
          </a:p>
          <a:p>
            <a:pPr lvl="1"/>
            <a:r>
              <a:rPr lang="en-US" altLang="ko-KR" b="1" dirty="0" err="1"/>
              <a:t>clean.tcl</a:t>
            </a:r>
            <a:r>
              <a:rPr lang="en-US" altLang="ko-KR" b="1" dirty="0"/>
              <a:t>, </a:t>
            </a:r>
            <a:r>
              <a:rPr lang="en-US" altLang="ko-KR" b="1" dirty="0" err="1"/>
              <a:t>run_function.tcl</a:t>
            </a:r>
            <a:endParaRPr lang="ko-KR" altLang="en-US" dirty="0"/>
          </a:p>
          <a:p>
            <a:pPr lvl="1"/>
            <a:r>
              <a:rPr lang="en-US" altLang="ko-KR" b="1" dirty="0"/>
              <a:t>dump, log</a:t>
            </a:r>
            <a:r>
              <a:rPr lang="ko-KR" altLang="en-US" dirty="0"/>
              <a:t> 폴더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FCDE31-CA58-4DFD-8310-16160CF4AEDB}"/>
              </a:ext>
            </a:extLst>
          </p:cNvPr>
          <p:cNvSpPr/>
          <p:nvPr/>
        </p:nvSpPr>
        <p:spPr>
          <a:xfrm>
            <a:off x="5783371" y="5267894"/>
            <a:ext cx="5188293" cy="639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13579248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LAB1 </a:t>
            </a:r>
            <a:r>
              <a:rPr lang="ko-KR" altLang="en-US" b="1" dirty="0"/>
              <a:t>학습 목표</a:t>
            </a:r>
          </a:p>
          <a:p>
            <a:pPr lvl="1"/>
            <a:r>
              <a:rPr lang="en-US" altLang="ko-KR" b="1" dirty="0" err="1"/>
              <a:t>SimVision</a:t>
            </a:r>
            <a:r>
              <a:rPr lang="en-US" altLang="ko-KR" b="1" dirty="0"/>
              <a:t> GUI</a:t>
            </a:r>
            <a:r>
              <a:rPr lang="ko-KR" altLang="en-US" dirty="0"/>
              <a:t> 사용한 시뮬레이션</a:t>
            </a:r>
          </a:p>
          <a:p>
            <a:pPr lvl="1" fontAlgn="base"/>
            <a:r>
              <a:rPr lang="en-US" altLang="ko-KR" dirty="0"/>
              <a:t>Standard cell</a:t>
            </a:r>
            <a:r>
              <a:rPr lang="ko-KR" altLang="en-US" dirty="0"/>
              <a:t>의 게이트 동작을 </a:t>
            </a:r>
            <a:r>
              <a:rPr lang="ko-KR" altLang="en-US" dirty="0" err="1"/>
              <a:t>시뮬레이션한다</a:t>
            </a:r>
            <a:r>
              <a:rPr lang="en-US" altLang="ko-KR" dirty="0"/>
              <a:t>. </a:t>
            </a:r>
            <a:endParaRPr lang="ko-KR" altLang="en-US" sz="1400" dirty="0"/>
          </a:p>
          <a:p>
            <a:pPr lvl="1" fontAlgn="base"/>
            <a:r>
              <a:rPr lang="en-US" altLang="ko-KR" dirty="0"/>
              <a:t>-</a:t>
            </a:r>
            <a:r>
              <a:rPr lang="en-US" altLang="ko-KR" dirty="0" err="1"/>
              <a:t>gui</a:t>
            </a:r>
            <a:r>
              <a:rPr lang="en-US" altLang="ko-KR" dirty="0"/>
              <a:t> </a:t>
            </a:r>
            <a:r>
              <a:rPr lang="ko-KR" altLang="en-US" dirty="0"/>
              <a:t>옵션을 통해 시뮬레이션 결과를 확인한다</a:t>
            </a:r>
            <a:r>
              <a:rPr lang="en-US" altLang="ko-KR" dirty="0"/>
              <a:t>. </a:t>
            </a:r>
            <a:endParaRPr lang="ko-KR" altLang="en-US" sz="1400" dirty="0"/>
          </a:p>
          <a:p>
            <a:pPr lvl="1" fontAlgn="base"/>
            <a:r>
              <a:rPr lang="en-US" altLang="ko-KR" dirty="0"/>
              <a:t>dump </a:t>
            </a:r>
            <a:r>
              <a:rPr lang="ko-KR" altLang="en-US" dirty="0"/>
              <a:t>폴더에 시뮬레이션 파형이 자동으로 입력되는지 확인한다</a:t>
            </a:r>
            <a:r>
              <a:rPr lang="en-US" altLang="ko-KR" dirty="0"/>
              <a:t>. </a:t>
            </a:r>
            <a:endParaRPr lang="ko-KR" altLang="en-US" sz="1400" dirty="0"/>
          </a:p>
          <a:p>
            <a:pPr lvl="1" fontAlgn="base"/>
            <a:r>
              <a:rPr lang="ko-KR" altLang="en-US" dirty="0"/>
              <a:t>시뮬레이션 </a:t>
            </a:r>
            <a:r>
              <a:rPr lang="en-US" altLang="ko-KR" dirty="0"/>
              <a:t>start </a:t>
            </a:r>
            <a:r>
              <a:rPr lang="ko-KR" altLang="en-US" dirty="0"/>
              <a:t>후</a:t>
            </a:r>
            <a:r>
              <a:rPr lang="en-US" altLang="ko-KR" dirty="0"/>
              <a:t>, </a:t>
            </a:r>
            <a:r>
              <a:rPr lang="ko-KR" altLang="en-US" dirty="0"/>
              <a:t>정해진 시간에 </a:t>
            </a:r>
            <a:r>
              <a:rPr lang="en-US" altLang="ko-KR" dirty="0"/>
              <a:t>stop </a:t>
            </a:r>
            <a:r>
              <a:rPr lang="ko-KR" altLang="en-US" dirty="0"/>
              <a:t>확인한다</a:t>
            </a:r>
            <a:r>
              <a:rPr lang="en-US" altLang="ko-KR" dirty="0"/>
              <a:t>.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48321B-37EC-4D6D-9E40-5EAAFB3A3293}"/>
              </a:ext>
            </a:extLst>
          </p:cNvPr>
          <p:cNvSpPr/>
          <p:nvPr/>
        </p:nvSpPr>
        <p:spPr>
          <a:xfrm>
            <a:off x="852567" y="4087005"/>
            <a:ext cx="5791424" cy="729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/LAB1 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</a:t>
            </a:r>
            <a:r>
              <a:rPr lang="en-US" altLang="ko-KR" b="1" i="1" dirty="0" err="1"/>
              <a:t>ll</a:t>
            </a:r>
            <a:endParaRPr lang="en-US" altLang="ko-KR" dirty="0"/>
          </a:p>
        </p:txBody>
      </p:sp>
      <p:pic>
        <p:nvPicPr>
          <p:cNvPr id="6" name="Picture 30">
            <a:extLst>
              <a:ext uri="{FF2B5EF4-FFF2-40B4-BE49-F238E27FC236}">
                <a16:creationId xmlns:a16="http://schemas.microsoft.com/office/drawing/2014/main" id="{177721CC-2567-4D3F-9ABF-BDB67DCA9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89954" y="4986844"/>
            <a:ext cx="6105241" cy="1631489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56828639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README </a:t>
            </a:r>
            <a:r>
              <a:rPr lang="ko-KR" altLang="en-US" b="1" dirty="0"/>
              <a:t>파일 </a:t>
            </a:r>
          </a:p>
          <a:p>
            <a:pPr lvl="1"/>
            <a:r>
              <a:rPr lang="en-US" altLang="ko-KR" b="1" dirty="0"/>
              <a:t>-</a:t>
            </a:r>
            <a:r>
              <a:rPr lang="en-US" altLang="ko-KR" b="1" dirty="0" err="1"/>
              <a:t>gui</a:t>
            </a:r>
            <a:r>
              <a:rPr lang="en-US" altLang="ko-KR" b="1" dirty="0"/>
              <a:t> </a:t>
            </a:r>
            <a:r>
              <a:rPr lang="ko-KR" altLang="en-US" b="1" dirty="0"/>
              <a:t>옵션</a:t>
            </a:r>
            <a:r>
              <a:rPr lang="ko-KR" altLang="en-US" dirty="0"/>
              <a:t>으로 </a:t>
            </a:r>
            <a:r>
              <a:rPr lang="en-US" altLang="ko-KR" dirty="0" err="1"/>
              <a:t>SimVision</a:t>
            </a:r>
            <a:r>
              <a:rPr lang="en-US" altLang="ko-KR" dirty="0"/>
              <a:t> </a:t>
            </a:r>
            <a:r>
              <a:rPr lang="ko-KR" altLang="en-US" dirty="0"/>
              <a:t>자동 시작</a:t>
            </a:r>
          </a:p>
          <a:p>
            <a:pPr lvl="1"/>
            <a:r>
              <a:rPr lang="ko-KR" altLang="en-US" b="1" dirty="0"/>
              <a:t>정해진 시간에</a:t>
            </a:r>
            <a:r>
              <a:rPr lang="ko-KR" altLang="en-US" dirty="0"/>
              <a:t> 시뮬레이션 정지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48321B-37EC-4D6D-9E40-5EAAFB3A3293}"/>
              </a:ext>
            </a:extLst>
          </p:cNvPr>
          <p:cNvSpPr/>
          <p:nvPr/>
        </p:nvSpPr>
        <p:spPr>
          <a:xfrm>
            <a:off x="1193035" y="3273976"/>
            <a:ext cx="2338105" cy="44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vim README</a:t>
            </a:r>
            <a:endParaRPr lang="en-US" altLang="ko-KR" dirty="0"/>
          </a:p>
        </p:txBody>
      </p:sp>
      <p:pic>
        <p:nvPicPr>
          <p:cNvPr id="7" name="Picture 31">
            <a:extLst>
              <a:ext uri="{FF2B5EF4-FFF2-40B4-BE49-F238E27FC236}">
                <a16:creationId xmlns:a16="http://schemas.microsoft.com/office/drawing/2014/main" id="{B4C55688-6035-4568-9031-A86F7F6CE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3000" y="4020671"/>
            <a:ext cx="6344752" cy="2271273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612210096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en-US" altLang="ko-KR" b="1" dirty="0" err="1"/>
              <a:t>run_function.tcl</a:t>
            </a:r>
            <a:r>
              <a:rPr lang="en-US" altLang="ko-KR" b="1" dirty="0"/>
              <a:t> </a:t>
            </a:r>
            <a:r>
              <a:rPr lang="ko-KR" altLang="en-US" b="1" dirty="0"/>
              <a:t>파일 </a:t>
            </a:r>
          </a:p>
          <a:p>
            <a:pPr fontAlgn="base"/>
            <a:endParaRPr lang="ko-KR" altLang="en-US" dirty="0"/>
          </a:p>
        </p:txBody>
      </p:sp>
      <p:pic>
        <p:nvPicPr>
          <p:cNvPr id="8" name="Picture 33">
            <a:extLst>
              <a:ext uri="{FF2B5EF4-FFF2-40B4-BE49-F238E27FC236}">
                <a16:creationId xmlns:a16="http://schemas.microsoft.com/office/drawing/2014/main" id="{BAC6CF9D-F2F5-4CF8-92E3-6B02775AE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2424" y="2078275"/>
            <a:ext cx="9356165" cy="205271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69486D3-C8DE-41D9-9BE5-19EDAEC06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023503"/>
              </p:ext>
            </p:extLst>
          </p:nvPr>
        </p:nvGraphicFramePr>
        <p:xfrm>
          <a:off x="3075145" y="4289797"/>
          <a:ext cx="5319826" cy="2531511"/>
        </p:xfrm>
        <a:graphic>
          <a:graphicData uri="http://schemas.openxmlformats.org/drawingml/2006/table">
            <a:tbl>
              <a:tblPr/>
              <a:tblGrid>
                <a:gridCol w="5319826">
                  <a:extLst>
                    <a:ext uri="{9D8B030D-6E8A-4147-A177-3AD203B41FA5}">
                      <a16:colId xmlns:a16="http://schemas.microsoft.com/office/drawing/2014/main" val="3240181751"/>
                    </a:ext>
                  </a:extLst>
                </a:gridCol>
              </a:tblGrid>
              <a:tr h="25315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-64bit : 64bit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환경에서 시뮬레이션 실행한다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+max_err_count+50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에러 검출을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50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개까지 할 수 있다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+define+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함수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함수를 정의한다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-access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접근 권한을 부여한다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(r: read, w: write, c: execute)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-profile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디자인의 런타임 프로필을 생성한다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profthread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스레드 된 프로세스가 프로파일 되도록 허용한다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∙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gui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: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그래픽 사용자 인터페이스 호출한다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428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425469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 err="1"/>
              <a:t>TB_std_cell.v</a:t>
            </a:r>
            <a:r>
              <a:rPr lang="en-US" altLang="ko-KR" b="1" dirty="0"/>
              <a:t> </a:t>
            </a:r>
            <a:r>
              <a:rPr lang="ko-KR" altLang="en-US" b="1" dirty="0"/>
              <a:t>구성</a:t>
            </a:r>
          </a:p>
          <a:p>
            <a:pPr lvl="1"/>
            <a:r>
              <a:rPr lang="en-US" altLang="ko-KR" b="1" dirty="0"/>
              <a:t>2-input AND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  <a:p>
            <a:pPr lvl="1"/>
            <a:r>
              <a:rPr lang="en-US" altLang="ko-KR" b="1" dirty="0"/>
              <a:t>2-input XOR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  <a:p>
            <a:pPr lvl="1"/>
            <a:r>
              <a:rPr lang="en-US" altLang="ko-KR" b="1" dirty="0"/>
              <a:t>inverter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  <a:p>
            <a:pPr lvl="1"/>
            <a:r>
              <a:rPr lang="en-US" altLang="ko-KR" b="1" dirty="0"/>
              <a:t>D Flip Flop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</a:p>
          <a:p>
            <a:endParaRPr lang="ko-KR" altLang="en-US" dirty="0"/>
          </a:p>
        </p:txBody>
      </p:sp>
      <p:pic>
        <p:nvPicPr>
          <p:cNvPr id="8" name="Picture 36">
            <a:extLst>
              <a:ext uri="{FF2B5EF4-FFF2-40B4-BE49-F238E27FC236}">
                <a16:creationId xmlns:a16="http://schemas.microsoft.com/office/drawing/2014/main" id="{F3AF11F0-F36D-4959-9A1B-4A06B1451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51854" y="1587655"/>
            <a:ext cx="6476579" cy="4859964"/>
          </a:xfrm>
          <a:prstGeom prst="rect">
            <a:avLst/>
          </a:prstGeom>
          <a:noFill/>
          <a:ln w="0" cap="rnd">
            <a:solidFill>
              <a:schemeClr val="tx1"/>
            </a:solidFill>
            <a:prstDash val="solid"/>
            <a:round/>
          </a:ln>
          <a:effectLst/>
        </p:spPr>
      </p:pic>
      <p:pic>
        <p:nvPicPr>
          <p:cNvPr id="9" name="Picture 37">
            <a:extLst>
              <a:ext uri="{FF2B5EF4-FFF2-40B4-BE49-F238E27FC236}">
                <a16:creationId xmlns:a16="http://schemas.microsoft.com/office/drawing/2014/main" id="{E430A107-6B13-4562-89A1-2274C09F0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195" y="4564999"/>
            <a:ext cx="5077838" cy="117795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875726493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 err="1"/>
              <a:t>TB_std_cell.v</a:t>
            </a:r>
            <a:r>
              <a:rPr lang="en-US" altLang="ko-KR" b="1" dirty="0"/>
              <a:t> </a:t>
            </a:r>
            <a:r>
              <a:rPr lang="ko-KR" altLang="en-US" b="1" dirty="0"/>
              <a:t>구성</a:t>
            </a:r>
          </a:p>
          <a:p>
            <a:pPr lvl="1"/>
            <a:r>
              <a:rPr lang="ko-KR" altLang="en-US" b="1" dirty="0"/>
              <a:t>시뮬레이션 설정</a:t>
            </a:r>
          </a:p>
          <a:p>
            <a:pPr lvl="2"/>
            <a:r>
              <a:rPr lang="en-US" altLang="ko-KR" b="1" dirty="0"/>
              <a:t>199ns</a:t>
            </a:r>
            <a:r>
              <a:rPr lang="ko-KR" altLang="en-US" b="1" dirty="0"/>
              <a:t>에 리셋</a:t>
            </a:r>
            <a:r>
              <a:rPr lang="ko-KR" altLang="en-US" dirty="0"/>
              <a:t> 시작 </a:t>
            </a:r>
            <a:r>
              <a:rPr lang="en-US" altLang="ko-KR" dirty="0"/>
              <a:t>(100ns </a:t>
            </a:r>
            <a:r>
              <a:rPr lang="ko-KR" altLang="en-US" dirty="0"/>
              <a:t>동안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b="1" dirty="0"/>
              <a:t>500ns </a:t>
            </a:r>
            <a:r>
              <a:rPr lang="ko-KR" altLang="en-US" b="1" dirty="0"/>
              <a:t>후 시뮬레이션 중단</a:t>
            </a:r>
            <a:r>
              <a:rPr lang="ko-KR" altLang="en-US" dirty="0"/>
              <a:t> </a:t>
            </a:r>
            <a:r>
              <a:rPr lang="en-US" altLang="ko-KR" dirty="0"/>
              <a:t>($stop)</a:t>
            </a:r>
          </a:p>
          <a:p>
            <a:pPr lvl="2"/>
            <a:r>
              <a:rPr lang="ko-KR" altLang="en-US" b="1" dirty="0" err="1"/>
              <a:t>클록과</a:t>
            </a:r>
            <a:r>
              <a:rPr lang="ko-KR" altLang="en-US" b="1" dirty="0"/>
              <a:t> 입력 반복</a:t>
            </a:r>
            <a:r>
              <a:rPr lang="ko-KR" altLang="en-US" dirty="0"/>
              <a:t> 설정</a:t>
            </a:r>
          </a:p>
          <a:p>
            <a:endParaRPr lang="en-US" altLang="ko-KR" b="1" dirty="0"/>
          </a:p>
          <a:p>
            <a:pPr lvl="1"/>
            <a:r>
              <a:rPr lang="en-US" altLang="ko-KR" b="1" dirty="0"/>
              <a:t>ifdef </a:t>
            </a:r>
            <a:r>
              <a:rPr lang="ko-KR" altLang="en-US" b="1" dirty="0"/>
              <a:t>구문 활용</a:t>
            </a:r>
          </a:p>
          <a:p>
            <a:pPr lvl="2"/>
            <a:r>
              <a:rPr lang="en-US" altLang="ko-KR" b="1" dirty="0"/>
              <a:t>+</a:t>
            </a:r>
            <a:r>
              <a:rPr lang="en-US" altLang="ko-KR" b="1" dirty="0" err="1"/>
              <a:t>define+function_sim</a:t>
            </a:r>
            <a:r>
              <a:rPr lang="ko-KR" altLang="en-US" dirty="0"/>
              <a:t>으로 활성화</a:t>
            </a:r>
          </a:p>
          <a:p>
            <a:pPr lvl="2"/>
            <a:r>
              <a:rPr lang="en-US" altLang="ko-KR" b="1" dirty="0"/>
              <a:t>$</a:t>
            </a:r>
            <a:r>
              <a:rPr lang="en-US" altLang="ko-KR" b="1" dirty="0" err="1"/>
              <a:t>shm_open</a:t>
            </a:r>
            <a:r>
              <a:rPr lang="en-US" altLang="ko-KR" b="1" dirty="0"/>
              <a:t>, $</a:t>
            </a:r>
            <a:r>
              <a:rPr lang="en-US" altLang="ko-KR" b="1" dirty="0" err="1"/>
              <a:t>shm_probe</a:t>
            </a:r>
            <a:r>
              <a:rPr lang="ko-KR" altLang="en-US" dirty="0"/>
              <a:t> 실행</a:t>
            </a:r>
          </a:p>
          <a:p>
            <a:pPr lvl="2"/>
            <a:r>
              <a:rPr lang="en-US" altLang="ko-KR" b="1" dirty="0"/>
              <a:t>dump </a:t>
            </a:r>
            <a:r>
              <a:rPr lang="ko-KR" altLang="en-US" b="1" dirty="0"/>
              <a:t>폴더에 파형 저장</a:t>
            </a:r>
            <a:endParaRPr lang="ko-KR" altLang="en-US" dirty="0"/>
          </a:p>
        </p:txBody>
      </p:sp>
      <p:pic>
        <p:nvPicPr>
          <p:cNvPr id="8" name="Picture 39">
            <a:extLst>
              <a:ext uri="{FF2B5EF4-FFF2-40B4-BE49-F238E27FC236}">
                <a16:creationId xmlns:a16="http://schemas.microsoft.com/office/drawing/2014/main" id="{A04ED639-923F-4ACE-B7F9-B777037CA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17734" y="4962629"/>
            <a:ext cx="9271841" cy="148499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6" name="Picture 36">
            <a:extLst>
              <a:ext uri="{FF2B5EF4-FFF2-40B4-BE49-F238E27FC236}">
                <a16:creationId xmlns:a16="http://schemas.microsoft.com/office/drawing/2014/main" id="{EF2BB8FF-CAD1-4225-9316-4982F9CE47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/>
          </a:blip>
          <a:srcRect l="44175" t="19373" b="19235"/>
          <a:stretch/>
        </p:blipFill>
        <p:spPr>
          <a:xfrm>
            <a:off x="5703834" y="1416941"/>
            <a:ext cx="3988392" cy="3291246"/>
          </a:xfrm>
          <a:prstGeom prst="rect">
            <a:avLst/>
          </a:prstGeom>
          <a:noFill/>
          <a:ln w="0" cap="rnd">
            <a:solidFill>
              <a:schemeClr val="tx1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364551713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 진행</a:t>
            </a:r>
          </a:p>
        </p:txBody>
      </p:sp>
      <p:pic>
        <p:nvPicPr>
          <p:cNvPr id="7" name="Picture 41">
            <a:extLst>
              <a:ext uri="{FF2B5EF4-FFF2-40B4-BE49-F238E27FC236}">
                <a16:creationId xmlns:a16="http://schemas.microsoft.com/office/drawing/2014/main" id="{5F87EA96-4A4C-4B31-871C-5AD2BE0D2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35123" y="2711318"/>
            <a:ext cx="6912526" cy="4048429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00E98EA-A06E-409D-89B5-6A24C8312A04}"/>
              </a:ext>
            </a:extLst>
          </p:cNvPr>
          <p:cNvSpPr/>
          <p:nvPr/>
        </p:nvSpPr>
        <p:spPr>
          <a:xfrm>
            <a:off x="852567" y="2041870"/>
            <a:ext cx="5519050" cy="1387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source ~/SoC/CSHRC/</a:t>
            </a:r>
            <a:r>
              <a:rPr lang="en-US" altLang="ko-KR" b="1" i="1" dirty="0" err="1"/>
              <a:t>digital.cshrc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cd 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/LAB1 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clean.tcl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run_functional.tcl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4609757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 진행</a:t>
            </a:r>
          </a:p>
        </p:txBody>
      </p:sp>
      <p:pic>
        <p:nvPicPr>
          <p:cNvPr id="8" name="Picture 0">
            <a:extLst>
              <a:ext uri="{FF2B5EF4-FFF2-40B4-BE49-F238E27FC236}">
                <a16:creationId xmlns:a16="http://schemas.microsoft.com/office/drawing/2014/main" id="{521BC3EA-2015-4F61-8BBB-2CE0CE7C6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3473" y="2152015"/>
            <a:ext cx="4746579" cy="277990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EA47E15-247C-4610-845D-124774D17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49820" y="3666955"/>
            <a:ext cx="7420825" cy="310700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238146956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9474774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 진행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E2D53A77-FB25-4696-885B-93B3FABA8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0755" y="3857497"/>
            <a:ext cx="11328349" cy="293695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F5023376-F2BA-408D-9C44-8A3DC4641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41814" y="1587655"/>
            <a:ext cx="6472826" cy="2157496"/>
          </a:xfrm>
          <a:prstGeom prst="rect">
            <a:avLst/>
          </a:prstGeom>
          <a:solidFill>
            <a:schemeClr val="bg1"/>
          </a:solidFill>
          <a:ln w="3556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500475044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게이트 동작 확인</a:t>
            </a:r>
            <a:r>
              <a:rPr lang="en-US" altLang="ko-KR" sz="2400" b="1" dirty="0"/>
              <a:t>(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 GUI)</a:t>
            </a:r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pPr fontAlgn="base"/>
            <a:r>
              <a:rPr lang="ko-KR" altLang="en-US" b="1" dirty="0"/>
              <a:t>종료</a:t>
            </a:r>
            <a:r>
              <a:rPr lang="ko-KR" altLang="en-US" dirty="0"/>
              <a:t> </a:t>
            </a:r>
            <a:endParaRPr lang="en-US" altLang="ko-KR" dirty="0"/>
          </a:p>
          <a:p>
            <a:pPr lvl="1" fontAlgn="base"/>
            <a:r>
              <a:rPr lang="en-US" altLang="ko-KR" dirty="0"/>
              <a:t>File &gt; Exit </a:t>
            </a:r>
            <a:r>
              <a:rPr lang="en-US" altLang="ko-KR" dirty="0" err="1"/>
              <a:t>Simvision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28BFDD1-90CD-4DDB-865E-C84C1A5F5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10888" y="3458625"/>
            <a:ext cx="7336759" cy="2988994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7797DEB-EFF7-41D5-BF4C-59F817C74775}"/>
              </a:ext>
            </a:extLst>
          </p:cNvPr>
          <p:cNvSpPr/>
          <p:nvPr/>
        </p:nvSpPr>
        <p:spPr>
          <a:xfrm>
            <a:off x="1752944" y="2774979"/>
            <a:ext cx="1637714" cy="491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</a:t>
            </a:r>
            <a:r>
              <a:rPr lang="en-US" altLang="ko-KR" b="1" i="1" dirty="0" err="1"/>
              <a:t>ll</a:t>
            </a:r>
            <a:endParaRPr lang="en-US" altLang="ko-KR" dirty="0"/>
          </a:p>
        </p:txBody>
      </p: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D36F13EE-2B2C-48D6-A654-F09D80C030AA}"/>
              </a:ext>
            </a:extLst>
          </p:cNvPr>
          <p:cNvSpPr/>
          <p:nvPr/>
        </p:nvSpPr>
        <p:spPr>
          <a:xfrm>
            <a:off x="9416374" y="3093396"/>
            <a:ext cx="2470826" cy="739302"/>
          </a:xfrm>
          <a:prstGeom prst="wedgeRectCallout">
            <a:avLst>
              <a:gd name="adj1" fmla="val -50585"/>
              <a:gd name="adj2" fmla="val 95395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시뮬레이션 중 발생</a:t>
            </a:r>
          </a:p>
        </p:txBody>
      </p:sp>
    </p:spTree>
    <p:extLst>
      <p:ext uri="{BB962C8B-B14F-4D97-AF65-F5344CB8AC3E}">
        <p14:creationId xmlns:p14="http://schemas.microsoft.com/office/powerpoint/2010/main" val="3166495596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Dump </a:t>
            </a:r>
            <a:r>
              <a:rPr lang="ko-KR" altLang="en-US" sz="2400" b="1" dirty="0"/>
              <a:t>데이터 후처리 분석</a:t>
            </a:r>
            <a:r>
              <a:rPr lang="en-US" altLang="ko-KR" sz="2400" b="1" dirty="0"/>
              <a:t>(CLI + 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)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6DA0E86-8467-4AB6-9846-0EE5377C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LAB2 </a:t>
            </a:r>
            <a:r>
              <a:rPr lang="ko-KR" altLang="en-US" b="1" dirty="0"/>
              <a:t>학습 목표</a:t>
            </a:r>
          </a:p>
          <a:p>
            <a:pPr lvl="1"/>
            <a:r>
              <a:rPr lang="en-US" altLang="ko-KR" b="1" dirty="0"/>
              <a:t>CLI </a:t>
            </a:r>
            <a:r>
              <a:rPr lang="ko-KR" altLang="en-US" b="1" dirty="0"/>
              <a:t>방식</a:t>
            </a:r>
            <a:r>
              <a:rPr lang="ko-KR" altLang="en-US" dirty="0"/>
              <a:t> 시뮬레이션</a:t>
            </a:r>
            <a:r>
              <a:rPr lang="en-US" altLang="ko-KR" dirty="0"/>
              <a:t>(Command Line Interface : </a:t>
            </a:r>
            <a:r>
              <a:rPr lang="ko-KR" altLang="en-US" dirty="0"/>
              <a:t>커맨드 입력 방식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b="1" dirty="0"/>
              <a:t>-</a:t>
            </a:r>
            <a:r>
              <a:rPr lang="en-US" altLang="ko-KR" b="1" dirty="0" err="1"/>
              <a:t>gui</a:t>
            </a:r>
            <a:r>
              <a:rPr lang="en-US" altLang="ko-KR" b="1" dirty="0"/>
              <a:t> </a:t>
            </a:r>
            <a:r>
              <a:rPr lang="ko-KR" altLang="en-US" b="1" dirty="0"/>
              <a:t>옵션 없이</a:t>
            </a:r>
            <a:r>
              <a:rPr lang="ko-KR" altLang="en-US" dirty="0"/>
              <a:t> 진행</a:t>
            </a:r>
          </a:p>
          <a:p>
            <a:pPr lvl="1"/>
            <a:r>
              <a:rPr lang="en-US" altLang="ko-KR" b="1" dirty="0"/>
              <a:t>$finish </a:t>
            </a:r>
            <a:r>
              <a:rPr lang="ko-KR" altLang="en-US" b="1" dirty="0"/>
              <a:t>명령어</a:t>
            </a:r>
            <a:r>
              <a:rPr lang="ko-KR" altLang="en-US" dirty="0"/>
              <a:t> 동작 확인</a:t>
            </a:r>
          </a:p>
          <a:p>
            <a:pPr lvl="1"/>
            <a:r>
              <a:rPr lang="ko-KR" altLang="en-US" b="1" dirty="0"/>
              <a:t>덤프 파일 활용</a:t>
            </a:r>
            <a:r>
              <a:rPr lang="ko-KR" altLang="en-US" dirty="0"/>
              <a:t> 사후 분석</a:t>
            </a:r>
          </a:p>
          <a:p>
            <a:endParaRPr lang="en-US" altLang="ko-KR" b="1" dirty="0"/>
          </a:p>
          <a:p>
            <a:r>
              <a:rPr lang="en-US" altLang="ko-KR" b="1" dirty="0"/>
              <a:t>$stop vs $finish </a:t>
            </a:r>
            <a:r>
              <a:rPr lang="ko-KR" altLang="en-US" b="1" dirty="0"/>
              <a:t>차이</a:t>
            </a:r>
          </a:p>
          <a:p>
            <a:pPr lvl="1"/>
            <a:r>
              <a:rPr lang="en-US" altLang="ko-KR" b="1" dirty="0"/>
              <a:t>$stop</a:t>
            </a:r>
            <a:r>
              <a:rPr lang="en-US" altLang="ko-KR" dirty="0"/>
              <a:t>: </a:t>
            </a:r>
            <a:r>
              <a:rPr lang="ko-KR" altLang="en-US" dirty="0"/>
              <a:t>일시 정지</a:t>
            </a:r>
            <a:r>
              <a:rPr lang="en-US" altLang="ko-KR" dirty="0"/>
              <a:t>, </a:t>
            </a:r>
            <a:r>
              <a:rPr lang="ko-KR" altLang="en-US" dirty="0"/>
              <a:t>계속 실행 선택 가능</a:t>
            </a:r>
          </a:p>
          <a:p>
            <a:pPr lvl="1"/>
            <a:r>
              <a:rPr lang="en-US" altLang="ko-KR" b="1" dirty="0"/>
              <a:t>$finish</a:t>
            </a:r>
            <a:r>
              <a:rPr lang="en-US" altLang="ko-KR" dirty="0"/>
              <a:t>: </a:t>
            </a:r>
            <a:r>
              <a:rPr lang="ko-KR" altLang="en-US" dirty="0"/>
              <a:t>완전 종료</a:t>
            </a:r>
            <a:r>
              <a:rPr lang="en-US" altLang="ko-KR" dirty="0"/>
              <a:t>, </a:t>
            </a:r>
            <a:r>
              <a:rPr lang="ko-KR" altLang="en-US" dirty="0"/>
              <a:t>이후 실행 불가능</a:t>
            </a:r>
          </a:p>
          <a:p>
            <a:endParaRPr lang="en-US" altLang="ko-KR" b="1" dirty="0"/>
          </a:p>
          <a:p>
            <a:r>
              <a:rPr lang="ko-KR" altLang="en-US" b="1" dirty="0"/>
              <a:t>실습 특징</a:t>
            </a:r>
          </a:p>
          <a:p>
            <a:pPr lvl="1"/>
            <a:r>
              <a:rPr lang="en-US" altLang="ko-KR" b="1" dirty="0"/>
              <a:t>GUI </a:t>
            </a:r>
            <a:r>
              <a:rPr lang="ko-KR" altLang="en-US" b="1" dirty="0"/>
              <a:t>없이 백그라운드</a:t>
            </a:r>
            <a:r>
              <a:rPr lang="ko-KR" altLang="en-US" dirty="0"/>
              <a:t> 실행</a:t>
            </a:r>
          </a:p>
          <a:p>
            <a:pPr lvl="1"/>
            <a:r>
              <a:rPr lang="ko-KR" altLang="en-US" b="1" dirty="0"/>
              <a:t>저장된 데이터베이스</a:t>
            </a:r>
            <a:r>
              <a:rPr lang="ko-KR" altLang="en-US" dirty="0"/>
              <a:t>로 결과 확인</a:t>
            </a:r>
          </a:p>
          <a:p>
            <a:pPr lvl="1"/>
            <a:r>
              <a:rPr lang="ko-KR" altLang="en-US" b="1" dirty="0"/>
              <a:t>실무에서 많이 사용</a:t>
            </a:r>
            <a:r>
              <a:rPr lang="ko-KR" altLang="en-US" dirty="0"/>
              <a:t>하는 방법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A57F74-4DAC-4AEC-BB40-E7395D43DB8C}"/>
              </a:ext>
            </a:extLst>
          </p:cNvPr>
          <p:cNvSpPr/>
          <p:nvPr/>
        </p:nvSpPr>
        <p:spPr>
          <a:xfrm>
            <a:off x="6096000" y="3807800"/>
            <a:ext cx="5676705" cy="729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/LAB2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ls</a:t>
            </a:r>
            <a:endParaRPr lang="en-US" altLang="ko-KR" dirty="0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2DDBC259-98BD-4DFF-9B9A-2B788A7E7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07666" y="4933904"/>
            <a:ext cx="4876800" cy="37338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644589178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Dump </a:t>
            </a:r>
            <a:r>
              <a:rPr lang="ko-KR" altLang="en-US" sz="2400" b="1" dirty="0"/>
              <a:t>데이터 후처리 분석</a:t>
            </a:r>
            <a:r>
              <a:rPr lang="en-US" altLang="ko-KR" sz="2400" b="1" dirty="0"/>
              <a:t>(CLI + 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)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6DA0E86-8467-4AB6-9846-0EE5377C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README </a:t>
            </a:r>
            <a:r>
              <a:rPr lang="ko-KR" altLang="en-US" b="1" dirty="0"/>
              <a:t>파일 확인</a:t>
            </a:r>
            <a:endParaRPr lang="en-US" altLang="ko-KR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r>
              <a:rPr lang="en-US" altLang="ko-KR" b="1" dirty="0" err="1"/>
              <a:t>run_function.tcl</a:t>
            </a:r>
            <a:endParaRPr lang="ko-KR" altLang="en-US" dirty="0"/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30243DB0-C576-41D6-8EAE-20B6DF5D5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3514" y="2156203"/>
            <a:ext cx="3366929" cy="1272797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miter/>
          </a:ln>
          <a:effectLst/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4C566DF8-B8C1-4116-BD24-791DCC85A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2567" y="4639913"/>
            <a:ext cx="9348530" cy="180770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715761066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Dump </a:t>
            </a:r>
            <a:r>
              <a:rPr lang="ko-KR" altLang="en-US" sz="2400" b="1" dirty="0"/>
              <a:t>데이터 후처리 분석</a:t>
            </a:r>
            <a:r>
              <a:rPr lang="en-US" altLang="ko-KR" sz="2400" b="1" dirty="0"/>
              <a:t>(CLI + 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)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6DA0E86-8467-4AB6-9846-0EE5377C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테스트</a:t>
            </a:r>
            <a:r>
              <a:rPr lang="en-US" altLang="ko-KR" b="1" dirty="0"/>
              <a:t> </a:t>
            </a:r>
            <a:r>
              <a:rPr lang="ko-KR" altLang="en-US" b="1" dirty="0"/>
              <a:t>벤치 파일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2576824C-D9E4-48F2-AB70-8FDE3C36B8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/>
          </a:blip>
          <a:srcRect t="2264"/>
          <a:stretch/>
        </p:blipFill>
        <p:spPr>
          <a:xfrm>
            <a:off x="4191048" y="2195771"/>
            <a:ext cx="3491799" cy="425184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757086587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Dump </a:t>
            </a:r>
            <a:r>
              <a:rPr lang="ko-KR" altLang="en-US" sz="2400" b="1" dirty="0"/>
              <a:t>데이터 후처리 분석</a:t>
            </a:r>
            <a:r>
              <a:rPr lang="en-US" altLang="ko-KR" sz="2400" b="1" dirty="0"/>
              <a:t>(CLI + 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)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6DA0E86-8467-4AB6-9846-0EE5377C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 진행</a:t>
            </a:r>
            <a:endParaRPr lang="ko-KR" altLang="en-US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8C47ECD8-D60D-49B6-98DB-31DB377A2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3513" y="3599714"/>
            <a:ext cx="9398077" cy="123781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2926F4-371A-4274-AD05-16DFEEEBE9C3}"/>
              </a:ext>
            </a:extLst>
          </p:cNvPr>
          <p:cNvSpPr/>
          <p:nvPr/>
        </p:nvSpPr>
        <p:spPr>
          <a:xfrm>
            <a:off x="903513" y="2229313"/>
            <a:ext cx="5876665" cy="1199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source ~/SoC/CSHRC/</a:t>
            </a:r>
            <a:r>
              <a:rPr lang="en-US" altLang="ko-KR" b="1" i="1" dirty="0" err="1"/>
              <a:t>digital.cshrc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/LAB2 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clean.tcl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run_functional.tcl</a:t>
            </a:r>
            <a:endParaRPr lang="en-US" altLang="ko-KR" b="1" i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58C09-4EC2-4261-B0F8-0092D57AA60A}"/>
              </a:ext>
            </a:extLst>
          </p:cNvPr>
          <p:cNvSpPr/>
          <p:nvPr/>
        </p:nvSpPr>
        <p:spPr>
          <a:xfrm>
            <a:off x="903514" y="5020648"/>
            <a:ext cx="1139296" cy="371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ls</a:t>
            </a: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F0C3B0E8-BA2F-4322-A0FC-1252B708FB0A}"/>
              </a:ext>
            </a:extLst>
          </p:cNvPr>
          <p:cNvSpPr/>
          <p:nvPr/>
        </p:nvSpPr>
        <p:spPr>
          <a:xfrm>
            <a:off x="7063581" y="2860412"/>
            <a:ext cx="2470826" cy="739302"/>
          </a:xfrm>
          <a:prstGeom prst="wedgeRectCallout">
            <a:avLst>
              <a:gd name="adj1" fmla="val -73026"/>
              <a:gd name="adj2" fmla="val 101974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$finish</a:t>
            </a:r>
            <a:r>
              <a:rPr lang="ko-KR" altLang="en-US" dirty="0">
                <a:solidFill>
                  <a:schemeClr val="tx1"/>
                </a:solidFill>
              </a:rPr>
              <a:t>로 종료됨 확인</a:t>
            </a:r>
          </a:p>
        </p:txBody>
      </p:sp>
      <p:pic>
        <p:nvPicPr>
          <p:cNvPr id="14" name="Picture 16">
            <a:extLst>
              <a:ext uri="{FF2B5EF4-FFF2-40B4-BE49-F238E27FC236}">
                <a16:creationId xmlns:a16="http://schemas.microsoft.com/office/drawing/2014/main" id="{FA7C54BA-1FE3-4E52-A516-D0EE42982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3513" y="5605811"/>
            <a:ext cx="8608164" cy="101252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8598C7A0-D52D-4246-85D8-99A192DB5A21}"/>
              </a:ext>
            </a:extLst>
          </p:cNvPr>
          <p:cNvSpPr/>
          <p:nvPr/>
        </p:nvSpPr>
        <p:spPr>
          <a:xfrm>
            <a:off x="3782829" y="5155659"/>
            <a:ext cx="1791120" cy="591881"/>
          </a:xfrm>
          <a:prstGeom prst="wedgeRectCallout">
            <a:avLst>
              <a:gd name="adj1" fmla="val -62790"/>
              <a:gd name="adj2" fmla="val 100658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결과 파형 정보 </a:t>
            </a:r>
          </a:p>
        </p:txBody>
      </p:sp>
    </p:spTree>
    <p:extLst>
      <p:ext uri="{BB962C8B-B14F-4D97-AF65-F5344CB8AC3E}">
        <p14:creationId xmlns:p14="http://schemas.microsoft.com/office/powerpoint/2010/main" val="316013761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Dump </a:t>
            </a:r>
            <a:r>
              <a:rPr lang="ko-KR" altLang="en-US" sz="2400" b="1" dirty="0"/>
              <a:t>데이터 후처리 분석</a:t>
            </a:r>
            <a:r>
              <a:rPr lang="en-US" altLang="ko-KR" sz="2400" b="1" dirty="0"/>
              <a:t>(CLI + 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)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6DA0E86-8467-4AB6-9846-0EE5377C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 진행</a:t>
            </a:r>
            <a:endParaRPr lang="en-US" altLang="ko-KR" b="1" dirty="0"/>
          </a:p>
          <a:p>
            <a:pPr lvl="1"/>
            <a:r>
              <a:rPr lang="ko-KR" altLang="en-US" dirty="0"/>
              <a:t>시뮬레이션 </a:t>
            </a:r>
            <a:r>
              <a:rPr lang="en-US" altLang="ko-KR" dirty="0"/>
              <a:t>run</a:t>
            </a:r>
            <a:r>
              <a:rPr lang="ko-KR" altLang="en-US" dirty="0"/>
              <a:t>의 재시작</a:t>
            </a:r>
            <a:r>
              <a:rPr lang="en-US" altLang="ko-KR" dirty="0"/>
              <a:t> </a:t>
            </a:r>
            <a:r>
              <a:rPr lang="ko-KR" altLang="en-US" dirty="0"/>
              <a:t>없이</a:t>
            </a:r>
            <a:r>
              <a:rPr lang="en-US" altLang="ko-KR" dirty="0"/>
              <a:t>, </a:t>
            </a:r>
            <a:r>
              <a:rPr lang="ko-KR" altLang="en-US" dirty="0"/>
              <a:t>수행된 결과를 확인하는 방법</a:t>
            </a:r>
          </a:p>
          <a:p>
            <a:pPr lvl="1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58C09-4EC2-4261-B0F8-0092D57AA60A}"/>
              </a:ext>
            </a:extLst>
          </p:cNvPr>
          <p:cNvSpPr/>
          <p:nvPr/>
        </p:nvSpPr>
        <p:spPr>
          <a:xfrm>
            <a:off x="1496900" y="2499551"/>
            <a:ext cx="2296887" cy="371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</a:t>
            </a:r>
            <a:r>
              <a:rPr lang="en-US" altLang="ko-KR" b="1" i="1" dirty="0" err="1"/>
              <a:t>simvision</a:t>
            </a:r>
            <a:endParaRPr lang="en-US" altLang="ko-KR" b="1" i="1" dirty="0"/>
          </a:p>
        </p:txBody>
      </p:sp>
      <p:pic>
        <p:nvPicPr>
          <p:cNvPr id="9" name="Picture 18">
            <a:extLst>
              <a:ext uri="{FF2B5EF4-FFF2-40B4-BE49-F238E27FC236}">
                <a16:creationId xmlns:a16="http://schemas.microsoft.com/office/drawing/2014/main" id="{7275E6A9-14AF-4A98-810F-24A9B4ECB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0834" y="2956606"/>
            <a:ext cx="6895433" cy="3849052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971365700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510198" cy="466312"/>
          </a:xfrm>
        </p:spPr>
        <p:txBody>
          <a:bodyPr/>
          <a:lstStyle/>
          <a:p>
            <a:r>
              <a:rPr lang="en-US" altLang="ko-KR" sz="2400" b="1" dirty="0"/>
              <a:t>2.3.3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Dump </a:t>
            </a:r>
            <a:r>
              <a:rPr lang="ko-KR" altLang="en-US" sz="2400" b="1" dirty="0"/>
              <a:t>데이터 후처리 분석</a:t>
            </a:r>
            <a:r>
              <a:rPr lang="en-US" altLang="ko-KR" sz="2400" b="1" dirty="0"/>
              <a:t>(CLI + </a:t>
            </a:r>
            <a:r>
              <a:rPr lang="en-US" altLang="ko-KR" sz="2400" b="1" dirty="0" err="1"/>
              <a:t>Simvision</a:t>
            </a:r>
            <a:r>
              <a:rPr lang="en-US" altLang="ko-KR" sz="2400" b="1" dirty="0"/>
              <a:t>)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6DA0E86-8467-4AB6-9846-0EE5377C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 진행</a:t>
            </a:r>
            <a:endParaRPr lang="en-US" altLang="ko-KR" b="1" dirty="0"/>
          </a:p>
          <a:p>
            <a:pPr lvl="1"/>
            <a:r>
              <a:rPr lang="ko-KR" altLang="en-US" dirty="0"/>
              <a:t>시뮬레이션 </a:t>
            </a:r>
            <a:r>
              <a:rPr lang="en-US" altLang="ko-KR" dirty="0"/>
              <a:t>run</a:t>
            </a:r>
            <a:r>
              <a:rPr lang="ko-KR" altLang="en-US" dirty="0"/>
              <a:t>의 재시작</a:t>
            </a:r>
            <a:r>
              <a:rPr lang="en-US" altLang="ko-KR" dirty="0"/>
              <a:t> </a:t>
            </a:r>
            <a:r>
              <a:rPr lang="ko-KR" altLang="en-US" dirty="0"/>
              <a:t>없이</a:t>
            </a:r>
            <a:r>
              <a:rPr lang="en-US" altLang="ko-KR" dirty="0"/>
              <a:t>, </a:t>
            </a:r>
            <a:r>
              <a:rPr lang="ko-KR" altLang="en-US" dirty="0"/>
              <a:t>수행된 결과를 확인하는 방법</a:t>
            </a:r>
          </a:p>
        </p:txBody>
      </p:sp>
      <p:pic>
        <p:nvPicPr>
          <p:cNvPr id="7" name="Picture 19">
            <a:extLst>
              <a:ext uri="{FF2B5EF4-FFF2-40B4-BE49-F238E27FC236}">
                <a16:creationId xmlns:a16="http://schemas.microsoft.com/office/drawing/2014/main" id="{EFC196F7-96A3-4CB2-A989-4E88CA811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9999" y="2558374"/>
            <a:ext cx="9915334" cy="398652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785937771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AC42357-B489-42BD-83E8-3339EDFEB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LAB3 </a:t>
            </a:r>
            <a:r>
              <a:rPr lang="ko-KR" altLang="en-US" b="1" dirty="0"/>
              <a:t>학습 목표</a:t>
            </a:r>
          </a:p>
          <a:p>
            <a:pPr lvl="1"/>
            <a:r>
              <a:rPr lang="en-US" altLang="ko-KR" b="1" dirty="0"/>
              <a:t>1GHz </a:t>
            </a:r>
            <a:r>
              <a:rPr lang="ko-KR" altLang="en-US" b="1" dirty="0"/>
              <a:t>고속 </a:t>
            </a:r>
            <a:r>
              <a:rPr lang="ko-KR" altLang="en-US" b="1" dirty="0" err="1"/>
              <a:t>클록</a:t>
            </a:r>
            <a:r>
              <a:rPr lang="ko-KR" altLang="en-US" dirty="0"/>
              <a:t> 동작 검증</a:t>
            </a:r>
          </a:p>
          <a:p>
            <a:pPr lvl="1"/>
            <a:r>
              <a:rPr lang="ko-KR" altLang="en-US" b="1" dirty="0"/>
              <a:t>최대 동작 주파수</a:t>
            </a:r>
            <a:r>
              <a:rPr lang="ko-KR" altLang="en-US" dirty="0"/>
              <a:t> 확인</a:t>
            </a:r>
          </a:p>
          <a:p>
            <a:pPr lvl="1"/>
            <a:r>
              <a:rPr lang="ko-KR" altLang="en-US" b="1" dirty="0"/>
              <a:t>최대 동작 속도</a:t>
            </a:r>
            <a:r>
              <a:rPr lang="ko-KR" altLang="en-US" dirty="0"/>
              <a:t> 한계 파악</a:t>
            </a:r>
          </a:p>
          <a:p>
            <a:endParaRPr lang="en-US" altLang="ko-KR" b="1" dirty="0"/>
          </a:p>
          <a:p>
            <a:r>
              <a:rPr lang="ko-KR" altLang="en-US" b="1" dirty="0"/>
              <a:t>고속 </a:t>
            </a:r>
            <a:r>
              <a:rPr lang="ko-KR" altLang="en-US" b="1" dirty="0" err="1"/>
              <a:t>클록</a:t>
            </a:r>
            <a:r>
              <a:rPr lang="ko-KR" altLang="en-US" b="1" dirty="0"/>
              <a:t> 설정</a:t>
            </a:r>
          </a:p>
          <a:p>
            <a:pPr lvl="1"/>
            <a:r>
              <a:rPr lang="en-US" altLang="ko-KR" b="1" dirty="0"/>
              <a:t>0.5ns</a:t>
            </a:r>
            <a:r>
              <a:rPr lang="ko-KR" altLang="en-US" b="1" dirty="0"/>
              <a:t>마다 반전</a:t>
            </a:r>
            <a:r>
              <a:rPr lang="ko-KR" altLang="en-US" dirty="0"/>
              <a:t> → </a:t>
            </a:r>
            <a:r>
              <a:rPr lang="en-US" altLang="ko-KR" b="1" dirty="0"/>
              <a:t>1ns </a:t>
            </a:r>
            <a:r>
              <a:rPr lang="ko-KR" altLang="en-US" b="1" dirty="0"/>
              <a:t>주기</a:t>
            </a:r>
            <a:endParaRPr lang="ko-KR" altLang="en-US" dirty="0"/>
          </a:p>
          <a:p>
            <a:pPr lvl="1"/>
            <a:r>
              <a:rPr lang="en-US" altLang="ko-KR" b="1" dirty="0"/>
              <a:t>1GHz </a:t>
            </a:r>
            <a:r>
              <a:rPr lang="ko-KR" altLang="en-US" b="1" dirty="0"/>
              <a:t>동작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기존 </a:t>
            </a:r>
            <a:r>
              <a:rPr lang="en-US" altLang="ko-KR" dirty="0"/>
              <a:t>250MHz </a:t>
            </a:r>
            <a:r>
              <a:rPr lang="ko-KR" altLang="en-US" dirty="0"/>
              <a:t>대비 </a:t>
            </a:r>
            <a:r>
              <a:rPr lang="en-US" altLang="ko-KR" dirty="0"/>
              <a:t>4</a:t>
            </a:r>
            <a:r>
              <a:rPr lang="ko-KR" altLang="en-US" dirty="0"/>
              <a:t>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매우 빠른 속도</a:t>
            </a:r>
            <a:r>
              <a:rPr lang="ko-KR" altLang="en-US" dirty="0"/>
              <a:t>에서 셀 동작 확인</a:t>
            </a:r>
          </a:p>
          <a:p>
            <a:endParaRPr lang="en-US" altLang="ko-KR" b="1" dirty="0"/>
          </a:p>
          <a:p>
            <a:r>
              <a:rPr lang="ko-KR" altLang="en-US" b="1" dirty="0"/>
              <a:t>시뮬레이션 특징</a:t>
            </a:r>
          </a:p>
          <a:p>
            <a:pPr lvl="1"/>
            <a:r>
              <a:rPr lang="en-US" altLang="ko-KR" b="1" dirty="0"/>
              <a:t>-</a:t>
            </a:r>
            <a:r>
              <a:rPr lang="en-US" altLang="ko-KR" b="1" dirty="0" err="1"/>
              <a:t>gui</a:t>
            </a:r>
            <a:r>
              <a:rPr lang="en-US" altLang="ko-KR" b="1" dirty="0"/>
              <a:t> </a:t>
            </a:r>
            <a:r>
              <a:rPr lang="ko-KR" altLang="en-US" b="1" dirty="0"/>
              <a:t>옵션</a:t>
            </a:r>
            <a:r>
              <a:rPr lang="ko-KR" altLang="en-US" dirty="0"/>
              <a:t> 포함</a:t>
            </a:r>
          </a:p>
          <a:p>
            <a:pPr lvl="1"/>
            <a:r>
              <a:rPr lang="ko-KR" altLang="en-US" b="1" dirty="0"/>
              <a:t>고속에서도 정상 동작</a:t>
            </a:r>
            <a:r>
              <a:rPr lang="ko-KR" altLang="en-US" dirty="0"/>
              <a:t> 검증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90C17E-9E7C-4FEE-89B2-9D3E847F12AB}"/>
              </a:ext>
            </a:extLst>
          </p:cNvPr>
          <p:cNvSpPr/>
          <p:nvPr/>
        </p:nvSpPr>
        <p:spPr>
          <a:xfrm>
            <a:off x="6017954" y="4087005"/>
            <a:ext cx="6024888" cy="729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/LAB3 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ls</a:t>
            </a:r>
            <a:endParaRPr lang="en-US" altLang="ko-KR" dirty="0"/>
          </a:p>
        </p:txBody>
      </p:sp>
      <p:pic>
        <p:nvPicPr>
          <p:cNvPr id="8" name="Picture 20">
            <a:extLst>
              <a:ext uri="{FF2B5EF4-FFF2-40B4-BE49-F238E27FC236}">
                <a16:creationId xmlns:a16="http://schemas.microsoft.com/office/drawing/2014/main" id="{9EF8DFAB-8394-4079-8407-41237C177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63350" y="5388352"/>
            <a:ext cx="4869180" cy="40386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762473917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README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 err="1"/>
              <a:t>run_function.tcl</a:t>
            </a:r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F118ED25-C93E-46FB-BD54-BD5806F1D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567" y="2042628"/>
            <a:ext cx="3641612" cy="210795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6" name="Picture 24">
            <a:extLst>
              <a:ext uri="{FF2B5EF4-FFF2-40B4-BE49-F238E27FC236}">
                <a16:creationId xmlns:a16="http://schemas.microsoft.com/office/drawing/2014/main" id="{B2FA87FA-F577-4674-895C-52911C090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2566" y="4824061"/>
            <a:ext cx="9005819" cy="193568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454773957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 err="1"/>
              <a:t>테스트벤치</a:t>
            </a:r>
            <a:endParaRPr lang="ko-KR" altLang="en-US" b="1" dirty="0"/>
          </a:p>
        </p:txBody>
      </p:sp>
      <p:pic>
        <p:nvPicPr>
          <p:cNvPr id="7" name="Picture 25">
            <a:extLst>
              <a:ext uri="{FF2B5EF4-FFF2-40B4-BE49-F238E27FC236}">
                <a16:creationId xmlns:a16="http://schemas.microsoft.com/office/drawing/2014/main" id="{07CFBA48-2F04-4E3D-BEFE-F4F9062E4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1686" y="2169087"/>
            <a:ext cx="4516939" cy="184843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186220095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18E122-6826-49EA-A4B2-64908D3C8D48}"/>
              </a:ext>
            </a:extLst>
          </p:cNvPr>
          <p:cNvSpPr/>
          <p:nvPr/>
        </p:nvSpPr>
        <p:spPr>
          <a:xfrm>
            <a:off x="903513" y="2229313"/>
            <a:ext cx="5876665" cy="1199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source ~/SoC/CSHRC/</a:t>
            </a:r>
            <a:r>
              <a:rPr lang="en-US" altLang="ko-KR" b="1" i="1" dirty="0" err="1"/>
              <a:t>digital.cshrc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std_cell</a:t>
            </a:r>
            <a:r>
              <a:rPr lang="en-US" altLang="ko-KR" b="1" i="1" dirty="0"/>
              <a:t>/LAB3 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clean.tcl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run_functional.tcl</a:t>
            </a:r>
            <a:endParaRPr lang="en-US" altLang="ko-KR" b="1" i="1" dirty="0"/>
          </a:p>
        </p:txBody>
      </p:sp>
      <p:pic>
        <p:nvPicPr>
          <p:cNvPr id="10" name="Picture 27">
            <a:extLst>
              <a:ext uri="{FF2B5EF4-FFF2-40B4-BE49-F238E27FC236}">
                <a16:creationId xmlns:a16="http://schemas.microsoft.com/office/drawing/2014/main" id="{2CA25229-4274-4590-AD52-442C58642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01889" y="3617350"/>
            <a:ext cx="4947952" cy="318958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04420C94-0C6A-4B3B-BF0C-8DF3894C97A1}"/>
              </a:ext>
            </a:extLst>
          </p:cNvPr>
          <p:cNvSpPr/>
          <p:nvPr/>
        </p:nvSpPr>
        <p:spPr>
          <a:xfrm>
            <a:off x="5831328" y="4017637"/>
            <a:ext cx="2963048" cy="591881"/>
          </a:xfrm>
          <a:prstGeom prst="wedgeRectCallout">
            <a:avLst>
              <a:gd name="adj1" fmla="val -62790"/>
              <a:gd name="adj2" fmla="val 100658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 모두 </a:t>
            </a:r>
            <a:r>
              <a:rPr lang="en-US" altLang="ko-KR" dirty="0">
                <a:solidFill>
                  <a:schemeClr val="tx1"/>
                </a:solidFill>
              </a:rPr>
              <a:t>wave</a:t>
            </a:r>
            <a:r>
              <a:rPr lang="ko-KR" altLang="en-US" dirty="0">
                <a:solidFill>
                  <a:schemeClr val="tx1"/>
                </a:solidFill>
              </a:rPr>
              <a:t>창에 추가</a:t>
            </a:r>
          </a:p>
        </p:txBody>
      </p:sp>
    </p:spTree>
    <p:extLst>
      <p:ext uri="{BB962C8B-B14F-4D97-AF65-F5344CB8AC3E}">
        <p14:creationId xmlns:p14="http://schemas.microsoft.com/office/powerpoint/2010/main" val="3795921138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 </a:t>
            </a:r>
            <a:endParaRPr lang="en-US" altLang="ko-KR" b="1" dirty="0"/>
          </a:p>
          <a:p>
            <a:pPr lvl="1"/>
            <a:endParaRPr lang="ko-KR" altLang="en-US" b="1" dirty="0"/>
          </a:p>
        </p:txBody>
      </p:sp>
      <p:pic>
        <p:nvPicPr>
          <p:cNvPr id="7" name="Picture 30">
            <a:extLst>
              <a:ext uri="{FF2B5EF4-FFF2-40B4-BE49-F238E27FC236}">
                <a16:creationId xmlns:a16="http://schemas.microsoft.com/office/drawing/2014/main" id="{B70780B7-3680-4789-B4E3-EBE9C18E3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3901" y="2287592"/>
            <a:ext cx="8004197" cy="433074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097172850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 </a:t>
            </a:r>
            <a:endParaRPr lang="en-US" altLang="ko-KR" b="1" dirty="0"/>
          </a:p>
          <a:p>
            <a:pPr lvl="1"/>
            <a:r>
              <a:rPr lang="ko-KR" altLang="en-US" dirty="0"/>
              <a:t>클럭의 주기 확인</a:t>
            </a:r>
            <a:endParaRPr lang="en-US" altLang="ko-KR" dirty="0"/>
          </a:p>
          <a:p>
            <a:pPr lvl="1"/>
            <a:r>
              <a:rPr lang="ko-KR" altLang="en-US" dirty="0"/>
              <a:t>조합회로 동작 </a:t>
            </a:r>
            <a:r>
              <a:rPr lang="en-US" altLang="ko-KR" dirty="0"/>
              <a:t>: </a:t>
            </a:r>
            <a:r>
              <a:rPr lang="ko-KR" altLang="en-US" dirty="0"/>
              <a:t>입력의 변화에 따라 빠른 출력이 나오는지 </a:t>
            </a:r>
          </a:p>
          <a:p>
            <a:pPr lvl="1"/>
            <a:r>
              <a:rPr lang="ko-KR" altLang="en-US" dirty="0"/>
              <a:t>순차회로 동작 </a:t>
            </a:r>
            <a:r>
              <a:rPr lang="en-US" altLang="ko-KR" dirty="0"/>
              <a:t>: </a:t>
            </a:r>
            <a:r>
              <a:rPr lang="ko-KR" altLang="en-US" dirty="0" err="1"/>
              <a:t>클록의</a:t>
            </a:r>
            <a:r>
              <a:rPr lang="ko-KR" altLang="en-US" dirty="0"/>
              <a:t> </a:t>
            </a:r>
            <a:r>
              <a:rPr lang="en-US" altLang="ko-KR" dirty="0"/>
              <a:t>Rising </a:t>
            </a:r>
            <a:r>
              <a:rPr lang="ko-KR" altLang="en-US" dirty="0"/>
              <a:t>직후에 빠른 출력이 나오는지</a:t>
            </a:r>
          </a:p>
        </p:txBody>
      </p:sp>
      <p:pic>
        <p:nvPicPr>
          <p:cNvPr id="6" name="Picture 31">
            <a:extLst>
              <a:ext uri="{FF2B5EF4-FFF2-40B4-BE49-F238E27FC236}">
                <a16:creationId xmlns:a16="http://schemas.microsoft.com/office/drawing/2014/main" id="{E12F95C5-375C-4235-ABC6-FAAE09735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7935" y="3093396"/>
            <a:ext cx="8305429" cy="366635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</p:pic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6148798B-171D-4F37-A555-D6EE183912A5}"/>
              </a:ext>
            </a:extLst>
          </p:cNvPr>
          <p:cNvSpPr/>
          <p:nvPr/>
        </p:nvSpPr>
        <p:spPr>
          <a:xfrm>
            <a:off x="8172234" y="3425756"/>
            <a:ext cx="2963048" cy="591881"/>
          </a:xfrm>
          <a:prstGeom prst="wedgeRectCallout">
            <a:avLst>
              <a:gd name="adj1" fmla="val -62790"/>
              <a:gd name="adj2" fmla="val 100658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리셋 직후를 확대</a:t>
            </a:r>
          </a:p>
        </p:txBody>
      </p:sp>
    </p:spTree>
    <p:extLst>
      <p:ext uri="{BB962C8B-B14F-4D97-AF65-F5344CB8AC3E}">
        <p14:creationId xmlns:p14="http://schemas.microsoft.com/office/powerpoint/2010/main" val="127622921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en-US" altLang="ko-KR" sz="2400" b="1" dirty="0"/>
              <a:t>2.3.4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LAB3 – </a:t>
            </a:r>
            <a:r>
              <a:rPr lang="ko-KR" altLang="en-US" sz="2400" b="1" dirty="0"/>
              <a:t>고속 클럭 환경에서의 동작 확인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 </a:t>
            </a:r>
            <a:endParaRPr lang="en-US" altLang="ko-KR" b="1" dirty="0"/>
          </a:p>
          <a:p>
            <a:pPr lvl="1"/>
            <a:r>
              <a:rPr lang="ko-KR" altLang="en-US" dirty="0"/>
              <a:t>클럭의 주기 확인</a:t>
            </a:r>
            <a:endParaRPr lang="en-US" altLang="ko-KR" dirty="0"/>
          </a:p>
          <a:p>
            <a:pPr lvl="1"/>
            <a:r>
              <a:rPr lang="ko-KR" altLang="en-US" dirty="0"/>
              <a:t>조합회로 동작 </a:t>
            </a:r>
            <a:r>
              <a:rPr lang="en-US" altLang="ko-KR" dirty="0"/>
              <a:t>: </a:t>
            </a:r>
            <a:r>
              <a:rPr lang="ko-KR" altLang="en-US" dirty="0"/>
              <a:t>입력의 변화에 따라 빠른 출력이 나오는지 </a:t>
            </a:r>
          </a:p>
          <a:p>
            <a:pPr lvl="1"/>
            <a:r>
              <a:rPr lang="ko-KR" altLang="en-US" dirty="0"/>
              <a:t>순차회로 동작 </a:t>
            </a:r>
            <a:r>
              <a:rPr lang="en-US" altLang="ko-KR" dirty="0"/>
              <a:t>: </a:t>
            </a:r>
            <a:r>
              <a:rPr lang="ko-KR" altLang="en-US" dirty="0" err="1"/>
              <a:t>클록의</a:t>
            </a:r>
            <a:r>
              <a:rPr lang="ko-KR" altLang="en-US" dirty="0"/>
              <a:t> </a:t>
            </a:r>
            <a:r>
              <a:rPr lang="en-US" altLang="ko-KR" dirty="0"/>
              <a:t>Rising </a:t>
            </a:r>
            <a:r>
              <a:rPr lang="ko-KR" altLang="en-US" dirty="0"/>
              <a:t>직후에 빠른 출력이 나오는지</a:t>
            </a:r>
          </a:p>
          <a:p>
            <a:pPr lvl="1"/>
            <a:endParaRPr lang="ko-KR" altLang="en-US" b="1" dirty="0"/>
          </a:p>
        </p:txBody>
      </p:sp>
      <p:pic>
        <p:nvPicPr>
          <p:cNvPr id="5" name="Picture 33">
            <a:extLst>
              <a:ext uri="{FF2B5EF4-FFF2-40B4-BE49-F238E27FC236}">
                <a16:creationId xmlns:a16="http://schemas.microsoft.com/office/drawing/2014/main" id="{8191164E-61A7-4728-89A4-8DDB87CA5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86506" y="2937571"/>
            <a:ext cx="6462411" cy="3871789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6EA3BD9B-B970-407A-A710-343A63C7B37B}"/>
              </a:ext>
            </a:extLst>
          </p:cNvPr>
          <p:cNvSpPr/>
          <p:nvPr/>
        </p:nvSpPr>
        <p:spPr>
          <a:xfrm>
            <a:off x="7896065" y="2559117"/>
            <a:ext cx="3418858" cy="821211"/>
          </a:xfrm>
          <a:prstGeom prst="wedgeRectCallout">
            <a:avLst>
              <a:gd name="adj1" fmla="val -54539"/>
              <a:gd name="adj2" fmla="val 97104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가운데 마우스 휠 버튼 클릭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지점간 차이 확인 가능</a:t>
            </a:r>
          </a:p>
        </p:txBody>
      </p:sp>
    </p:spTree>
    <p:extLst>
      <p:ext uri="{BB962C8B-B14F-4D97-AF65-F5344CB8AC3E}">
        <p14:creationId xmlns:p14="http://schemas.microsoft.com/office/powerpoint/2010/main" val="277057362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2.3 </a:t>
            </a:r>
            <a:r>
              <a:rPr lang="ko-KR" altLang="en-US" dirty="0"/>
              <a:t>실습 </a:t>
            </a:r>
            <a:r>
              <a:rPr lang="en-US" altLang="ko-KR" dirty="0"/>
              <a:t>: STD 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941809" cy="466312"/>
          </a:xfrm>
        </p:spPr>
        <p:txBody>
          <a:bodyPr/>
          <a:lstStyle/>
          <a:p>
            <a:r>
              <a:rPr lang="ko-KR" altLang="en-US" sz="2400" b="1" dirty="0"/>
              <a:t>스탠다드 셀 실습 요약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3</a:t>
            </a:r>
            <a:r>
              <a:rPr lang="ko-KR" altLang="en-US" b="1" dirty="0"/>
              <a:t>가지 </a:t>
            </a:r>
            <a:r>
              <a:rPr lang="en-US" altLang="ko-KR" b="1" dirty="0"/>
              <a:t>LAB </a:t>
            </a:r>
            <a:r>
              <a:rPr lang="ko-KR" altLang="en-US" b="1" dirty="0"/>
              <a:t>학습 성과 </a:t>
            </a:r>
            <a:endParaRPr lang="en-US" altLang="ko-KR" b="1" dirty="0"/>
          </a:p>
          <a:p>
            <a:pPr lvl="1"/>
            <a:r>
              <a:rPr lang="en-US" altLang="ko-KR" b="1" dirty="0"/>
              <a:t>LAB1 : GUI </a:t>
            </a:r>
            <a:r>
              <a:rPr lang="ko-KR" altLang="en-US" b="1" dirty="0"/>
              <a:t>기반 기본 동작 확인  </a:t>
            </a:r>
            <a:endParaRPr lang="en-US" altLang="ko-KR" b="1" dirty="0"/>
          </a:p>
          <a:p>
            <a:pPr lvl="2"/>
            <a:r>
              <a:rPr lang="ko-KR" altLang="en-US" b="1" dirty="0"/>
              <a:t>조합논리 </a:t>
            </a:r>
            <a:r>
              <a:rPr lang="en-US" altLang="ko-KR" b="1" dirty="0"/>
              <a:t>+ </a:t>
            </a:r>
            <a:r>
              <a:rPr lang="ko-KR" altLang="en-US" b="1" dirty="0"/>
              <a:t>순차논리 정상 동작 검증 </a:t>
            </a:r>
            <a:endParaRPr lang="en-US" altLang="ko-KR" b="1" dirty="0"/>
          </a:p>
          <a:p>
            <a:pPr lvl="2"/>
            <a:r>
              <a:rPr lang="ko-KR" altLang="en-US" b="1" dirty="0"/>
              <a:t>리셋 기능 및 시각적 분석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LAB2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덤프 파일 활용 분석 </a:t>
            </a:r>
            <a:endParaRPr lang="en-US" altLang="ko-KR" b="1" dirty="0"/>
          </a:p>
          <a:p>
            <a:pPr lvl="2"/>
            <a:r>
              <a:rPr lang="en-US" altLang="ko-KR" b="1" dirty="0"/>
              <a:t>GUI </a:t>
            </a:r>
            <a:r>
              <a:rPr lang="ko-KR" altLang="en-US" b="1" dirty="0"/>
              <a:t>없는 백그라운드 실행</a:t>
            </a:r>
            <a:endParaRPr lang="en-US" altLang="ko-KR" b="1" dirty="0"/>
          </a:p>
          <a:p>
            <a:pPr lvl="2"/>
            <a:r>
              <a:rPr lang="ko-KR" altLang="en-US" b="1" dirty="0"/>
              <a:t>저장된 데이터 사후 분석 </a:t>
            </a:r>
            <a:endParaRPr lang="en-US" altLang="ko-KR" b="1" dirty="0"/>
          </a:p>
          <a:p>
            <a:pPr lvl="2"/>
            <a:r>
              <a:rPr lang="en-US" altLang="ko-KR" b="1" dirty="0"/>
              <a:t>$finish</a:t>
            </a:r>
            <a:r>
              <a:rPr lang="ko-KR" altLang="en-US" b="1" dirty="0"/>
              <a:t>와 </a:t>
            </a:r>
            <a:r>
              <a:rPr lang="en-US" altLang="ko-KR" b="1" dirty="0"/>
              <a:t>$stop</a:t>
            </a:r>
            <a:r>
              <a:rPr lang="ko-KR" altLang="en-US" b="1" dirty="0"/>
              <a:t> 차이 이해 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LAB3 : </a:t>
            </a:r>
            <a:r>
              <a:rPr lang="ko-KR" altLang="en-US" b="1" dirty="0"/>
              <a:t>고속 </a:t>
            </a:r>
            <a:r>
              <a:rPr lang="ko-KR" altLang="en-US" b="1" dirty="0" err="1"/>
              <a:t>클록</a:t>
            </a:r>
            <a:r>
              <a:rPr lang="ko-KR" altLang="en-US" b="1" dirty="0"/>
              <a:t> 환경 검증</a:t>
            </a:r>
            <a:endParaRPr lang="en-US" altLang="ko-KR" b="1" dirty="0"/>
          </a:p>
          <a:p>
            <a:pPr lvl="2"/>
            <a:r>
              <a:rPr lang="en-US" altLang="ko-KR" b="1" dirty="0"/>
              <a:t>1GHz</a:t>
            </a:r>
            <a:r>
              <a:rPr lang="ko-KR" altLang="en-US" b="1" dirty="0"/>
              <a:t> </a:t>
            </a:r>
            <a:r>
              <a:rPr lang="ko-KR" altLang="en-US" b="1" dirty="0" err="1"/>
              <a:t>클록에서</a:t>
            </a:r>
            <a:r>
              <a:rPr lang="ko-KR" altLang="en-US" b="1" dirty="0"/>
              <a:t> 동작 확인</a:t>
            </a:r>
            <a:endParaRPr lang="en-US" altLang="ko-KR" b="1" dirty="0"/>
          </a:p>
          <a:p>
            <a:pPr lvl="2"/>
            <a:r>
              <a:rPr lang="ko-KR" altLang="en-US" b="1" dirty="0"/>
              <a:t>셀 지연 시간파악</a:t>
            </a:r>
          </a:p>
        </p:txBody>
      </p:sp>
    </p:spTree>
    <p:extLst>
      <p:ext uri="{BB962C8B-B14F-4D97-AF65-F5344CB8AC3E}">
        <p14:creationId xmlns:p14="http://schemas.microsoft.com/office/powerpoint/2010/main" val="2648283078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7DCC129-A133-48DC-BA01-B7ABEDB1BD81}"/>
              </a:ext>
            </a:extLst>
          </p:cNvPr>
          <p:cNvSpPr/>
          <p:nvPr/>
        </p:nvSpPr>
        <p:spPr>
          <a:xfrm>
            <a:off x="-21381" y="0"/>
            <a:ext cx="12213381" cy="6858000"/>
          </a:xfrm>
          <a:prstGeom prst="rect">
            <a:avLst/>
          </a:prstGeom>
          <a:solidFill>
            <a:srgbClr val="466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415778-0CFB-4A66-B965-B6B3024E9B6C}"/>
              </a:ext>
            </a:extLst>
          </p:cNvPr>
          <p:cNvSpPr/>
          <p:nvPr/>
        </p:nvSpPr>
        <p:spPr>
          <a:xfrm>
            <a:off x="823248" y="1762290"/>
            <a:ext cx="10324364" cy="3041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/>
              <a:t>실습 </a:t>
            </a:r>
            <a:r>
              <a:rPr lang="en-US" altLang="ko-KR" sz="4800" dirty="0"/>
              <a:t>: IO</a:t>
            </a:r>
            <a:r>
              <a:rPr lang="ko-KR" altLang="en-US" sz="4800" dirty="0"/>
              <a:t>셀 테스트와 해석 </a:t>
            </a:r>
            <a:endParaRPr lang="en-US" altLang="ko-KR" sz="4800" dirty="0"/>
          </a:p>
        </p:txBody>
      </p:sp>
    </p:spTree>
    <p:extLst>
      <p:ext uri="{BB962C8B-B14F-4D97-AF65-F5344CB8AC3E}">
        <p14:creationId xmlns:p14="http://schemas.microsoft.com/office/powerpoint/2010/main" val="16580224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2.4.1 IO Cell</a:t>
            </a:r>
            <a:r>
              <a:rPr lang="ko-KR" altLang="en-US" sz="2400" b="1" dirty="0"/>
              <a:t>의 개념과 종류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IO Cell</a:t>
            </a:r>
            <a:r>
              <a:rPr lang="ko-KR" altLang="en-US" b="1" dirty="0"/>
              <a:t>의 역할</a:t>
            </a:r>
          </a:p>
          <a:p>
            <a:pPr lvl="1"/>
            <a:r>
              <a:rPr lang="ko-KR" altLang="en-US" b="1" dirty="0"/>
              <a:t>칩 내부와 외부 환경</a:t>
            </a:r>
            <a:r>
              <a:rPr lang="ko-KR" altLang="en-US" dirty="0"/>
              <a:t> 사이 인터페이스</a:t>
            </a:r>
          </a:p>
          <a:p>
            <a:pPr lvl="1"/>
            <a:r>
              <a:rPr lang="ko-KR" altLang="en-US" b="1" dirty="0"/>
              <a:t>신호 전달 이상</a:t>
            </a:r>
            <a:r>
              <a:rPr lang="ko-KR" altLang="en-US" dirty="0"/>
              <a:t>의 중요한 기능 수행</a:t>
            </a:r>
          </a:p>
          <a:p>
            <a:endParaRPr lang="en-US" altLang="ko-KR" b="1" dirty="0"/>
          </a:p>
          <a:p>
            <a:r>
              <a:rPr lang="ko-KR" altLang="en-US" b="1" dirty="0"/>
              <a:t>주요 기능 </a:t>
            </a:r>
            <a:r>
              <a:rPr lang="en-US" altLang="ko-KR" b="1" dirty="0"/>
              <a:t>4</a:t>
            </a:r>
            <a:r>
              <a:rPr lang="ko-KR" altLang="en-US" b="1" dirty="0"/>
              <a:t>가지</a:t>
            </a:r>
          </a:p>
          <a:p>
            <a:pPr lvl="1"/>
            <a:r>
              <a:rPr lang="ko-KR" altLang="en-US" b="1" dirty="0"/>
              <a:t>신호 레벨 변환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내부 </a:t>
            </a:r>
            <a:r>
              <a:rPr lang="en-US" altLang="ko-KR" dirty="0"/>
              <a:t>1.0V ↔ </a:t>
            </a:r>
            <a:r>
              <a:rPr lang="ko-KR" altLang="en-US" dirty="0"/>
              <a:t>외부 </a:t>
            </a:r>
            <a:r>
              <a:rPr lang="en-US" altLang="ko-KR" dirty="0"/>
              <a:t>3.3V)</a:t>
            </a:r>
          </a:p>
          <a:p>
            <a:pPr lvl="1"/>
            <a:r>
              <a:rPr lang="ko-KR" altLang="en-US" b="1" dirty="0"/>
              <a:t>보호 기능</a:t>
            </a:r>
            <a:r>
              <a:rPr lang="ko-KR" altLang="en-US" dirty="0"/>
              <a:t> </a:t>
            </a:r>
            <a:r>
              <a:rPr lang="en-US" altLang="ko-KR" dirty="0"/>
              <a:t>(ESD, </a:t>
            </a:r>
            <a:r>
              <a:rPr lang="ko-KR" altLang="en-US" dirty="0"/>
              <a:t>과전압</a:t>
            </a:r>
            <a:r>
              <a:rPr lang="en-US" altLang="ko-KR" dirty="0"/>
              <a:t>, </a:t>
            </a:r>
            <a:r>
              <a:rPr lang="ko-KR" altLang="en-US" dirty="0"/>
              <a:t>전류 제한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구동 능력</a:t>
            </a:r>
            <a:r>
              <a:rPr lang="ko-KR" altLang="en-US" dirty="0"/>
              <a:t> </a:t>
            </a:r>
            <a:r>
              <a:rPr lang="en-US" altLang="ko-KR" dirty="0"/>
              <a:t>(Drive Strength, </a:t>
            </a:r>
            <a:r>
              <a:rPr lang="ko-KR" altLang="en-US" dirty="0"/>
              <a:t>임피던스 매칭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특수 기능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풀업</a:t>
            </a:r>
            <a:r>
              <a:rPr lang="en-US" altLang="ko-KR" dirty="0"/>
              <a:t>/</a:t>
            </a:r>
            <a:r>
              <a:rPr lang="ko-KR" altLang="en-US" dirty="0" err="1"/>
              <a:t>풀다운</a:t>
            </a:r>
            <a:r>
              <a:rPr lang="en-US" altLang="ko-KR" dirty="0"/>
              <a:t>, </a:t>
            </a:r>
            <a:r>
              <a:rPr lang="ko-KR" altLang="en-US" dirty="0" err="1"/>
              <a:t>트라이스테이트</a:t>
            </a:r>
            <a:r>
              <a:rPr lang="en-US" altLang="ko-KR" dirty="0"/>
              <a:t>)</a:t>
            </a:r>
          </a:p>
          <a:p>
            <a:endParaRPr lang="en-US" altLang="ko-KR" b="1" dirty="0"/>
          </a:p>
          <a:p>
            <a:r>
              <a:rPr lang="ko-KR" altLang="en-US" b="1" dirty="0"/>
              <a:t>설계자 필수 분류 </a:t>
            </a:r>
            <a:r>
              <a:rPr lang="en-US" altLang="ko-KR" b="1" dirty="0"/>
              <a:t>2</a:t>
            </a:r>
            <a:r>
              <a:rPr lang="ko-KR" altLang="en-US" b="1" dirty="0"/>
              <a:t>가지</a:t>
            </a:r>
          </a:p>
          <a:p>
            <a:pPr lvl="1"/>
            <a:r>
              <a:rPr lang="ko-KR" altLang="en-US" b="1" dirty="0"/>
              <a:t>신호 입출력 처리</a:t>
            </a:r>
            <a:r>
              <a:rPr lang="ko-KR" altLang="en-US" dirty="0"/>
              <a:t> </a:t>
            </a:r>
            <a:r>
              <a:rPr lang="en-US" altLang="ko-KR" dirty="0"/>
              <a:t>- GPIO</a:t>
            </a:r>
          </a:p>
          <a:p>
            <a:pPr lvl="1"/>
            <a:r>
              <a:rPr lang="en-US" altLang="ko-KR" b="1" dirty="0"/>
              <a:t>Power </a:t>
            </a:r>
            <a:r>
              <a:rPr lang="ko-KR" altLang="en-US" b="1" dirty="0"/>
              <a:t>및 </a:t>
            </a:r>
            <a:r>
              <a:rPr lang="en-US" altLang="ko-KR" b="1" dirty="0"/>
              <a:t>Ground </a:t>
            </a:r>
            <a:r>
              <a:rPr lang="ko-KR" altLang="en-US" b="1" dirty="0"/>
              <a:t>공급</a:t>
            </a:r>
            <a:r>
              <a:rPr lang="ko-KR" altLang="en-US" dirty="0"/>
              <a:t> </a:t>
            </a:r>
            <a:r>
              <a:rPr lang="en-US" altLang="ko-KR" dirty="0"/>
              <a:t>- Power IO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EC692E-9475-4434-8B8E-FF3836E38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097320"/>
              </p:ext>
            </p:extLst>
          </p:nvPr>
        </p:nvGraphicFramePr>
        <p:xfrm>
          <a:off x="5233482" y="4797841"/>
          <a:ext cx="6760722" cy="1961906"/>
        </p:xfrm>
        <a:graphic>
          <a:graphicData uri="http://schemas.openxmlformats.org/drawingml/2006/table">
            <a:tbl>
              <a:tblPr/>
              <a:tblGrid>
                <a:gridCol w="1575880">
                  <a:extLst>
                    <a:ext uri="{9D8B030D-6E8A-4147-A177-3AD203B41FA5}">
                      <a16:colId xmlns:a16="http://schemas.microsoft.com/office/drawing/2014/main" val="971393729"/>
                    </a:ext>
                  </a:extLst>
                </a:gridCol>
                <a:gridCol w="2491095">
                  <a:extLst>
                    <a:ext uri="{9D8B030D-6E8A-4147-A177-3AD203B41FA5}">
                      <a16:colId xmlns:a16="http://schemas.microsoft.com/office/drawing/2014/main" val="870473450"/>
                    </a:ext>
                  </a:extLst>
                </a:gridCol>
                <a:gridCol w="2693747">
                  <a:extLst>
                    <a:ext uri="{9D8B030D-6E8A-4147-A177-3AD203B41FA5}">
                      <a16:colId xmlns:a16="http://schemas.microsoft.com/office/drawing/2014/main" val="1419386960"/>
                    </a:ext>
                  </a:extLst>
                </a:gridCol>
              </a:tblGrid>
              <a:tr h="3579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분류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설명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 이름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231050"/>
                  </a:ext>
                </a:extLst>
              </a:tr>
              <a:tr h="72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GPIO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(General Purpose)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0, 1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값을 입력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/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PADDI, PADDO, PADDB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879371"/>
                  </a:ext>
                </a:extLst>
              </a:tr>
              <a:tr h="8817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POWER IO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STD, IO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셀이 동작할 수 있도록 전압과 그라운드 공급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Core : PADVDD, PADVSS</a:t>
                      </a:r>
                      <a:endParaRPr lang="it-IT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: PADVDDIOR, PADVSSIOR</a:t>
                      </a:r>
                      <a:endParaRPr lang="it-IT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9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677638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2.4.1 IO Cell</a:t>
            </a:r>
            <a:r>
              <a:rPr lang="ko-KR" altLang="en-US" sz="2400" b="1" dirty="0"/>
              <a:t>의 개념과 종류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신호 입출력 처리 </a:t>
            </a:r>
            <a:r>
              <a:rPr lang="en-US" altLang="ko-KR" b="1" dirty="0"/>
              <a:t>- GPIO</a:t>
            </a:r>
          </a:p>
          <a:p>
            <a:pPr lvl="1"/>
            <a:r>
              <a:rPr lang="ko-KR" altLang="en-US" b="1" dirty="0"/>
              <a:t>일반 목적 입출력</a:t>
            </a:r>
            <a:r>
              <a:rPr lang="ko-KR" altLang="en-US" dirty="0"/>
              <a:t> </a:t>
            </a:r>
            <a:r>
              <a:rPr lang="en-US" altLang="ko-KR" dirty="0"/>
              <a:t>(General Purpose I/O)</a:t>
            </a:r>
          </a:p>
          <a:p>
            <a:pPr lvl="1"/>
            <a:r>
              <a:rPr lang="ko-KR" altLang="en-US" b="1" dirty="0"/>
              <a:t>칩 외부 장치와 데이터 송수신</a:t>
            </a:r>
            <a:endParaRPr lang="ko-KR" altLang="en-US" dirty="0"/>
          </a:p>
          <a:p>
            <a:endParaRPr lang="en-US" altLang="ko-KR" b="1" dirty="0"/>
          </a:p>
          <a:p>
            <a:r>
              <a:rPr lang="en-US" altLang="ko-KR" b="1" dirty="0"/>
              <a:t>GPIO </a:t>
            </a:r>
            <a:r>
              <a:rPr lang="ko-KR" altLang="en-US" b="1" dirty="0"/>
              <a:t>셀 종류</a:t>
            </a:r>
          </a:p>
          <a:p>
            <a:pPr lvl="1"/>
            <a:r>
              <a:rPr lang="en-US" altLang="ko-KR" b="1" dirty="0"/>
              <a:t>PADDI</a:t>
            </a:r>
            <a:r>
              <a:rPr lang="en-US" altLang="ko-KR" dirty="0"/>
              <a:t>: Input </a:t>
            </a:r>
            <a:r>
              <a:rPr lang="ko-KR" altLang="en-US" dirty="0"/>
              <a:t>셀 </a:t>
            </a:r>
            <a:r>
              <a:rPr lang="en-US" altLang="ko-KR" dirty="0"/>
              <a:t>(PAD → Y)</a:t>
            </a:r>
          </a:p>
          <a:p>
            <a:pPr lvl="1"/>
            <a:r>
              <a:rPr lang="en-US" altLang="ko-KR" b="1" dirty="0"/>
              <a:t>PADDO</a:t>
            </a:r>
            <a:r>
              <a:rPr lang="en-US" altLang="ko-KR" dirty="0"/>
              <a:t>: Output </a:t>
            </a:r>
            <a:r>
              <a:rPr lang="ko-KR" altLang="en-US" dirty="0"/>
              <a:t>셀 </a:t>
            </a:r>
            <a:r>
              <a:rPr lang="en-US" altLang="ko-KR" dirty="0"/>
              <a:t>(A → PAD)</a:t>
            </a:r>
          </a:p>
          <a:p>
            <a:pPr lvl="1"/>
            <a:r>
              <a:rPr lang="en-US" altLang="ko-KR" b="1" dirty="0"/>
              <a:t>PADDB</a:t>
            </a:r>
            <a:r>
              <a:rPr lang="en-US" altLang="ko-KR" dirty="0"/>
              <a:t>: Bi-direction </a:t>
            </a:r>
            <a:r>
              <a:rPr lang="ko-KR" altLang="en-US" dirty="0"/>
              <a:t>셀 </a:t>
            </a:r>
            <a:r>
              <a:rPr lang="en-US" altLang="ko-KR" dirty="0"/>
              <a:t>(</a:t>
            </a:r>
            <a:r>
              <a:rPr lang="ko-KR" altLang="en-US" dirty="0"/>
              <a:t>양방향</a:t>
            </a:r>
            <a:r>
              <a:rPr lang="en-US" altLang="ko-KR" dirty="0"/>
              <a:t>)</a:t>
            </a:r>
          </a:p>
          <a:p>
            <a:endParaRPr lang="en-US" altLang="ko-KR" b="1" dirty="0"/>
          </a:p>
          <a:p>
            <a:r>
              <a:rPr lang="en-US" altLang="ko-KR" b="1" dirty="0"/>
              <a:t>PADDB </a:t>
            </a:r>
            <a:r>
              <a:rPr lang="ko-KR" altLang="en-US" b="1" dirty="0"/>
              <a:t>동작 원리</a:t>
            </a:r>
          </a:p>
          <a:p>
            <a:pPr lvl="1"/>
            <a:r>
              <a:rPr lang="en-US" altLang="ko-KR" b="1" dirty="0"/>
              <a:t>OEN = 1</a:t>
            </a:r>
            <a:r>
              <a:rPr lang="en-US" altLang="ko-KR" dirty="0"/>
              <a:t>: </a:t>
            </a:r>
            <a:r>
              <a:rPr lang="ko-KR" altLang="en-US" dirty="0"/>
              <a:t>입력 모드 </a:t>
            </a:r>
            <a:r>
              <a:rPr lang="en-US" altLang="ko-KR" dirty="0"/>
              <a:t>(PAD → Y)</a:t>
            </a:r>
          </a:p>
          <a:p>
            <a:pPr lvl="1"/>
            <a:r>
              <a:rPr lang="en-US" altLang="ko-KR" b="1" dirty="0"/>
              <a:t>OEN = 0</a:t>
            </a:r>
            <a:r>
              <a:rPr lang="en-US" altLang="ko-KR" dirty="0"/>
              <a:t>: </a:t>
            </a:r>
            <a:r>
              <a:rPr lang="ko-KR" altLang="en-US" dirty="0"/>
              <a:t>출력 모드 </a:t>
            </a:r>
            <a:r>
              <a:rPr lang="en-US" altLang="ko-KR" dirty="0"/>
              <a:t>(A → PAD)</a:t>
            </a:r>
          </a:p>
          <a:p>
            <a:pPr lvl="1"/>
            <a:r>
              <a:rPr lang="ko-KR" altLang="en-US" b="1" dirty="0"/>
              <a:t>하나의 셀로 양방향 처리</a:t>
            </a:r>
            <a:r>
              <a:rPr lang="ko-KR" altLang="en-US" dirty="0"/>
              <a:t> 가능</a:t>
            </a:r>
          </a:p>
        </p:txBody>
      </p:sp>
      <p:pic>
        <p:nvPicPr>
          <p:cNvPr id="5" name="Picture 35">
            <a:extLst>
              <a:ext uri="{FF2B5EF4-FFF2-40B4-BE49-F238E27FC236}">
                <a16:creationId xmlns:a16="http://schemas.microsoft.com/office/drawing/2014/main" id="{6F656EFB-ACB7-493C-BFE6-554FE4B6B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60348" y="251819"/>
            <a:ext cx="2672239" cy="12332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37">
            <a:extLst>
              <a:ext uri="{FF2B5EF4-FFF2-40B4-BE49-F238E27FC236}">
                <a16:creationId xmlns:a16="http://schemas.microsoft.com/office/drawing/2014/main" id="{2D89EFFF-3A73-4DA3-A80E-3B2D409EF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60348" y="1741221"/>
            <a:ext cx="2672239" cy="12332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39">
            <a:extLst>
              <a:ext uri="{FF2B5EF4-FFF2-40B4-BE49-F238E27FC236}">
                <a16:creationId xmlns:a16="http://schemas.microsoft.com/office/drawing/2014/main" id="{98520C1B-D85E-4C9E-89BF-91778F0FC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84974" y="3490919"/>
            <a:ext cx="2947613" cy="136030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41">
            <a:extLst>
              <a:ext uri="{FF2B5EF4-FFF2-40B4-BE49-F238E27FC236}">
                <a16:creationId xmlns:a16="http://schemas.microsoft.com/office/drawing/2014/main" id="{D4733F52-FBDA-40A3-A1E7-9214283C88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884974" y="5204172"/>
            <a:ext cx="2947613" cy="13603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AC913AC-804D-4B05-88AE-70479AE194F2}"/>
              </a:ext>
            </a:extLst>
          </p:cNvPr>
          <p:cNvSpPr/>
          <p:nvPr/>
        </p:nvSpPr>
        <p:spPr>
          <a:xfrm>
            <a:off x="9381346" y="88291"/>
            <a:ext cx="1805462" cy="42084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ko-KR" dirty="0">
                <a:solidFill>
                  <a:schemeClr val="tx1"/>
                </a:solidFill>
              </a:rPr>
              <a:t>PADDI : </a:t>
            </a:r>
            <a:r>
              <a:rPr lang="ko-KR" altLang="en-US" dirty="0">
                <a:solidFill>
                  <a:schemeClr val="tx1"/>
                </a:solidFill>
              </a:rPr>
              <a:t>입력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F391CA-E284-4DDF-B4F8-8383A7B0B0AA}"/>
              </a:ext>
            </a:extLst>
          </p:cNvPr>
          <p:cNvSpPr/>
          <p:nvPr/>
        </p:nvSpPr>
        <p:spPr>
          <a:xfrm>
            <a:off x="9381346" y="1598527"/>
            <a:ext cx="1805462" cy="42084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ko-KR" dirty="0">
                <a:solidFill>
                  <a:schemeClr val="tx1"/>
                </a:solidFill>
              </a:rPr>
              <a:t>PADDO : </a:t>
            </a:r>
            <a:r>
              <a:rPr lang="ko-KR" altLang="en-US" dirty="0">
                <a:solidFill>
                  <a:schemeClr val="tx1"/>
                </a:solidFill>
              </a:rPr>
              <a:t>출력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DAE05F-02AF-4885-A02A-C52E9B79C9CE}"/>
              </a:ext>
            </a:extLst>
          </p:cNvPr>
          <p:cNvSpPr/>
          <p:nvPr/>
        </p:nvSpPr>
        <p:spPr>
          <a:xfrm>
            <a:off x="9381345" y="3163664"/>
            <a:ext cx="1805463" cy="42084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ko-KR" dirty="0">
                <a:solidFill>
                  <a:schemeClr val="tx1"/>
                </a:solidFill>
              </a:rPr>
              <a:t>PADDB : </a:t>
            </a:r>
            <a:r>
              <a:rPr lang="ko-KR" altLang="en-US" dirty="0">
                <a:solidFill>
                  <a:schemeClr val="tx1"/>
                </a:solidFill>
              </a:rPr>
              <a:t>입력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FC8F68-8819-45BF-86D7-B4CC289E056B}"/>
              </a:ext>
            </a:extLst>
          </p:cNvPr>
          <p:cNvSpPr/>
          <p:nvPr/>
        </p:nvSpPr>
        <p:spPr>
          <a:xfrm>
            <a:off x="9381346" y="4886491"/>
            <a:ext cx="1805462" cy="42084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ko-KR" dirty="0">
                <a:solidFill>
                  <a:schemeClr val="tx1"/>
                </a:solidFill>
              </a:rPr>
              <a:t>PADDB : </a:t>
            </a:r>
            <a:r>
              <a:rPr lang="ko-KR" altLang="en-US" dirty="0">
                <a:solidFill>
                  <a:schemeClr val="tx1"/>
                </a:solidFill>
              </a:rPr>
              <a:t>출력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559186"/>
      </p:ext>
    </p:extLst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2.4.1 IO Cell</a:t>
            </a:r>
            <a:r>
              <a:rPr lang="ko-KR" altLang="en-US" sz="2400" b="1" dirty="0"/>
              <a:t>의 개념과 종류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Power </a:t>
            </a:r>
            <a:r>
              <a:rPr lang="ko-KR" altLang="en-US" b="1" dirty="0"/>
              <a:t>및 </a:t>
            </a:r>
            <a:r>
              <a:rPr lang="en-US" altLang="ko-KR" b="1" dirty="0"/>
              <a:t>Ground </a:t>
            </a:r>
            <a:r>
              <a:rPr lang="ko-KR" altLang="en-US" b="1" dirty="0"/>
              <a:t>공급</a:t>
            </a:r>
          </a:p>
          <a:p>
            <a:pPr lvl="1"/>
            <a:r>
              <a:rPr lang="en-US" altLang="ko-KR" b="1" dirty="0"/>
              <a:t>IO </a:t>
            </a:r>
            <a:r>
              <a:rPr lang="ko-KR" altLang="en-US" b="1" dirty="0"/>
              <a:t>영역</a:t>
            </a:r>
            <a:r>
              <a:rPr lang="ko-KR" altLang="en-US" dirty="0"/>
              <a:t>과 </a:t>
            </a:r>
            <a:r>
              <a:rPr lang="ko-KR" altLang="en-US" b="1" dirty="0"/>
              <a:t>코어 영역</a:t>
            </a:r>
            <a:r>
              <a:rPr lang="ko-KR" altLang="en-US" dirty="0"/>
              <a:t> 별도 전력 공급</a:t>
            </a:r>
          </a:p>
          <a:p>
            <a:pPr lvl="1"/>
            <a:r>
              <a:rPr lang="ko-KR" altLang="en-US" b="1" dirty="0"/>
              <a:t>모든 셀이 동작</a:t>
            </a:r>
            <a:r>
              <a:rPr lang="ko-KR" altLang="en-US" dirty="0"/>
              <a:t>하려면 파워 필요</a:t>
            </a:r>
          </a:p>
          <a:p>
            <a:endParaRPr lang="en-US" altLang="ko-KR" b="1" dirty="0"/>
          </a:p>
          <a:p>
            <a:r>
              <a:rPr lang="en-US" altLang="ko-KR" b="1" dirty="0"/>
              <a:t>Power IO </a:t>
            </a:r>
            <a:r>
              <a:rPr lang="ko-KR" altLang="en-US" b="1" dirty="0"/>
              <a:t>셀 종류</a:t>
            </a:r>
          </a:p>
          <a:p>
            <a:pPr lvl="1"/>
            <a:r>
              <a:rPr lang="ko-KR" altLang="en-US" b="1" dirty="0"/>
              <a:t>코어 영역</a:t>
            </a:r>
            <a:r>
              <a:rPr lang="en-US" altLang="ko-KR" dirty="0"/>
              <a:t>: PADVDD, PADVSS</a:t>
            </a:r>
          </a:p>
          <a:p>
            <a:pPr lvl="1"/>
            <a:r>
              <a:rPr lang="en-US" altLang="ko-KR" b="1" dirty="0"/>
              <a:t>IO </a:t>
            </a:r>
            <a:r>
              <a:rPr lang="ko-KR" altLang="en-US" b="1" dirty="0"/>
              <a:t>영역</a:t>
            </a:r>
            <a:r>
              <a:rPr lang="en-US" altLang="ko-KR" dirty="0"/>
              <a:t>: PADVDDIOR, PADVSSIOR</a:t>
            </a:r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323748044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2.4.1 IO Cell</a:t>
            </a:r>
            <a:r>
              <a:rPr lang="ko-KR" altLang="en-US" sz="2400" b="1" dirty="0"/>
              <a:t>의 개념과 종류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시그널 </a:t>
            </a:r>
            <a:r>
              <a:rPr lang="en-US" altLang="ko-KR" b="1" dirty="0"/>
              <a:t>IO</a:t>
            </a:r>
            <a:r>
              <a:rPr lang="ko-KR" altLang="en-US" b="1" dirty="0"/>
              <a:t>셀과 파워 </a:t>
            </a:r>
            <a:r>
              <a:rPr lang="en-US" altLang="ko-KR" b="1" dirty="0"/>
              <a:t>IO</a:t>
            </a:r>
            <a:r>
              <a:rPr lang="ko-KR" altLang="en-US" b="1" dirty="0"/>
              <a:t>셀을 모두 활용한 모습</a:t>
            </a:r>
            <a:endParaRPr lang="en-US" altLang="ko-KR" b="1" dirty="0"/>
          </a:p>
          <a:p>
            <a:r>
              <a:rPr lang="en-US" altLang="ko-KR" b="1" dirty="0"/>
              <a:t>IO </a:t>
            </a:r>
            <a:r>
              <a:rPr lang="ko-KR" altLang="en-US" b="1" dirty="0"/>
              <a:t>셀 활용 예시</a:t>
            </a:r>
          </a:p>
          <a:p>
            <a:pPr lvl="1"/>
            <a:r>
              <a:rPr lang="ko-KR" altLang="en-US" b="1" dirty="0"/>
              <a:t>신호</a:t>
            </a:r>
            <a:r>
              <a:rPr lang="en-US" altLang="ko-KR" dirty="0"/>
              <a:t>: PADDI, PADDO</a:t>
            </a:r>
            <a:r>
              <a:rPr lang="ko-KR" altLang="en-US" dirty="0"/>
              <a:t>로 입출력</a:t>
            </a:r>
          </a:p>
          <a:p>
            <a:pPr lvl="1"/>
            <a:r>
              <a:rPr lang="ko-KR" altLang="en-US" b="1" dirty="0"/>
              <a:t>전력</a:t>
            </a:r>
            <a:r>
              <a:rPr lang="en-US" altLang="ko-KR" dirty="0"/>
              <a:t>: VDD, VSS </a:t>
            </a:r>
            <a:r>
              <a:rPr lang="ko-KR" altLang="en-US" dirty="0"/>
              <a:t>단어 포함 셀로 공급</a:t>
            </a:r>
          </a:p>
          <a:p>
            <a:pPr lvl="1"/>
            <a:r>
              <a:rPr lang="ko-KR" altLang="en-US" b="1" dirty="0"/>
              <a:t>빨간색 박스</a:t>
            </a:r>
            <a:r>
              <a:rPr lang="en-US" altLang="ko-KR" dirty="0"/>
              <a:t>: </a:t>
            </a:r>
            <a:r>
              <a:rPr lang="ko-KR" altLang="en-US" dirty="0"/>
              <a:t>파워 공급 셀들</a:t>
            </a:r>
          </a:p>
          <a:p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5AE450A-D1E7-462D-A7D6-EF4BDE33EA54}"/>
              </a:ext>
            </a:extLst>
          </p:cNvPr>
          <p:cNvGrpSpPr/>
          <p:nvPr/>
        </p:nvGrpSpPr>
        <p:grpSpPr>
          <a:xfrm>
            <a:off x="2185659" y="4507428"/>
            <a:ext cx="6641679" cy="1525834"/>
            <a:chOff x="1115616" y="4797152"/>
            <a:chExt cx="6641679" cy="152583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2234C52-7FC3-4A0F-AE9D-B0F12B040CC7}"/>
                </a:ext>
              </a:extLst>
            </p:cNvPr>
            <p:cNvSpPr/>
            <p:nvPr/>
          </p:nvSpPr>
          <p:spPr bwMode="auto">
            <a:xfrm>
              <a:off x="1115616" y="4797152"/>
              <a:ext cx="1169071" cy="37370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en-US" altLang="ko-KR" sz="1100" b="0" u="none" strike="noStrike" cap="none" normalizeH="0" baseline="0" dirty="0">
                  <a:ln>
                    <a:noFill/>
                  </a:ln>
                  <a:effectLst/>
                  <a:latin typeface="Arial Black" pitchFamily="34" charset="0"/>
                  <a:ea typeface="굴림" pitchFamily="50" charset="-127"/>
                </a:rPr>
                <a:t>PADDI</a:t>
              </a:r>
              <a:endParaRPr kumimoji="0" lang="ko-KR" altLang="en-US" sz="1100" b="0" u="none" strike="noStrike" cap="none" normalizeH="0" baseline="0" dirty="0">
                <a:ln>
                  <a:noFill/>
                </a:ln>
                <a:effectLst/>
                <a:latin typeface="Arial Black" pitchFamily="34" charset="0"/>
                <a:ea typeface="굴림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8C32C67-4233-48F2-902B-9C1AA145E27F}"/>
                </a:ext>
              </a:extLst>
            </p:cNvPr>
            <p:cNvSpPr/>
            <p:nvPr/>
          </p:nvSpPr>
          <p:spPr bwMode="auto">
            <a:xfrm>
              <a:off x="1115616" y="5949280"/>
              <a:ext cx="1169071" cy="37370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latin typeface="Arial Black" pitchFamily="34" charset="0"/>
                  <a:ea typeface="굴림" pitchFamily="50" charset="-127"/>
                </a:rPr>
                <a:t>PADDI</a:t>
              </a:r>
              <a:endParaRPr lang="ko-KR" altLang="en-US" sz="1100" dirty="0">
                <a:latin typeface="Arial Black" pitchFamily="34" charset="0"/>
                <a:ea typeface="굴림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25D8B84-745E-402E-8D7E-68F73EB0909C}"/>
                </a:ext>
              </a:extLst>
            </p:cNvPr>
            <p:cNvSpPr/>
            <p:nvPr/>
          </p:nvSpPr>
          <p:spPr bwMode="auto">
            <a:xfrm>
              <a:off x="6588224" y="5373216"/>
              <a:ext cx="1169071" cy="37370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latin typeface="Arial Black" pitchFamily="34" charset="0"/>
                  <a:ea typeface="굴림" pitchFamily="50" charset="-127"/>
                </a:rPr>
                <a:t>PADDO</a:t>
              </a:r>
              <a:endParaRPr lang="ko-KR" altLang="en-US" sz="1100" dirty="0">
                <a:latin typeface="Arial Black" pitchFamily="34" charset="0"/>
                <a:ea typeface="굴림" pitchFamily="50" charset="-127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707552-C0EB-4C12-8401-A7DF825EC19A}"/>
              </a:ext>
            </a:extLst>
          </p:cNvPr>
          <p:cNvSpPr/>
          <p:nvPr/>
        </p:nvSpPr>
        <p:spPr bwMode="auto">
          <a:xfrm>
            <a:off x="4835554" y="3427308"/>
            <a:ext cx="1169071" cy="373706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 Black" pitchFamily="34" charset="0"/>
                <a:ea typeface="굴림" pitchFamily="50" charset="-127"/>
              </a:rPr>
              <a:t>PADVDD</a:t>
            </a:r>
            <a:endParaRPr kumimoji="0" lang="ko-KR" altLang="en-US" sz="1100" b="0" u="none" strike="noStrike" cap="none" normalizeH="0" baseline="0" dirty="0">
              <a:ln>
                <a:noFill/>
              </a:ln>
              <a:effectLst/>
              <a:latin typeface="Arial Black" pitchFamily="34" charset="0"/>
              <a:ea typeface="굴림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864258-ADBB-445D-AC0E-D681E36CA040}"/>
              </a:ext>
            </a:extLst>
          </p:cNvPr>
          <p:cNvSpPr/>
          <p:nvPr/>
        </p:nvSpPr>
        <p:spPr bwMode="auto">
          <a:xfrm>
            <a:off x="2185659" y="5108982"/>
            <a:ext cx="1169071" cy="373706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dirty="0">
                <a:latin typeface="Arial Black" pitchFamily="34" charset="0"/>
                <a:ea typeface="굴림" pitchFamily="50" charset="-127"/>
              </a:rPr>
              <a:t>PADVSSIOR</a:t>
            </a:r>
            <a:endParaRPr lang="ko-KR" altLang="en-US" sz="1100" dirty="0">
              <a:latin typeface="Arial Black" pitchFamily="34" charset="0"/>
              <a:ea typeface="굴림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FD8F21-91C4-4B2A-840F-3E67D8E38928}"/>
              </a:ext>
            </a:extLst>
          </p:cNvPr>
          <p:cNvSpPr/>
          <p:nvPr/>
        </p:nvSpPr>
        <p:spPr bwMode="auto">
          <a:xfrm>
            <a:off x="6160500" y="3427308"/>
            <a:ext cx="1169071" cy="373706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 Black" pitchFamily="34" charset="0"/>
                <a:ea typeface="굴림" pitchFamily="50" charset="-127"/>
              </a:rPr>
              <a:t>PADVSS</a:t>
            </a:r>
            <a:endParaRPr kumimoji="0" lang="ko-KR" altLang="en-US" sz="1100" b="0" u="none" strike="noStrike" cap="none" normalizeH="0" baseline="0" dirty="0">
              <a:ln>
                <a:noFill/>
              </a:ln>
              <a:effectLst/>
              <a:latin typeface="Arial Black" pitchFamily="34" charset="0"/>
              <a:ea typeface="굴림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A126FA-E3AF-46F7-ACDC-C9236661D431}"/>
              </a:ext>
            </a:extLst>
          </p:cNvPr>
          <p:cNvSpPr/>
          <p:nvPr/>
        </p:nvSpPr>
        <p:spPr bwMode="auto">
          <a:xfrm>
            <a:off x="3510606" y="3427308"/>
            <a:ext cx="1169071" cy="373706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 Black" pitchFamily="34" charset="0"/>
                <a:ea typeface="굴림" pitchFamily="50" charset="-127"/>
              </a:rPr>
              <a:t>PADVSS</a:t>
            </a:r>
            <a:endParaRPr kumimoji="0" lang="ko-KR" altLang="en-US" sz="1100" b="0" u="none" strike="noStrike" cap="none" normalizeH="0" baseline="0" dirty="0">
              <a:ln>
                <a:noFill/>
              </a:ln>
              <a:effectLst/>
              <a:latin typeface="Arial Black" pitchFamily="34" charset="0"/>
              <a:ea typeface="굴림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D4820A-6206-493A-9AD3-E52A4DD35B98}"/>
              </a:ext>
            </a:extLst>
          </p:cNvPr>
          <p:cNvGrpSpPr/>
          <p:nvPr/>
        </p:nvGrpSpPr>
        <p:grpSpPr>
          <a:xfrm>
            <a:off x="2185659" y="3987866"/>
            <a:ext cx="6624736" cy="2708920"/>
            <a:chOff x="1115616" y="4149080"/>
            <a:chExt cx="6624736" cy="2708920"/>
          </a:xfrm>
        </p:grpSpPr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712D4F6-9CEC-4B72-8487-70CF40516ED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172760" y="4971969"/>
              <a:ext cx="2130" cy="267394"/>
            </a:xfrm>
            <a:prstGeom prst="lin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444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8A825EE-EBF6-415C-844B-F3A889C5209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39121" y="6195348"/>
              <a:ext cx="2130" cy="534788"/>
            </a:xfrm>
            <a:prstGeom prst="lin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444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0B8C30A-246B-43A8-84B9-C86B4825433B}"/>
                </a:ext>
              </a:extLst>
            </p:cNvPr>
            <p:cNvCxnSpPr/>
            <p:nvPr/>
          </p:nvCxnSpPr>
          <p:spPr bwMode="auto">
            <a:xfrm>
              <a:off x="1763688" y="4380610"/>
              <a:ext cx="0" cy="288032"/>
            </a:xfrm>
            <a:prstGeom prst="lin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444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47C880C-145B-420F-9CCE-9E3398B396E8}"/>
                </a:ext>
              </a:extLst>
            </p:cNvPr>
            <p:cNvSpPr/>
            <p:nvPr/>
          </p:nvSpPr>
          <p:spPr bwMode="auto">
            <a:xfrm>
              <a:off x="1115616" y="4149080"/>
              <a:ext cx="1169071" cy="37370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latin typeface="Arial Black" pitchFamily="34" charset="0"/>
                  <a:ea typeface="굴림" pitchFamily="50" charset="-127"/>
                </a:rPr>
                <a:t>PADVDDIOR</a:t>
              </a:r>
              <a:endParaRPr lang="ko-KR" altLang="en-US" sz="1100" dirty="0">
                <a:latin typeface="Arial Black" pitchFamily="34" charset="0"/>
                <a:ea typeface="굴림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D7D16D-5555-4C17-BC7E-03EADBF9534D}"/>
                </a:ext>
              </a:extLst>
            </p:cNvPr>
            <p:cNvSpPr/>
            <p:nvPr/>
          </p:nvSpPr>
          <p:spPr bwMode="auto">
            <a:xfrm>
              <a:off x="1115616" y="6484294"/>
              <a:ext cx="1169071" cy="37370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latin typeface="Arial Black" pitchFamily="34" charset="0"/>
                  <a:ea typeface="굴림" pitchFamily="50" charset="-127"/>
                </a:rPr>
                <a:t>PADVDDIOR</a:t>
              </a:r>
              <a:endParaRPr lang="ko-KR" altLang="en-US" sz="1100" dirty="0">
                <a:latin typeface="Arial Black" pitchFamily="34" charset="0"/>
                <a:ea typeface="굴림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98926DC-3493-49DF-989B-A0BA116BAA2C}"/>
                </a:ext>
              </a:extLst>
            </p:cNvPr>
            <p:cNvSpPr/>
            <p:nvPr/>
          </p:nvSpPr>
          <p:spPr bwMode="auto">
            <a:xfrm>
              <a:off x="6571281" y="4686826"/>
              <a:ext cx="1169071" cy="373706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dirty="0">
                  <a:latin typeface="Arial Black" pitchFamily="34" charset="0"/>
                  <a:ea typeface="굴림" pitchFamily="50" charset="-127"/>
                </a:rPr>
                <a:t>PADVDDIOR</a:t>
              </a:r>
              <a:endParaRPr lang="ko-KR" altLang="en-US" sz="1100" dirty="0">
                <a:latin typeface="Arial Black" pitchFamily="34" charset="0"/>
                <a:ea typeface="굴림" pitchFamily="50" charset="-127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749EFC-2B8C-47D2-BE60-CEB980AB90D0}"/>
              </a:ext>
            </a:extLst>
          </p:cNvPr>
          <p:cNvSpPr/>
          <p:nvPr/>
        </p:nvSpPr>
        <p:spPr bwMode="auto">
          <a:xfrm>
            <a:off x="7641324" y="3836542"/>
            <a:ext cx="1169071" cy="373706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 Black" pitchFamily="34" charset="0"/>
                <a:ea typeface="굴림" pitchFamily="50" charset="-127"/>
              </a:rPr>
              <a:t>PADVSSIOR</a:t>
            </a:r>
            <a:endParaRPr kumimoji="0" lang="ko-KR" altLang="en-US" sz="1100" b="0" u="none" strike="noStrike" cap="none" normalizeH="0" baseline="0" dirty="0">
              <a:ln>
                <a:noFill/>
              </a:ln>
              <a:effectLst/>
              <a:latin typeface="Arial Black" pitchFamily="34" charset="0"/>
              <a:ea typeface="굴림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8BF3E60-E843-406B-AC2E-92F68AD05563}"/>
              </a:ext>
            </a:extLst>
          </p:cNvPr>
          <p:cNvGrpSpPr/>
          <p:nvPr/>
        </p:nvGrpSpPr>
        <p:grpSpPr>
          <a:xfrm>
            <a:off x="3380611" y="3987866"/>
            <a:ext cx="4260713" cy="2580410"/>
            <a:chOff x="2310568" y="4277590"/>
            <a:chExt cx="4260713" cy="258041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4668AB8-2DF8-4959-93E2-216CB4E6072C}"/>
                </a:ext>
              </a:extLst>
            </p:cNvPr>
            <p:cNvGrpSpPr/>
            <p:nvPr/>
          </p:nvGrpSpPr>
          <p:grpSpPr>
            <a:xfrm>
              <a:off x="3275856" y="4797152"/>
              <a:ext cx="1616368" cy="1584176"/>
              <a:chOff x="3531696" y="4989472"/>
              <a:chExt cx="1169071" cy="1214544"/>
            </a:xfrm>
          </p:grpSpPr>
          <p:sp>
            <p:nvSpPr>
              <p:cNvPr id="28" name="원호 27">
                <a:extLst>
                  <a:ext uri="{FF2B5EF4-FFF2-40B4-BE49-F238E27FC236}">
                    <a16:creationId xmlns:a16="http://schemas.microsoft.com/office/drawing/2014/main" id="{C7C0458B-C634-4AA1-B756-2B76E70D6F14}"/>
                  </a:ext>
                </a:extLst>
              </p:cNvPr>
              <p:cNvSpPr/>
              <p:nvPr/>
            </p:nvSpPr>
            <p:spPr bwMode="auto">
              <a:xfrm>
                <a:off x="3531696" y="4989472"/>
                <a:ext cx="1169071" cy="1214544"/>
              </a:xfrm>
              <a:prstGeom prst="arc">
                <a:avLst>
                  <a:gd name="adj1" fmla="val 15937507"/>
                  <a:gd name="adj2" fmla="val 5693261"/>
                </a:avLst>
              </a:prstGeom>
              <a:noFill/>
              <a:ln w="444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488" tIns="44450" rIns="90488" bIns="4445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7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Tx/>
                  <a:buChar char=" "/>
                  <a:tabLst/>
                </a:pPr>
                <a:endParaRPr kumimoji="0" lang="ko-KR" altLang="en-US" sz="2000" b="0" i="1" u="none" strike="noStrike" cap="none" normalizeH="0" baseline="0">
                  <a:ln>
                    <a:noFill/>
                  </a:ln>
                  <a:solidFill>
                    <a:srgbClr val="6600FF"/>
                  </a:solidFill>
                  <a:effectLst/>
                  <a:latin typeface="Arial Black" pitchFamily="34" charset="0"/>
                  <a:ea typeface="굴림" pitchFamily="50" charset="-127"/>
                </a:endParaRPr>
              </a:p>
            </p:txBody>
          </p: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597BC27F-CC4D-4C64-9BBC-5D6E26E399AA}"/>
                  </a:ext>
                </a:extLst>
              </p:cNvPr>
              <p:cNvCxnSpPr/>
              <p:nvPr/>
            </p:nvCxnSpPr>
            <p:spPr bwMode="auto">
              <a:xfrm>
                <a:off x="4077262" y="4989472"/>
                <a:ext cx="0" cy="1214544"/>
              </a:xfrm>
              <a:prstGeom prst="lin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444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AA3065E-A71B-43A4-8420-F6A53B8B88C5}"/>
                </a:ext>
              </a:extLst>
            </p:cNvPr>
            <p:cNvCxnSpPr/>
            <p:nvPr/>
          </p:nvCxnSpPr>
          <p:spPr bwMode="auto">
            <a:xfrm flipH="1">
              <a:off x="2333441" y="5013176"/>
              <a:ext cx="1714637" cy="0"/>
            </a:xfrm>
            <a:prstGeom prst="lin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444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FD4DD5C-5F0E-4999-B431-238099937C71}"/>
                </a:ext>
              </a:extLst>
            </p:cNvPr>
            <p:cNvCxnSpPr/>
            <p:nvPr/>
          </p:nvCxnSpPr>
          <p:spPr bwMode="auto">
            <a:xfrm flipH="1">
              <a:off x="2310568" y="6165304"/>
              <a:ext cx="1714637" cy="0"/>
            </a:xfrm>
            <a:prstGeom prst="lin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444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BD414C4-43A8-48A8-B722-9C98DA052D1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93128" y="5589240"/>
              <a:ext cx="1678153" cy="0"/>
            </a:xfrm>
            <a:prstGeom prst="lin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444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59A3AA9-B7E2-4C13-A2A5-73CC601A1DEC}"/>
                </a:ext>
              </a:extLst>
            </p:cNvPr>
            <p:cNvSpPr/>
            <p:nvPr/>
          </p:nvSpPr>
          <p:spPr bwMode="auto">
            <a:xfrm>
              <a:off x="2581566" y="4277590"/>
              <a:ext cx="3692837" cy="258041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488" tIns="44450" rIns="90488" bIns="4445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0" lang="ko-KR" altLang="en-US" sz="1100" b="0" u="none" strike="noStrike" cap="none" normalizeH="0" baseline="0" dirty="0">
                <a:ln>
                  <a:noFill/>
                </a:ln>
                <a:effectLst/>
                <a:latin typeface="Arial Black" pitchFamily="34" charset="0"/>
                <a:ea typeface="굴림" pitchFamily="50" charset="-127"/>
              </a:endParaRPr>
            </a:p>
          </p:txBody>
        </p:sp>
      </p:grp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2CEF3D1-90EA-4527-8F42-16DF8BE4004E}"/>
              </a:ext>
            </a:extLst>
          </p:cNvPr>
          <p:cNvCxnSpPr/>
          <p:nvPr/>
        </p:nvCxnSpPr>
        <p:spPr bwMode="auto">
          <a:xfrm>
            <a:off x="5381120" y="3801014"/>
            <a:ext cx="0" cy="778422"/>
          </a:xfrm>
          <a:prstGeom prst="line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311761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학습 목표</a:t>
            </a:r>
          </a:p>
          <a:p>
            <a:pPr lvl="1"/>
            <a:r>
              <a:rPr lang="ko-KR" altLang="en-US" b="1" dirty="0"/>
              <a:t>점진적 </a:t>
            </a:r>
            <a:r>
              <a:rPr lang="en-US" altLang="ko-KR" b="1" dirty="0"/>
              <a:t>IO </a:t>
            </a:r>
            <a:r>
              <a:rPr lang="ko-KR" altLang="en-US" b="1" dirty="0"/>
              <a:t>셀 이해</a:t>
            </a:r>
            <a:r>
              <a:rPr lang="ko-KR" altLang="en-US" dirty="0"/>
              <a:t> 향상</a:t>
            </a:r>
          </a:p>
          <a:p>
            <a:pPr lvl="1"/>
            <a:r>
              <a:rPr lang="ko-KR" altLang="en-US" b="1" dirty="0"/>
              <a:t>다양한 환경 동작 특성</a:t>
            </a:r>
            <a:r>
              <a:rPr lang="ko-KR" altLang="en-US" dirty="0"/>
              <a:t> 분석</a:t>
            </a:r>
          </a:p>
          <a:p>
            <a:pPr lvl="1"/>
            <a:r>
              <a:rPr lang="ko-KR" altLang="en-US" b="1" dirty="0"/>
              <a:t>각 </a:t>
            </a:r>
            <a:r>
              <a:rPr lang="en-US" altLang="ko-KR" b="1" dirty="0"/>
              <a:t>LAB</a:t>
            </a:r>
            <a:r>
              <a:rPr lang="ko-KR" altLang="en-US" b="1" dirty="0"/>
              <a:t>당 </a:t>
            </a:r>
            <a:r>
              <a:rPr lang="en-US" altLang="ko-KR" b="1" dirty="0"/>
              <a:t>20</a:t>
            </a:r>
            <a:r>
              <a:rPr lang="ko-KR" altLang="en-US" b="1" dirty="0"/>
              <a:t>분</a:t>
            </a:r>
            <a:r>
              <a:rPr lang="ko-KR" altLang="en-US" dirty="0"/>
              <a:t> 내외 소요</a:t>
            </a:r>
          </a:p>
          <a:p>
            <a:endParaRPr lang="en-US" altLang="ko-KR" b="1" dirty="0"/>
          </a:p>
          <a:p>
            <a:r>
              <a:rPr lang="en-US" altLang="ko-KR" b="1" dirty="0"/>
              <a:t>IO </a:t>
            </a:r>
            <a:r>
              <a:rPr lang="ko-KR" altLang="en-US" b="1" dirty="0"/>
              <a:t>셀 </a:t>
            </a:r>
            <a:r>
              <a:rPr lang="en-US" altLang="ko-KR" b="1" dirty="0"/>
              <a:t>2</a:t>
            </a:r>
            <a:r>
              <a:rPr lang="ko-KR" altLang="en-US" b="1" dirty="0"/>
              <a:t>가지 </a:t>
            </a:r>
            <a:r>
              <a:rPr lang="en-US" altLang="ko-KR" b="1" dirty="0"/>
              <a:t>LAB </a:t>
            </a:r>
            <a:r>
              <a:rPr lang="ko-KR" altLang="en-US" b="1" dirty="0"/>
              <a:t>구성</a:t>
            </a:r>
          </a:p>
          <a:p>
            <a:pPr lvl="1"/>
            <a:r>
              <a:rPr lang="en-US" altLang="ko-KR" b="1" dirty="0"/>
              <a:t>LAB1</a:t>
            </a:r>
            <a:r>
              <a:rPr lang="en-US" altLang="ko-KR" dirty="0"/>
              <a:t>: </a:t>
            </a:r>
            <a:r>
              <a:rPr lang="ko-KR" altLang="en-US" dirty="0"/>
              <a:t>기본 입출력 동작 테스트</a:t>
            </a:r>
          </a:p>
          <a:p>
            <a:pPr lvl="1"/>
            <a:r>
              <a:rPr lang="en-US" altLang="ko-KR" b="1" dirty="0"/>
              <a:t>LAB2</a:t>
            </a:r>
            <a:r>
              <a:rPr lang="en-US" altLang="ko-KR" dirty="0"/>
              <a:t>: </a:t>
            </a:r>
            <a:r>
              <a:rPr lang="ko-KR" altLang="en-US" dirty="0"/>
              <a:t>고속 </a:t>
            </a:r>
            <a:r>
              <a:rPr lang="ko-KR" altLang="en-US" dirty="0" err="1"/>
              <a:t>클록</a:t>
            </a:r>
            <a:r>
              <a:rPr lang="ko-KR" altLang="en-US" dirty="0"/>
              <a:t> 기반 </a:t>
            </a:r>
            <a:r>
              <a:rPr lang="en-US" altLang="ko-KR" dirty="0"/>
              <a:t>Cell Delay </a:t>
            </a:r>
            <a:r>
              <a:rPr lang="ko-KR" altLang="en-US" dirty="0"/>
              <a:t>측정</a:t>
            </a:r>
          </a:p>
          <a:p>
            <a:endParaRPr lang="en-US" altLang="ko-KR" b="1" dirty="0"/>
          </a:p>
          <a:p>
            <a:r>
              <a:rPr lang="ko-KR" altLang="en-US" b="1" dirty="0"/>
              <a:t>공통 파일 구성</a:t>
            </a:r>
          </a:p>
          <a:p>
            <a:pPr lvl="1"/>
            <a:r>
              <a:rPr lang="en-US" altLang="ko-KR" b="1" dirty="0"/>
              <a:t>README, </a:t>
            </a:r>
            <a:r>
              <a:rPr lang="en-US" altLang="ko-KR" b="1" dirty="0" err="1"/>
              <a:t>TB_io_cell.v</a:t>
            </a:r>
            <a:endParaRPr lang="ko-KR" altLang="en-US" dirty="0"/>
          </a:p>
          <a:p>
            <a:pPr lvl="1"/>
            <a:r>
              <a:rPr lang="en-US" altLang="ko-KR" b="1" dirty="0" err="1"/>
              <a:t>clean.tcl</a:t>
            </a:r>
            <a:r>
              <a:rPr lang="en-US" altLang="ko-KR" b="1" dirty="0"/>
              <a:t>, </a:t>
            </a:r>
            <a:r>
              <a:rPr lang="en-US" altLang="ko-KR" b="1" dirty="0" err="1"/>
              <a:t>run_function.tcl</a:t>
            </a:r>
            <a:endParaRPr lang="ko-KR" altLang="en-US" dirty="0"/>
          </a:p>
          <a:p>
            <a:pPr lvl="1"/>
            <a:r>
              <a:rPr lang="en-US" altLang="ko-KR" b="1" dirty="0"/>
              <a:t>dump, log</a:t>
            </a:r>
            <a:r>
              <a:rPr lang="ko-KR" altLang="en-US" dirty="0"/>
              <a:t> 폴더</a:t>
            </a:r>
          </a:p>
        </p:txBody>
      </p:sp>
    </p:spTree>
    <p:extLst>
      <p:ext uri="{BB962C8B-B14F-4D97-AF65-F5344CB8AC3E}">
        <p14:creationId xmlns:p14="http://schemas.microsoft.com/office/powerpoint/2010/main" val="3288192490"/>
      </p:ext>
    </p:extLst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LAB1 </a:t>
            </a:r>
            <a:r>
              <a:rPr lang="ko-KR" altLang="en-US" b="1" dirty="0"/>
              <a:t>학습 목표</a:t>
            </a:r>
          </a:p>
          <a:p>
            <a:pPr lvl="1"/>
            <a:r>
              <a:rPr lang="ko-KR" altLang="en-US" b="1" dirty="0"/>
              <a:t>기본 </a:t>
            </a:r>
            <a:r>
              <a:rPr lang="en-US" altLang="ko-KR" b="1" dirty="0"/>
              <a:t>IO </a:t>
            </a:r>
            <a:r>
              <a:rPr lang="ko-KR" altLang="en-US" b="1" dirty="0"/>
              <a:t>셀 동작</a:t>
            </a:r>
            <a:r>
              <a:rPr lang="ko-KR" altLang="en-US" dirty="0"/>
              <a:t> 테스트</a:t>
            </a:r>
          </a:p>
          <a:p>
            <a:pPr lvl="1"/>
            <a:r>
              <a:rPr lang="en-US" altLang="ko-KR" b="1" dirty="0"/>
              <a:t>PADDI/PADDO/PADDB </a:t>
            </a:r>
            <a:r>
              <a:rPr lang="ko-KR" altLang="en-US" b="1" dirty="0"/>
              <a:t>구조</a:t>
            </a:r>
            <a:r>
              <a:rPr lang="ko-KR" altLang="en-US" dirty="0"/>
              <a:t> 이해</a:t>
            </a:r>
          </a:p>
          <a:p>
            <a:pPr lvl="1"/>
            <a:r>
              <a:rPr lang="en-US" altLang="ko-KR" b="1" dirty="0"/>
              <a:t>OEN </a:t>
            </a:r>
            <a:r>
              <a:rPr lang="ko-KR" altLang="en-US" b="1" dirty="0"/>
              <a:t>신호 </a:t>
            </a:r>
            <a:r>
              <a:rPr lang="en-US" altLang="ko-KR" b="1" dirty="0"/>
              <a:t>1</a:t>
            </a:r>
            <a:r>
              <a:rPr lang="ko-KR" altLang="en-US" b="1" dirty="0"/>
              <a:t>과 </a:t>
            </a:r>
            <a:r>
              <a:rPr lang="en-US" altLang="ko-KR" b="1" dirty="0"/>
              <a:t>0 </a:t>
            </a:r>
            <a:r>
              <a:rPr lang="ko-KR" altLang="en-US" b="1" dirty="0"/>
              <a:t>전환</a:t>
            </a:r>
            <a:r>
              <a:rPr lang="ko-KR" altLang="en-US" dirty="0"/>
              <a:t> 분석</a:t>
            </a:r>
          </a:p>
          <a:p>
            <a:pPr lvl="1"/>
            <a:r>
              <a:rPr lang="ko-KR" altLang="en-US" b="1" dirty="0"/>
              <a:t>정상 신호 전달</a:t>
            </a:r>
            <a:r>
              <a:rPr lang="ko-KR" altLang="en-US" dirty="0"/>
              <a:t> 확인</a:t>
            </a:r>
          </a:p>
          <a:p>
            <a:endParaRPr lang="en-US" altLang="ko-KR" b="1" dirty="0"/>
          </a:p>
          <a:p>
            <a:r>
              <a:rPr lang="ko-KR" altLang="en-US" b="1" dirty="0"/>
              <a:t>시뮬레이션 특징</a:t>
            </a:r>
          </a:p>
          <a:p>
            <a:pPr lvl="1"/>
            <a:r>
              <a:rPr lang="en-US" altLang="ko-KR" b="1" dirty="0"/>
              <a:t>-</a:t>
            </a:r>
            <a:r>
              <a:rPr lang="en-US" altLang="ko-KR" b="1" dirty="0" err="1"/>
              <a:t>gui</a:t>
            </a:r>
            <a:r>
              <a:rPr lang="en-US" altLang="ko-KR" b="1" dirty="0"/>
              <a:t> </a:t>
            </a:r>
            <a:r>
              <a:rPr lang="ko-KR" altLang="en-US" b="1" dirty="0"/>
              <a:t>옵션</a:t>
            </a:r>
            <a:r>
              <a:rPr lang="ko-KR" altLang="en-US" dirty="0"/>
              <a:t> 활용 </a:t>
            </a:r>
            <a:r>
              <a:rPr lang="en-US" altLang="ko-KR" dirty="0" err="1"/>
              <a:t>SimVision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  <a:p>
            <a:pPr lvl="1"/>
            <a:r>
              <a:rPr lang="ko-KR" altLang="en-US" b="1" dirty="0"/>
              <a:t>일정 시간 후 </a:t>
            </a:r>
            <a:r>
              <a:rPr lang="en-US" altLang="ko-KR" b="1" dirty="0"/>
              <a:t>stop</a:t>
            </a:r>
            <a:r>
              <a:rPr lang="ko-KR" altLang="en-US" dirty="0"/>
              <a:t> 동작</a:t>
            </a:r>
          </a:p>
          <a:p>
            <a:pPr lvl="1"/>
            <a:r>
              <a:rPr lang="en-US" altLang="ko-KR" b="1" dirty="0"/>
              <a:t>Bi-direction IO </a:t>
            </a:r>
            <a:r>
              <a:rPr lang="ko-KR" altLang="en-US" b="1" dirty="0"/>
              <a:t>셀</a:t>
            </a:r>
            <a:r>
              <a:rPr lang="ko-KR" altLang="en-US" dirty="0"/>
              <a:t> 사용 예고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54F542-03ED-4B7B-9D5E-BA2E87E656AE}"/>
              </a:ext>
            </a:extLst>
          </p:cNvPr>
          <p:cNvSpPr/>
          <p:nvPr/>
        </p:nvSpPr>
        <p:spPr>
          <a:xfrm>
            <a:off x="5592245" y="3735421"/>
            <a:ext cx="5876665" cy="403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io</a:t>
            </a:r>
            <a:r>
              <a:rPr lang="en-US" altLang="ko-KR" b="1" i="1" dirty="0"/>
              <a:t>/LAB1</a:t>
            </a:r>
            <a:endParaRPr lang="en-US" altLang="ko-KR" dirty="0"/>
          </a:p>
        </p:txBody>
      </p:sp>
      <p:pic>
        <p:nvPicPr>
          <p:cNvPr id="6" name="Picture 44">
            <a:extLst>
              <a:ext uri="{FF2B5EF4-FFF2-40B4-BE49-F238E27FC236}">
                <a16:creationId xmlns:a16="http://schemas.microsoft.com/office/drawing/2014/main" id="{9289E50E-AFC5-46D2-BD78-7E70A7134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92245" y="4637475"/>
            <a:ext cx="5876664" cy="54622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013391249"/>
      </p:ext>
    </p:extLst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README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 err="1"/>
              <a:t>run_function.tcl</a:t>
            </a:r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112FCBA3-44F7-492B-89D5-601D0F52A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8688" y="2081538"/>
            <a:ext cx="5188830" cy="2208360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6" name="Picture 48">
            <a:extLst>
              <a:ext uri="{FF2B5EF4-FFF2-40B4-BE49-F238E27FC236}">
                <a16:creationId xmlns:a16="http://schemas.microsoft.com/office/drawing/2014/main" id="{B5C805CF-6EF5-4809-959C-4637C50DE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8688" y="4783781"/>
            <a:ext cx="4859485" cy="197596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810805636"/>
      </p:ext>
    </p:extLst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 err="1"/>
              <a:t>테스트벤치</a:t>
            </a:r>
            <a:endParaRPr lang="ko-KR" altLang="en-US" b="1" dirty="0"/>
          </a:p>
        </p:txBody>
      </p:sp>
      <p:pic>
        <p:nvPicPr>
          <p:cNvPr id="7" name="Picture 49">
            <a:extLst>
              <a:ext uri="{FF2B5EF4-FFF2-40B4-BE49-F238E27FC236}">
                <a16:creationId xmlns:a16="http://schemas.microsoft.com/office/drawing/2014/main" id="{4B6ED9CD-AD8C-4961-B581-258F1BF99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7055" y="2110722"/>
            <a:ext cx="3065294" cy="2702844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8" name="Picture 51">
            <a:extLst>
              <a:ext uri="{FF2B5EF4-FFF2-40B4-BE49-F238E27FC236}">
                <a16:creationId xmlns:a16="http://schemas.microsoft.com/office/drawing/2014/main" id="{282C4FB5-C8F9-48D0-9252-E4109AFF0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63141" y="2110722"/>
            <a:ext cx="3259846" cy="428046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566786521"/>
      </p:ext>
    </p:extLst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 err="1"/>
              <a:t>테스트벤치</a:t>
            </a:r>
            <a:endParaRPr lang="ko-KR" altLang="en-US" b="1" dirty="0"/>
          </a:p>
        </p:txBody>
      </p:sp>
      <p:pic>
        <p:nvPicPr>
          <p:cNvPr id="9" name="Picture 53">
            <a:extLst>
              <a:ext uri="{FF2B5EF4-FFF2-40B4-BE49-F238E27FC236}">
                <a16:creationId xmlns:a16="http://schemas.microsoft.com/office/drawing/2014/main" id="{F9E97920-1E89-46C6-B2D2-EE0E867B9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53404" y="1587655"/>
            <a:ext cx="5448571" cy="4891629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517336606"/>
      </p:ext>
    </p:extLst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29113A-122D-4438-9AEF-BFC4B27E8F5C}"/>
              </a:ext>
            </a:extLst>
          </p:cNvPr>
          <p:cNvSpPr/>
          <p:nvPr/>
        </p:nvSpPr>
        <p:spPr>
          <a:xfrm>
            <a:off x="852567" y="2041151"/>
            <a:ext cx="4458735" cy="9630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source ~/SoC/CSHRC/</a:t>
            </a:r>
            <a:r>
              <a:rPr lang="en-US" altLang="ko-KR" b="1" i="1" dirty="0" err="1"/>
              <a:t>digital.cshrc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clean.tcl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run_function.tcl</a:t>
            </a:r>
            <a:endParaRPr lang="en-US" altLang="ko-KR" dirty="0"/>
          </a:p>
        </p:txBody>
      </p:sp>
      <p:pic>
        <p:nvPicPr>
          <p:cNvPr id="7" name="Picture 55">
            <a:extLst>
              <a:ext uri="{FF2B5EF4-FFF2-40B4-BE49-F238E27FC236}">
                <a16:creationId xmlns:a16="http://schemas.microsoft.com/office/drawing/2014/main" id="{F3D47D08-2940-422D-8A3B-8DB353539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16442" y="2522669"/>
            <a:ext cx="5818222" cy="4309805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07964D41-D284-469D-A56F-792D1E4F1BE7}"/>
              </a:ext>
            </a:extLst>
          </p:cNvPr>
          <p:cNvSpPr/>
          <p:nvPr/>
        </p:nvSpPr>
        <p:spPr>
          <a:xfrm>
            <a:off x="4823839" y="4873376"/>
            <a:ext cx="993301" cy="729755"/>
          </a:xfrm>
          <a:prstGeom prst="rect">
            <a:avLst/>
          </a:prstGeom>
          <a:noFill/>
          <a:ln w="17907" cap="flat">
            <a:solidFill>
              <a:srgbClr val="FF0000"/>
            </a:solidFill>
            <a:prstDash val="solid"/>
            <a:miter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6598349"/>
      </p:ext>
    </p:extLst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</a:p>
        </p:txBody>
      </p:sp>
      <p:pic>
        <p:nvPicPr>
          <p:cNvPr id="5" name="Picture 57">
            <a:extLst>
              <a:ext uri="{FF2B5EF4-FFF2-40B4-BE49-F238E27FC236}">
                <a16:creationId xmlns:a16="http://schemas.microsoft.com/office/drawing/2014/main" id="{4C742D9A-E243-4D85-AB57-163A8AD1C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3361" y="2008100"/>
            <a:ext cx="7965074" cy="4439519"/>
          </a:xfrm>
          <a:prstGeom prst="rect">
            <a:avLst/>
          </a:prstGeom>
          <a:noFill/>
          <a:ln w="3556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559444145"/>
      </p:ext>
    </p:extLst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</a:p>
        </p:txBody>
      </p:sp>
      <p:pic>
        <p:nvPicPr>
          <p:cNvPr id="5" name="Picture 59">
            <a:extLst>
              <a:ext uri="{FF2B5EF4-FFF2-40B4-BE49-F238E27FC236}">
                <a16:creationId xmlns:a16="http://schemas.microsoft.com/office/drawing/2014/main" id="{682F30EA-AA81-4825-8EE0-1137E3E23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0353" y="2159359"/>
            <a:ext cx="8771293" cy="438553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64A18546-64B3-4F75-9773-D263E3AA077F}"/>
              </a:ext>
            </a:extLst>
          </p:cNvPr>
          <p:cNvSpPr/>
          <p:nvPr/>
        </p:nvSpPr>
        <p:spPr>
          <a:xfrm>
            <a:off x="6096000" y="1783342"/>
            <a:ext cx="2122034" cy="410605"/>
          </a:xfrm>
          <a:prstGeom prst="wedgeRectCallout">
            <a:avLst>
              <a:gd name="adj1" fmla="val -34369"/>
              <a:gd name="adj2" fmla="val 25109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파형 확대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9991"/>
      </p:ext>
    </p:extLst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en-US" altLang="ko-KR" b="1" dirty="0"/>
          </a:p>
          <a:p>
            <a:pPr lvl="1"/>
            <a:r>
              <a:rPr lang="ko-KR" altLang="en-US" b="1" dirty="0"/>
              <a:t>양방향 셀의 입력동작</a:t>
            </a:r>
            <a:endParaRPr lang="en-US" altLang="ko-KR" b="1" dirty="0"/>
          </a:p>
          <a:p>
            <a:pPr lvl="2"/>
            <a:r>
              <a:rPr lang="en-US" altLang="ko-KR" b="1" dirty="0"/>
              <a:t>PAD </a:t>
            </a:r>
            <a:r>
              <a:rPr lang="en-US" altLang="ko-KR" b="1" dirty="0">
                <a:sym typeface="Wingdings" panose="05000000000000000000" pitchFamily="2" charset="2"/>
              </a:rPr>
              <a:t> Y </a:t>
            </a: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1"/>
            <a:r>
              <a:rPr lang="ko-KR" altLang="en-US" b="1" dirty="0"/>
              <a:t>양방향 셀의 출력 동작</a:t>
            </a:r>
            <a:endParaRPr lang="en-US" altLang="ko-KR" b="1" dirty="0"/>
          </a:p>
          <a:p>
            <a:pPr lvl="2"/>
            <a:r>
              <a:rPr lang="en-US" altLang="ko-KR" b="1" dirty="0"/>
              <a:t>A </a:t>
            </a:r>
            <a:r>
              <a:rPr lang="en-US" altLang="ko-KR" b="1" dirty="0">
                <a:sym typeface="Wingdings" panose="05000000000000000000" pitchFamily="2" charset="2"/>
              </a:rPr>
              <a:t> PAD</a:t>
            </a:r>
          </a:p>
          <a:p>
            <a:pPr lvl="2"/>
            <a:r>
              <a:rPr lang="en-US" altLang="ko-KR" b="1" dirty="0">
                <a:sym typeface="Wingdings" panose="05000000000000000000" pitchFamily="2" charset="2"/>
              </a:rPr>
              <a:t>OEN </a:t>
            </a:r>
            <a:r>
              <a:rPr lang="ko-KR" altLang="en-US" b="1" dirty="0">
                <a:sym typeface="Wingdings" panose="05000000000000000000" pitchFamily="2" charset="2"/>
              </a:rPr>
              <a:t>값이 </a:t>
            </a:r>
            <a:r>
              <a:rPr lang="en-US" altLang="ko-KR" b="1" dirty="0">
                <a:sym typeface="Wingdings" panose="05000000000000000000" pitchFamily="2" charset="2"/>
              </a:rPr>
              <a:t>0</a:t>
            </a:r>
            <a:r>
              <a:rPr lang="ko-KR" altLang="en-US" b="1" dirty="0">
                <a:sym typeface="Wingdings" panose="05000000000000000000" pitchFamily="2" charset="2"/>
              </a:rPr>
              <a:t>이어야 함 </a:t>
            </a:r>
            <a:endParaRPr lang="ko-KR" altLang="en-US" b="1" dirty="0"/>
          </a:p>
        </p:txBody>
      </p:sp>
      <p:pic>
        <p:nvPicPr>
          <p:cNvPr id="5" name="Picture 61">
            <a:extLst>
              <a:ext uri="{FF2B5EF4-FFF2-40B4-BE49-F238E27FC236}">
                <a16:creationId xmlns:a16="http://schemas.microsoft.com/office/drawing/2014/main" id="{5617304C-6029-46DD-B075-6231AC089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5877" y="2831675"/>
            <a:ext cx="10449843" cy="114804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63">
            <a:extLst>
              <a:ext uri="{FF2B5EF4-FFF2-40B4-BE49-F238E27FC236}">
                <a16:creationId xmlns:a16="http://schemas.microsoft.com/office/drawing/2014/main" id="{4E501184-6507-49F8-8938-AE2B453F1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5878" y="5223740"/>
            <a:ext cx="10449842" cy="122387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53041879"/>
      </p:ext>
    </p:extLst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7524951" cy="466312"/>
          </a:xfrm>
        </p:spPr>
        <p:txBody>
          <a:bodyPr/>
          <a:lstStyle/>
          <a:p>
            <a:r>
              <a:rPr lang="en-US" altLang="ko-KR" sz="2400" b="1" dirty="0"/>
              <a:t>2.4.2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LAB1 – </a:t>
            </a:r>
            <a:r>
              <a:rPr lang="ko-KR" altLang="en-US" sz="2400" b="1" dirty="0"/>
              <a:t>기본 입출력 동작 테스트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en-US" altLang="ko-KR" b="1" dirty="0"/>
          </a:p>
          <a:p>
            <a:pPr lvl="1"/>
            <a:r>
              <a:rPr lang="ko-KR" altLang="en-US" b="1" dirty="0"/>
              <a:t>그림의 상단</a:t>
            </a:r>
            <a:r>
              <a:rPr lang="en-US" altLang="ko-KR" b="1" dirty="0"/>
              <a:t>, PADDI </a:t>
            </a:r>
            <a:r>
              <a:rPr lang="ko-KR" altLang="en-US" b="1" dirty="0"/>
              <a:t>의 입력 </a:t>
            </a:r>
            <a:endParaRPr lang="en-US" altLang="ko-KR" b="1" dirty="0"/>
          </a:p>
          <a:p>
            <a:pPr lvl="2"/>
            <a:r>
              <a:rPr lang="en-US" altLang="ko-KR" b="1" dirty="0"/>
              <a:t>PAD </a:t>
            </a:r>
            <a:r>
              <a:rPr lang="en-US" altLang="ko-KR" b="1" dirty="0">
                <a:sym typeface="Wingdings" panose="05000000000000000000" pitchFamily="2" charset="2"/>
              </a:rPr>
              <a:t> Y </a:t>
            </a:r>
          </a:p>
          <a:p>
            <a:pPr lvl="2"/>
            <a:endParaRPr lang="en-US" altLang="ko-KR" b="1" dirty="0">
              <a:sym typeface="Wingdings" panose="05000000000000000000" pitchFamily="2" charset="2"/>
            </a:endParaRPr>
          </a:p>
          <a:p>
            <a:pPr lvl="1"/>
            <a:r>
              <a:rPr lang="ko-KR" altLang="en-US" b="1" dirty="0">
                <a:sym typeface="Wingdings" panose="05000000000000000000" pitchFamily="2" charset="2"/>
              </a:rPr>
              <a:t>그림의 하단</a:t>
            </a:r>
            <a:r>
              <a:rPr lang="en-US" altLang="ko-KR" b="1" dirty="0">
                <a:sym typeface="Wingdings" panose="05000000000000000000" pitchFamily="2" charset="2"/>
              </a:rPr>
              <a:t>, PADDO </a:t>
            </a:r>
            <a:r>
              <a:rPr lang="ko-KR" altLang="en-US" b="1" dirty="0">
                <a:sym typeface="Wingdings" panose="05000000000000000000" pitchFamily="2" charset="2"/>
              </a:rPr>
              <a:t>의 출력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lvl="2"/>
            <a:r>
              <a:rPr lang="en-US" altLang="ko-KR" b="1" dirty="0">
                <a:sym typeface="Wingdings" panose="05000000000000000000" pitchFamily="2" charset="2"/>
              </a:rPr>
              <a:t>A  PAD</a:t>
            </a:r>
            <a:endParaRPr lang="ko-KR" altLang="en-US" b="1" dirty="0"/>
          </a:p>
        </p:txBody>
      </p:sp>
      <p:pic>
        <p:nvPicPr>
          <p:cNvPr id="5" name="Picture 65">
            <a:extLst>
              <a:ext uri="{FF2B5EF4-FFF2-40B4-BE49-F238E27FC236}">
                <a16:creationId xmlns:a16="http://schemas.microsoft.com/office/drawing/2014/main" id="{F8C31086-59C1-42D2-A2EA-63CEF9B6E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6131" y="3935341"/>
            <a:ext cx="10215047" cy="122031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8029028D-4301-40FC-B4CE-61BEB730A81C}"/>
              </a:ext>
            </a:extLst>
          </p:cNvPr>
          <p:cNvSpPr/>
          <p:nvPr/>
        </p:nvSpPr>
        <p:spPr>
          <a:xfrm>
            <a:off x="1669915" y="5496766"/>
            <a:ext cx="2122034" cy="410605"/>
          </a:xfrm>
          <a:prstGeom prst="wedgeRectCallout">
            <a:avLst>
              <a:gd name="adj1" fmla="val -9156"/>
              <a:gd name="adj2" fmla="val -13269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PADDO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C2FA4ECA-A768-40DF-9CB7-D26B8947B82D}"/>
              </a:ext>
            </a:extLst>
          </p:cNvPr>
          <p:cNvSpPr/>
          <p:nvPr/>
        </p:nvSpPr>
        <p:spPr>
          <a:xfrm>
            <a:off x="4909225" y="3223697"/>
            <a:ext cx="2122034" cy="410605"/>
          </a:xfrm>
          <a:prstGeom prst="wedgeRectCallout">
            <a:avLst>
              <a:gd name="adj1" fmla="val -10073"/>
              <a:gd name="adj2" fmla="val 12790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PADDI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985218"/>
      </p:ext>
    </p:extLst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en-US" altLang="ko-KR" b="1" dirty="0"/>
              <a:t>LAB2 </a:t>
            </a:r>
            <a:r>
              <a:rPr lang="ko-KR" altLang="en-US" b="1" dirty="0"/>
              <a:t>학습 목표</a:t>
            </a:r>
          </a:p>
          <a:p>
            <a:pPr lvl="1"/>
            <a:r>
              <a:rPr lang="en-US" altLang="ko-KR" b="1" dirty="0"/>
              <a:t>IO </a:t>
            </a:r>
            <a:r>
              <a:rPr lang="ko-KR" altLang="en-US" b="1" dirty="0"/>
              <a:t>셀 최대 동작 속도</a:t>
            </a:r>
            <a:r>
              <a:rPr lang="ko-KR" altLang="en-US" dirty="0"/>
              <a:t> 분석</a:t>
            </a:r>
          </a:p>
          <a:p>
            <a:pPr lvl="1"/>
            <a:r>
              <a:rPr lang="ko-KR" altLang="en-US" b="1" dirty="0"/>
              <a:t>신호전파 지연</a:t>
            </a:r>
            <a:r>
              <a:rPr lang="en-US" altLang="ko-KR" b="1" dirty="0"/>
              <a:t>(Cell Delay)</a:t>
            </a:r>
            <a:r>
              <a:rPr lang="ko-KR" altLang="en-US" dirty="0"/>
              <a:t> 측정</a:t>
            </a:r>
          </a:p>
          <a:p>
            <a:pPr lvl="1"/>
            <a:r>
              <a:rPr lang="en-US" altLang="ko-KR" b="1" dirty="0"/>
              <a:t>PADDB_IN/OUT</a:t>
            </a:r>
            <a:r>
              <a:rPr lang="ko-KR" altLang="en-US" b="1" dirty="0"/>
              <a:t>의 </a:t>
            </a:r>
            <a:r>
              <a:rPr lang="en-US" altLang="ko-KR" b="1" dirty="0"/>
              <a:t>rising/falling delay</a:t>
            </a:r>
            <a:r>
              <a:rPr lang="ko-KR" altLang="en-US" dirty="0"/>
              <a:t> 측정</a:t>
            </a:r>
          </a:p>
          <a:p>
            <a:pPr lvl="1"/>
            <a:r>
              <a:rPr lang="en-US" altLang="ko-KR" b="1" dirty="0"/>
              <a:t>1GHz </a:t>
            </a:r>
            <a:r>
              <a:rPr lang="ko-KR" altLang="en-US" b="1" dirty="0"/>
              <a:t>정상 동작</a:t>
            </a:r>
            <a:r>
              <a:rPr lang="ko-KR" altLang="en-US" dirty="0"/>
              <a:t> 검증</a:t>
            </a:r>
          </a:p>
          <a:p>
            <a:endParaRPr lang="en-US" altLang="ko-KR" b="1" dirty="0"/>
          </a:p>
          <a:p>
            <a:r>
              <a:rPr lang="ko-KR" altLang="en-US" b="1" dirty="0"/>
              <a:t>고속 테스트 특징</a:t>
            </a:r>
          </a:p>
          <a:p>
            <a:pPr lvl="1"/>
            <a:r>
              <a:rPr lang="en-US" altLang="ko-KR" b="1" dirty="0"/>
              <a:t>PAD_B_IN </a:t>
            </a:r>
            <a:r>
              <a:rPr lang="ko-KR" altLang="en-US" b="1" dirty="0" err="1"/>
              <a:t>토글링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값</a:t>
            </a:r>
          </a:p>
          <a:p>
            <a:pPr lvl="1"/>
            <a:r>
              <a:rPr lang="en-US" altLang="ko-KR" b="1" dirty="0"/>
              <a:t>1GHz </a:t>
            </a:r>
            <a:r>
              <a:rPr lang="ko-KR" altLang="en-US" b="1" dirty="0"/>
              <a:t>신호</a:t>
            </a:r>
            <a:r>
              <a:rPr lang="ko-KR" altLang="en-US" dirty="0"/>
              <a:t>를 </a:t>
            </a:r>
            <a:r>
              <a:rPr lang="en-US" altLang="ko-KR" dirty="0"/>
              <a:t>IO </a:t>
            </a:r>
            <a:r>
              <a:rPr lang="ko-KR" altLang="en-US" dirty="0"/>
              <a:t>셀이 안정적으로 처리하는지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46CA5F-FB74-4209-AD76-E4CC414657FF}"/>
              </a:ext>
            </a:extLst>
          </p:cNvPr>
          <p:cNvSpPr/>
          <p:nvPr/>
        </p:nvSpPr>
        <p:spPr>
          <a:xfrm>
            <a:off x="5854893" y="4806098"/>
            <a:ext cx="5098452" cy="464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cd ~/SoC/GPDK045/digital/TEST/</a:t>
            </a:r>
            <a:r>
              <a:rPr lang="en-US" altLang="ko-KR" b="1" i="1" dirty="0" err="1"/>
              <a:t>io</a:t>
            </a:r>
            <a:r>
              <a:rPr lang="en-US" altLang="ko-KR" b="1" i="1" dirty="0"/>
              <a:t>/LAB2</a:t>
            </a:r>
            <a:endParaRPr lang="en-US" altLang="ko-KR" dirty="0"/>
          </a:p>
        </p:txBody>
      </p:sp>
      <p:pic>
        <p:nvPicPr>
          <p:cNvPr id="7" name="Picture 67">
            <a:extLst>
              <a:ext uri="{FF2B5EF4-FFF2-40B4-BE49-F238E27FC236}">
                <a16:creationId xmlns:a16="http://schemas.microsoft.com/office/drawing/2014/main" id="{74B52EA0-9D4F-48C0-B761-C10740D21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4892" y="5522391"/>
            <a:ext cx="5356035" cy="46424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088266620"/>
      </p:ext>
    </p:extLst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4769013" cy="4859964"/>
          </a:xfrm>
        </p:spPr>
        <p:txBody>
          <a:bodyPr/>
          <a:lstStyle/>
          <a:p>
            <a:r>
              <a:rPr lang="en-US" altLang="ko-KR" b="1" dirty="0"/>
              <a:t>README</a:t>
            </a:r>
            <a:endParaRPr lang="ko-KR" altLang="en-US" dirty="0"/>
          </a:p>
        </p:txBody>
      </p:sp>
      <p:pic>
        <p:nvPicPr>
          <p:cNvPr id="6" name="Picture 69">
            <a:extLst>
              <a:ext uri="{FF2B5EF4-FFF2-40B4-BE49-F238E27FC236}">
                <a16:creationId xmlns:a16="http://schemas.microsoft.com/office/drawing/2014/main" id="{37B0C9ED-08BD-429B-8014-6B56F27D7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6520" y="2061964"/>
            <a:ext cx="5040122" cy="1955673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7" name="Picture 71">
            <a:extLst>
              <a:ext uri="{FF2B5EF4-FFF2-40B4-BE49-F238E27FC236}">
                <a16:creationId xmlns:a16="http://schemas.microsoft.com/office/drawing/2014/main" id="{4D36F1D4-5CC1-42A7-8C08-1760738F7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3727" y="2061964"/>
            <a:ext cx="3882417" cy="461419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486D9069-86A7-4E44-9578-56712099217A}"/>
              </a:ext>
            </a:extLst>
          </p:cNvPr>
          <p:cNvSpPr/>
          <p:nvPr/>
        </p:nvSpPr>
        <p:spPr>
          <a:xfrm>
            <a:off x="9123446" y="3429000"/>
            <a:ext cx="2122034" cy="410605"/>
          </a:xfrm>
          <a:prstGeom prst="wedgeRectCallout">
            <a:avLst>
              <a:gd name="adj1" fmla="val -34369"/>
              <a:gd name="adj2" fmla="val 251096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고속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신호 생성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4AB0777-4B12-45AA-9308-08F6C16E2C46}"/>
              </a:ext>
            </a:extLst>
          </p:cNvPr>
          <p:cNvSpPr txBox="1">
            <a:spLocks/>
          </p:cNvSpPr>
          <p:nvPr/>
        </p:nvSpPr>
        <p:spPr>
          <a:xfrm>
            <a:off x="6313052" y="1587655"/>
            <a:ext cx="4769013" cy="48599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err="1"/>
              <a:t>테스트벤치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6867878"/>
      </p:ext>
    </p:extLst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314335-C05A-49D6-B8A6-996E2CCBAAAD}"/>
              </a:ext>
            </a:extLst>
          </p:cNvPr>
          <p:cNvSpPr/>
          <p:nvPr/>
        </p:nvSpPr>
        <p:spPr>
          <a:xfrm>
            <a:off x="852567" y="2041151"/>
            <a:ext cx="4458735" cy="9630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b="1" i="1" dirty="0"/>
              <a:t>$&gt; source ~/SoC/CSHRC/</a:t>
            </a:r>
            <a:r>
              <a:rPr lang="en-US" altLang="ko-KR" b="1" i="1" dirty="0" err="1"/>
              <a:t>digital.cshrc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clean.tcl</a:t>
            </a:r>
            <a:endParaRPr lang="en-US" altLang="ko-KR" dirty="0"/>
          </a:p>
          <a:p>
            <a:pPr fontAlgn="base"/>
            <a:r>
              <a:rPr lang="en-US" altLang="ko-KR" b="1" i="1" dirty="0"/>
              <a:t>$&gt; ./</a:t>
            </a:r>
            <a:r>
              <a:rPr lang="en-US" altLang="ko-KR" b="1" i="1" dirty="0" err="1"/>
              <a:t>run_function.tcl</a:t>
            </a:r>
            <a:endParaRPr lang="en-US" altLang="ko-KR" dirty="0"/>
          </a:p>
        </p:txBody>
      </p:sp>
      <p:pic>
        <p:nvPicPr>
          <p:cNvPr id="6" name="Picture 73">
            <a:extLst>
              <a:ext uri="{FF2B5EF4-FFF2-40B4-BE49-F238E27FC236}">
                <a16:creationId xmlns:a16="http://schemas.microsoft.com/office/drawing/2014/main" id="{18841D21-6FCD-49AD-B8CD-3086BC155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51391" y="2460403"/>
            <a:ext cx="6688042" cy="429934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27754434"/>
      </p:ext>
    </p:extLst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ko-KR" altLang="en-US" dirty="0"/>
          </a:p>
          <a:p>
            <a:r>
              <a:rPr lang="en-US" altLang="ko-KR" b="1" dirty="0"/>
              <a:t>PADDB </a:t>
            </a:r>
            <a:r>
              <a:rPr lang="ko-KR" altLang="en-US" b="1" dirty="0"/>
              <a:t>입력 동작 분석</a:t>
            </a:r>
          </a:p>
          <a:p>
            <a:pPr lvl="1"/>
            <a:r>
              <a:rPr lang="en-US" altLang="ko-KR" dirty="0"/>
              <a:t>PAD_B_IN: 0.5ns</a:t>
            </a:r>
            <a:r>
              <a:rPr lang="ko-KR" altLang="en-US" dirty="0"/>
              <a:t>마다 </a:t>
            </a:r>
            <a:r>
              <a:rPr lang="ko-KR" altLang="en-US" dirty="0" err="1"/>
              <a:t>토글링</a:t>
            </a:r>
            <a:r>
              <a:rPr lang="ko-KR" altLang="en-US" dirty="0"/>
              <a:t> </a:t>
            </a:r>
            <a:r>
              <a:rPr lang="en-US" altLang="ko-KR" dirty="0"/>
              <a:t>(1ns </a:t>
            </a:r>
            <a:r>
              <a:rPr lang="ko-KR" altLang="en-US" dirty="0"/>
              <a:t>주기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1GHz </a:t>
            </a:r>
            <a:r>
              <a:rPr lang="ko-KR" altLang="en-US" dirty="0"/>
              <a:t>신호 안정적 입력 확인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</p:txBody>
      </p:sp>
      <p:pic>
        <p:nvPicPr>
          <p:cNvPr id="5" name="Picture 75">
            <a:extLst>
              <a:ext uri="{FF2B5EF4-FFF2-40B4-BE49-F238E27FC236}">
                <a16:creationId xmlns:a16="http://schemas.microsoft.com/office/drawing/2014/main" id="{43D7814C-7047-4C26-B36A-DB6576C1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2343" y="3284513"/>
            <a:ext cx="10182623" cy="183223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44016084"/>
      </p:ext>
    </p:extLst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ko-KR" altLang="en-US" dirty="0"/>
          </a:p>
          <a:p>
            <a:r>
              <a:rPr lang="en-US" altLang="ko-KR" b="1" dirty="0"/>
              <a:t>PADDB </a:t>
            </a:r>
            <a:r>
              <a:rPr lang="ko-KR" altLang="en-US" b="1" dirty="0"/>
              <a:t>동작 분석</a:t>
            </a:r>
          </a:p>
          <a:p>
            <a:pPr lvl="1"/>
            <a:r>
              <a:rPr lang="ko-KR" altLang="en-US" dirty="0"/>
              <a:t>입력일 때 </a:t>
            </a:r>
            <a:r>
              <a:rPr lang="en-US" altLang="ko-KR" dirty="0"/>
              <a:t>Cell Delay </a:t>
            </a:r>
            <a:r>
              <a:rPr lang="ko-KR" altLang="en-US" dirty="0"/>
              <a:t>측정 결과</a:t>
            </a:r>
            <a:r>
              <a:rPr lang="en-US" altLang="ko-KR" dirty="0"/>
              <a:t>(OEN : 1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  <a:p>
            <a:pPr lvl="2"/>
            <a:r>
              <a:rPr lang="en-US" altLang="ko-KR" dirty="0"/>
              <a:t>Rising Delay: 33ps</a:t>
            </a:r>
            <a:endParaRPr lang="ko-KR" altLang="en-US" dirty="0"/>
          </a:p>
          <a:p>
            <a:pPr lvl="2"/>
            <a:r>
              <a:rPr lang="en-US" altLang="ko-KR" dirty="0"/>
              <a:t>Falling Delay: 80ps</a:t>
            </a:r>
          </a:p>
          <a:p>
            <a:pPr lvl="2"/>
            <a:endParaRPr lang="ko-KR" altLang="en-US" dirty="0"/>
          </a:p>
        </p:txBody>
      </p:sp>
      <p:pic>
        <p:nvPicPr>
          <p:cNvPr id="6" name="Picture 77">
            <a:extLst>
              <a:ext uri="{FF2B5EF4-FFF2-40B4-BE49-F238E27FC236}">
                <a16:creationId xmlns:a16="http://schemas.microsoft.com/office/drawing/2014/main" id="{CE3E194F-4C2A-4DC1-A3C9-D4DE67488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800" y="4193328"/>
            <a:ext cx="5040122" cy="118402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79">
            <a:extLst>
              <a:ext uri="{FF2B5EF4-FFF2-40B4-BE49-F238E27FC236}">
                <a16:creationId xmlns:a16="http://schemas.microsoft.com/office/drawing/2014/main" id="{D786478F-ABA2-4B5D-BEFC-64172D1C2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49902" y="4193328"/>
            <a:ext cx="6326788" cy="118402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587376D1-B2DB-4075-8CC0-9FC0914BE2BA}"/>
              </a:ext>
            </a:extLst>
          </p:cNvPr>
          <p:cNvSpPr/>
          <p:nvPr/>
        </p:nvSpPr>
        <p:spPr>
          <a:xfrm>
            <a:off x="899243" y="3752888"/>
            <a:ext cx="2122034" cy="685241"/>
          </a:xfrm>
          <a:prstGeom prst="wedgeRectCallout">
            <a:avLst>
              <a:gd name="adj1" fmla="val 65106"/>
              <a:gd name="adj2" fmla="val 12841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Rising </a:t>
            </a:r>
            <a:r>
              <a:rPr lang="ko-KR" altLang="en-US" dirty="0">
                <a:solidFill>
                  <a:schemeClr val="tx1"/>
                </a:solidFill>
              </a:rPr>
              <a:t>신호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(PAD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Y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1C0AAE21-B241-43CB-888F-5FF5263B2470}"/>
              </a:ext>
            </a:extLst>
          </p:cNvPr>
          <p:cNvSpPr/>
          <p:nvPr/>
        </p:nvSpPr>
        <p:spPr>
          <a:xfrm>
            <a:off x="7652279" y="3752888"/>
            <a:ext cx="2122034" cy="685241"/>
          </a:xfrm>
          <a:prstGeom prst="wedgeRectCallout">
            <a:avLst>
              <a:gd name="adj1" fmla="val 65106"/>
              <a:gd name="adj2" fmla="val 12841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Falling </a:t>
            </a:r>
            <a:r>
              <a:rPr lang="ko-KR" altLang="en-US" dirty="0">
                <a:solidFill>
                  <a:schemeClr val="tx1"/>
                </a:solidFill>
              </a:rPr>
              <a:t>신호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(PAD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 Y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89129"/>
      </p:ext>
    </p:extLst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ko-KR" altLang="en-US" dirty="0"/>
          </a:p>
          <a:p>
            <a:r>
              <a:rPr lang="en-US" altLang="ko-KR" b="1" dirty="0"/>
              <a:t>PADDB </a:t>
            </a:r>
            <a:r>
              <a:rPr lang="ko-KR" altLang="en-US" b="1" dirty="0"/>
              <a:t>동작 분석</a:t>
            </a:r>
          </a:p>
          <a:p>
            <a:pPr lvl="1"/>
            <a:r>
              <a:rPr lang="ko-KR" altLang="en-US" dirty="0"/>
              <a:t>출력일 때 </a:t>
            </a:r>
            <a:r>
              <a:rPr lang="en-US" altLang="ko-KR" dirty="0"/>
              <a:t>Cell Delay </a:t>
            </a:r>
            <a:r>
              <a:rPr lang="ko-KR" altLang="en-US" dirty="0"/>
              <a:t>측정 결과</a:t>
            </a:r>
            <a:r>
              <a:rPr lang="en-US" altLang="ko-KR" dirty="0"/>
              <a:t> (OEN : 0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  <a:p>
            <a:pPr lvl="2"/>
            <a:r>
              <a:rPr lang="en-US" altLang="ko-KR" dirty="0"/>
              <a:t>Rising Delay: 480ps</a:t>
            </a:r>
            <a:endParaRPr lang="ko-KR" altLang="en-US" dirty="0"/>
          </a:p>
          <a:p>
            <a:pPr lvl="2"/>
            <a:r>
              <a:rPr lang="en-US" altLang="ko-KR" dirty="0"/>
              <a:t>Falling Delay: 480ps</a:t>
            </a:r>
          </a:p>
          <a:p>
            <a:pPr lvl="2"/>
            <a:endParaRPr lang="ko-KR" altLang="en-US" dirty="0"/>
          </a:p>
        </p:txBody>
      </p:sp>
      <p:pic>
        <p:nvPicPr>
          <p:cNvPr id="8" name="Picture 81">
            <a:extLst>
              <a:ext uri="{FF2B5EF4-FFF2-40B4-BE49-F238E27FC236}">
                <a16:creationId xmlns:a16="http://schemas.microsoft.com/office/drawing/2014/main" id="{CF14A481-4E25-4928-BD7D-65E8EE023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9712" y="3757300"/>
            <a:ext cx="4330319" cy="1926209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9" name="Picture 83">
            <a:extLst>
              <a:ext uri="{FF2B5EF4-FFF2-40B4-BE49-F238E27FC236}">
                <a16:creationId xmlns:a16="http://schemas.microsoft.com/office/drawing/2014/main" id="{7150C479-4ED9-4794-9B74-96B8B2035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89633" y="3757300"/>
            <a:ext cx="5040122" cy="1852676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7BA8D456-9FA9-482F-811E-AB3A1ADD5952}"/>
              </a:ext>
            </a:extLst>
          </p:cNvPr>
          <p:cNvSpPr/>
          <p:nvPr/>
        </p:nvSpPr>
        <p:spPr>
          <a:xfrm>
            <a:off x="7071506" y="3273357"/>
            <a:ext cx="2122034" cy="797173"/>
          </a:xfrm>
          <a:prstGeom prst="wedgeRectCallout">
            <a:avLst>
              <a:gd name="adj1" fmla="val 63731"/>
              <a:gd name="adj2" fmla="val 15862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Falling </a:t>
            </a:r>
            <a:r>
              <a:rPr lang="ko-KR" altLang="en-US" dirty="0">
                <a:solidFill>
                  <a:schemeClr val="tx1"/>
                </a:solidFill>
              </a:rPr>
              <a:t>신호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(A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tx1"/>
                </a:solidFill>
              </a:rPr>
              <a:t> PAD)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654F2A02-946A-4E35-ACCA-C8A50729B9B6}"/>
              </a:ext>
            </a:extLst>
          </p:cNvPr>
          <p:cNvSpPr/>
          <p:nvPr/>
        </p:nvSpPr>
        <p:spPr>
          <a:xfrm>
            <a:off x="1041901" y="3390364"/>
            <a:ext cx="2122034" cy="797174"/>
          </a:xfrm>
          <a:prstGeom prst="wedgeRectCallout">
            <a:avLst>
              <a:gd name="adj1" fmla="val 76108"/>
              <a:gd name="adj2" fmla="val 170832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Rising </a:t>
            </a:r>
            <a:r>
              <a:rPr lang="ko-KR" altLang="en-US" dirty="0">
                <a:solidFill>
                  <a:schemeClr val="tx1"/>
                </a:solidFill>
              </a:rPr>
              <a:t>신호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(A </a:t>
            </a:r>
            <a:r>
              <a:rPr lang="en-US" altLang="ko-KR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chemeClr val="tx1"/>
                </a:solidFill>
              </a:rPr>
              <a:t> PAD)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274688"/>
      </p:ext>
    </p:extLst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en-US" altLang="ko-KR" b="1" dirty="0"/>
          </a:p>
          <a:p>
            <a:r>
              <a:rPr lang="en-US" altLang="ko-KR" b="1" dirty="0"/>
              <a:t>PADDI </a:t>
            </a:r>
            <a:r>
              <a:rPr lang="ko-KR" altLang="en-US" b="1" dirty="0"/>
              <a:t>동작 분석</a:t>
            </a:r>
          </a:p>
          <a:p>
            <a:pPr lvl="1"/>
            <a:r>
              <a:rPr lang="ko-KR" altLang="en-US" dirty="0"/>
              <a:t>입력일 때 </a:t>
            </a:r>
            <a:r>
              <a:rPr lang="en-US" altLang="ko-KR" dirty="0"/>
              <a:t>Cell Delay </a:t>
            </a:r>
            <a:r>
              <a:rPr lang="ko-KR" altLang="en-US" dirty="0"/>
              <a:t>측정 결과</a:t>
            </a:r>
            <a:r>
              <a:rPr lang="en-US" altLang="ko-KR" dirty="0"/>
              <a:t> </a:t>
            </a:r>
            <a:endParaRPr lang="ko-KR" altLang="en-US" dirty="0"/>
          </a:p>
          <a:p>
            <a:pPr lvl="2"/>
            <a:r>
              <a:rPr lang="en-US" altLang="ko-KR" dirty="0"/>
              <a:t>Rising Delay: 33ps</a:t>
            </a:r>
            <a:endParaRPr lang="ko-KR" altLang="en-US" dirty="0"/>
          </a:p>
          <a:p>
            <a:pPr lvl="2"/>
            <a:r>
              <a:rPr lang="en-US" altLang="ko-KR" dirty="0"/>
              <a:t>Falling Delay: 80ps</a:t>
            </a:r>
          </a:p>
          <a:p>
            <a:endParaRPr lang="ko-KR" altLang="en-US" dirty="0"/>
          </a:p>
        </p:txBody>
      </p:sp>
      <p:pic>
        <p:nvPicPr>
          <p:cNvPr id="5" name="Picture 85">
            <a:extLst>
              <a:ext uri="{FF2B5EF4-FFF2-40B4-BE49-F238E27FC236}">
                <a16:creationId xmlns:a16="http://schemas.microsoft.com/office/drawing/2014/main" id="{19CEBA0D-EEAD-4EE1-BE8F-E11F9E75B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8756" y="3312820"/>
            <a:ext cx="8334485" cy="1510187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6" name="Picture 87">
            <a:extLst>
              <a:ext uri="{FF2B5EF4-FFF2-40B4-BE49-F238E27FC236}">
                <a16:creationId xmlns:a16="http://schemas.microsoft.com/office/drawing/2014/main" id="{20221F94-FDA6-4DC0-B55F-98A4B072D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28757" y="5032544"/>
            <a:ext cx="8334485" cy="1725448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489448532"/>
      </p:ext>
    </p:extLst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en-US" altLang="ko-KR" b="1" dirty="0"/>
          </a:p>
          <a:p>
            <a:r>
              <a:rPr lang="en-US" altLang="ko-KR" b="1" dirty="0"/>
              <a:t>PADDO </a:t>
            </a:r>
            <a:r>
              <a:rPr lang="ko-KR" altLang="en-US" b="1" dirty="0"/>
              <a:t>동작 분석</a:t>
            </a:r>
          </a:p>
          <a:p>
            <a:pPr lvl="1"/>
            <a:r>
              <a:rPr lang="ko-KR" altLang="en-US" dirty="0"/>
              <a:t>출력일 때 </a:t>
            </a:r>
            <a:r>
              <a:rPr lang="en-US" altLang="ko-KR" dirty="0"/>
              <a:t>Cell Delay </a:t>
            </a:r>
            <a:r>
              <a:rPr lang="ko-KR" altLang="en-US" dirty="0"/>
              <a:t>측정 결과</a:t>
            </a:r>
            <a:r>
              <a:rPr lang="en-US" altLang="ko-KR" dirty="0"/>
              <a:t> </a:t>
            </a:r>
            <a:endParaRPr lang="ko-KR" altLang="en-US" dirty="0"/>
          </a:p>
          <a:p>
            <a:pPr lvl="2"/>
            <a:r>
              <a:rPr lang="en-US" altLang="ko-KR" dirty="0"/>
              <a:t>Rising Delay: 490ps</a:t>
            </a:r>
            <a:endParaRPr lang="ko-KR" altLang="en-US" dirty="0"/>
          </a:p>
          <a:p>
            <a:pPr lvl="2"/>
            <a:r>
              <a:rPr lang="en-US" altLang="ko-KR" dirty="0"/>
              <a:t>Falling Delay: 480ps</a:t>
            </a:r>
          </a:p>
          <a:p>
            <a:endParaRPr lang="ko-KR" altLang="en-US" dirty="0"/>
          </a:p>
        </p:txBody>
      </p:sp>
      <p:pic>
        <p:nvPicPr>
          <p:cNvPr id="7" name="Picture 88">
            <a:extLst>
              <a:ext uri="{FF2B5EF4-FFF2-40B4-BE49-F238E27FC236}">
                <a16:creationId xmlns:a16="http://schemas.microsoft.com/office/drawing/2014/main" id="{1893F849-FD61-4A2E-9B97-E4CAFDC20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8493" y="3256287"/>
            <a:ext cx="9386038" cy="1678021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  <p:pic>
        <p:nvPicPr>
          <p:cNvPr id="8" name="Picture 90">
            <a:extLst>
              <a:ext uri="{FF2B5EF4-FFF2-40B4-BE49-F238E27FC236}">
                <a16:creationId xmlns:a16="http://schemas.microsoft.com/office/drawing/2014/main" id="{51A65DDE-7C06-4929-8AFA-604EE75FD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98493" y="5128657"/>
            <a:ext cx="9386038" cy="1729343"/>
          </a:xfrm>
          <a:prstGeom prst="rect">
            <a:avLst/>
          </a:prstGeom>
          <a:noFill/>
          <a:ln w="0" cap="rnd">
            <a:solidFill>
              <a:srgbClr val="000000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3072201810"/>
      </p:ext>
    </p:extLst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587655"/>
            <a:ext cx="11267090" cy="4859964"/>
          </a:xfrm>
        </p:spPr>
        <p:txBody>
          <a:bodyPr/>
          <a:lstStyle/>
          <a:p>
            <a:r>
              <a:rPr lang="ko-KR" altLang="en-US" b="1" dirty="0"/>
              <a:t>실습진행</a:t>
            </a:r>
            <a:endParaRPr lang="en-US" altLang="ko-KR" b="1" dirty="0"/>
          </a:p>
          <a:p>
            <a:r>
              <a:rPr lang="en-US" altLang="ko-KR" b="1" dirty="0"/>
              <a:t>GPIO </a:t>
            </a:r>
            <a:r>
              <a:rPr lang="ko-KR" altLang="en-US" b="1" dirty="0"/>
              <a:t>실습 결과 정리</a:t>
            </a:r>
            <a:endParaRPr lang="en-US" altLang="ko-KR" b="1" dirty="0"/>
          </a:p>
          <a:p>
            <a:pPr lvl="1"/>
            <a:r>
              <a:rPr lang="ko-KR" altLang="en-US" dirty="0" err="1"/>
              <a:t>출력셀의</a:t>
            </a:r>
            <a:r>
              <a:rPr lang="ko-KR" altLang="en-US" dirty="0"/>
              <a:t> 지연이 크므로 고속 </a:t>
            </a:r>
            <a:r>
              <a:rPr lang="ko-KR" altLang="en-US" dirty="0" err="1"/>
              <a:t>설계시</a:t>
            </a:r>
            <a:r>
              <a:rPr lang="ko-KR" altLang="en-US" dirty="0"/>
              <a:t> 고려 필요</a:t>
            </a:r>
            <a:endParaRPr lang="en-US" altLang="ko-KR" dirty="0"/>
          </a:p>
          <a:p>
            <a:endParaRPr lang="en-US" altLang="ko-KR" b="1" dirty="0"/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이와 별도로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파워 공급 </a:t>
            </a:r>
            <a:r>
              <a:rPr lang="en-US" altLang="ko-KR" b="1" dirty="0">
                <a:solidFill>
                  <a:srgbClr val="FF0000"/>
                </a:solidFill>
              </a:rPr>
              <a:t>IO</a:t>
            </a:r>
            <a:r>
              <a:rPr lang="ko-KR" altLang="en-US" b="1" dirty="0">
                <a:solidFill>
                  <a:srgbClr val="FF0000"/>
                </a:solidFill>
              </a:rPr>
              <a:t>셀은 시뮬레이션 대상이 아님 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 err="1"/>
              <a:t>PnR</a:t>
            </a:r>
            <a:r>
              <a:rPr lang="en-US" altLang="ko-KR" dirty="0"/>
              <a:t> </a:t>
            </a:r>
            <a:r>
              <a:rPr lang="ko-KR" altLang="en-US" dirty="0"/>
              <a:t>단계에서 </a:t>
            </a:r>
            <a:r>
              <a:rPr lang="en-US" altLang="ko-KR" dirty="0" err="1"/>
              <a:t>PowerPlan</a:t>
            </a:r>
            <a:r>
              <a:rPr lang="ko-KR" altLang="en-US" dirty="0"/>
              <a:t>과 </a:t>
            </a:r>
            <a:r>
              <a:rPr lang="en-US" altLang="ko-KR" dirty="0"/>
              <a:t>Power Analysis </a:t>
            </a:r>
            <a:r>
              <a:rPr lang="ko-KR" altLang="en-US" dirty="0"/>
              <a:t>시 소개 예정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B0D1DF9-7E62-4154-B29D-C9F6A9F87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5652"/>
              </p:ext>
            </p:extLst>
          </p:nvPr>
        </p:nvGraphicFramePr>
        <p:xfrm>
          <a:off x="2048399" y="2791610"/>
          <a:ext cx="7876485" cy="2478735"/>
        </p:xfrm>
        <a:graphic>
          <a:graphicData uri="http://schemas.openxmlformats.org/drawingml/2006/table">
            <a:tbl>
              <a:tblPr/>
              <a:tblGrid>
                <a:gridCol w="1575297">
                  <a:extLst>
                    <a:ext uri="{9D8B030D-6E8A-4147-A177-3AD203B41FA5}">
                      <a16:colId xmlns:a16="http://schemas.microsoft.com/office/drawing/2014/main" val="240205175"/>
                    </a:ext>
                  </a:extLst>
                </a:gridCol>
                <a:gridCol w="1575297">
                  <a:extLst>
                    <a:ext uri="{9D8B030D-6E8A-4147-A177-3AD203B41FA5}">
                      <a16:colId xmlns:a16="http://schemas.microsoft.com/office/drawing/2014/main" val="494657227"/>
                    </a:ext>
                  </a:extLst>
                </a:gridCol>
                <a:gridCol w="1575297">
                  <a:extLst>
                    <a:ext uri="{9D8B030D-6E8A-4147-A177-3AD203B41FA5}">
                      <a16:colId xmlns:a16="http://schemas.microsoft.com/office/drawing/2014/main" val="3438231426"/>
                    </a:ext>
                  </a:extLst>
                </a:gridCol>
                <a:gridCol w="1575297">
                  <a:extLst>
                    <a:ext uri="{9D8B030D-6E8A-4147-A177-3AD203B41FA5}">
                      <a16:colId xmlns:a16="http://schemas.microsoft.com/office/drawing/2014/main" val="936293077"/>
                    </a:ext>
                  </a:extLst>
                </a:gridCol>
                <a:gridCol w="1575297">
                  <a:extLst>
                    <a:ext uri="{9D8B030D-6E8A-4147-A177-3AD203B41FA5}">
                      <a16:colId xmlns:a16="http://schemas.microsoft.com/office/drawing/2014/main" val="3945762919"/>
                    </a:ext>
                  </a:extLst>
                </a:gridCol>
              </a:tblGrid>
              <a:tr h="49574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 이름 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입력동작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출력동작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995230"/>
                  </a:ext>
                </a:extLst>
              </a:tr>
              <a:tr h="4957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Rising Delay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Falling Delay 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Rising Delay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Falling Delay 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018989"/>
                  </a:ext>
                </a:extLst>
              </a:tr>
              <a:tr h="4957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PADDB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33ps 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80ps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480ps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480ps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517930"/>
                  </a:ext>
                </a:extLst>
              </a:tr>
              <a:tr h="4957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PADDI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33ps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80ps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425039"/>
                  </a:ext>
                </a:extLst>
              </a:tr>
              <a:tr h="4957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PADDO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-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490ps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480ps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838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353045"/>
      </p:ext>
    </p:extLst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7130143" cy="513502"/>
          </a:xfrm>
        </p:spPr>
        <p:txBody>
          <a:bodyPr/>
          <a:lstStyle/>
          <a:p>
            <a:pPr fontAlgn="base"/>
            <a:r>
              <a:rPr lang="en-US" altLang="ko-KR" dirty="0"/>
              <a:t>2.4 </a:t>
            </a:r>
            <a:r>
              <a:rPr lang="ko-KR" altLang="en-US" dirty="0"/>
              <a:t>실습 </a:t>
            </a:r>
            <a:r>
              <a:rPr lang="en-US" altLang="ko-KR" dirty="0"/>
              <a:t>: IO</a:t>
            </a:r>
            <a:r>
              <a:rPr lang="ko-KR" altLang="en-US" dirty="0"/>
              <a:t>셀 테스트와 해석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10268151" cy="466312"/>
          </a:xfrm>
        </p:spPr>
        <p:txBody>
          <a:bodyPr/>
          <a:lstStyle/>
          <a:p>
            <a:r>
              <a:rPr lang="en-US" altLang="ko-KR" sz="2400" b="1" dirty="0"/>
              <a:t>2.4.3 </a:t>
            </a:r>
            <a:r>
              <a:rPr lang="ko-KR" altLang="en-US" sz="2400" b="1" dirty="0"/>
              <a:t>실습 </a:t>
            </a:r>
            <a:r>
              <a:rPr lang="en-US" altLang="ko-KR" sz="2400" b="1" dirty="0"/>
              <a:t>: LAB2 – </a:t>
            </a:r>
            <a:r>
              <a:rPr lang="ko-KR" altLang="en-US" sz="2400" b="1" dirty="0"/>
              <a:t>고속 </a:t>
            </a:r>
            <a:r>
              <a:rPr lang="ko-KR" altLang="en-US" sz="2400" b="1" dirty="0" err="1"/>
              <a:t>클록</a:t>
            </a:r>
            <a:r>
              <a:rPr lang="ko-KR" altLang="en-US" sz="2400" b="1" dirty="0"/>
              <a:t> 기반 동작 및 </a:t>
            </a:r>
            <a:r>
              <a:rPr lang="en-US" altLang="ko-KR" sz="2400" b="1" dirty="0"/>
              <a:t>Cell Delay </a:t>
            </a:r>
            <a:r>
              <a:rPr lang="ko-KR" altLang="en-US" sz="2400" b="1" dirty="0"/>
              <a:t>측정 </a:t>
            </a:r>
            <a:endParaRPr lang="en-US" altLang="ko-KR" sz="2400" b="1" dirty="0"/>
          </a:p>
        </p:txBody>
      </p:sp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954E040F-BC44-49B0-90FF-29D5B702F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10" y="1416941"/>
            <a:ext cx="11267090" cy="4859964"/>
          </a:xfrm>
        </p:spPr>
        <p:txBody>
          <a:bodyPr/>
          <a:lstStyle/>
          <a:p>
            <a:r>
              <a:rPr lang="en-US" altLang="ko-KR" b="1" dirty="0"/>
              <a:t>2</a:t>
            </a:r>
            <a:r>
              <a:rPr lang="ko-KR" altLang="en-US" b="1" dirty="0"/>
              <a:t>가지 </a:t>
            </a:r>
            <a:r>
              <a:rPr lang="en-US" altLang="ko-KR" b="1" dirty="0"/>
              <a:t>LAB </a:t>
            </a:r>
            <a:r>
              <a:rPr lang="ko-KR" altLang="en-US" b="1" dirty="0"/>
              <a:t>학습 성과 요약</a:t>
            </a:r>
            <a:endParaRPr lang="en-US" altLang="ko-KR" b="1" dirty="0"/>
          </a:p>
          <a:p>
            <a:endParaRPr lang="ko-KR" altLang="en-US" b="1" dirty="0"/>
          </a:p>
          <a:p>
            <a:r>
              <a:rPr lang="en-US" altLang="ko-KR" b="1" dirty="0"/>
              <a:t>LAB1</a:t>
            </a:r>
            <a:r>
              <a:rPr lang="en-US" altLang="ko-KR" dirty="0"/>
              <a:t>: GUI </a:t>
            </a:r>
            <a:r>
              <a:rPr lang="ko-KR" altLang="en-US" dirty="0"/>
              <a:t>기반 기본 동작 확인 </a:t>
            </a:r>
          </a:p>
          <a:p>
            <a:pPr lvl="1"/>
            <a:r>
              <a:rPr lang="ko-KR" altLang="en-US" dirty="0"/>
              <a:t>입력</a:t>
            </a:r>
            <a:r>
              <a:rPr lang="en-US" altLang="ko-KR" dirty="0"/>
              <a:t>/</a:t>
            </a:r>
            <a:r>
              <a:rPr lang="ko-KR" altLang="en-US" dirty="0"/>
              <a:t>출력</a:t>
            </a:r>
            <a:r>
              <a:rPr lang="en-US" altLang="ko-KR" dirty="0"/>
              <a:t>/</a:t>
            </a:r>
            <a:r>
              <a:rPr lang="ko-KR" altLang="en-US" dirty="0"/>
              <a:t>양방향 셀의 기본 동작</a:t>
            </a:r>
          </a:p>
          <a:p>
            <a:pPr lvl="1"/>
            <a:r>
              <a:rPr lang="en-US" altLang="ko-KR" dirty="0"/>
              <a:t>OEN </a:t>
            </a:r>
            <a:r>
              <a:rPr lang="ko-KR" altLang="en-US" dirty="0"/>
              <a:t>신호를 통한 입출력 모드 전환</a:t>
            </a:r>
          </a:p>
          <a:p>
            <a:pPr lvl="1"/>
            <a:r>
              <a:rPr lang="ko-KR" altLang="en-US" dirty="0"/>
              <a:t>각 셀 유형별 신호 흐름 분석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b="1" dirty="0"/>
              <a:t>LAB2</a:t>
            </a:r>
            <a:r>
              <a:rPr lang="en-US" altLang="ko-KR" dirty="0"/>
              <a:t>: </a:t>
            </a:r>
            <a:r>
              <a:rPr lang="ko-KR" altLang="en-US" dirty="0"/>
              <a:t>고속 동작 및 셀 지연 측정 </a:t>
            </a:r>
          </a:p>
          <a:p>
            <a:pPr lvl="1"/>
            <a:r>
              <a:rPr lang="en-US" altLang="ko-KR" dirty="0"/>
              <a:t>1GHz </a:t>
            </a:r>
            <a:r>
              <a:rPr lang="ko-KR" altLang="en-US" dirty="0"/>
              <a:t>신호에 대한 </a:t>
            </a:r>
            <a:r>
              <a:rPr lang="en-US" altLang="ko-KR" dirty="0"/>
              <a:t>IO</a:t>
            </a:r>
            <a:r>
              <a:rPr lang="ko-KR" altLang="en-US" dirty="0"/>
              <a:t>셀 동작 검증</a:t>
            </a:r>
          </a:p>
          <a:p>
            <a:pPr lvl="1"/>
            <a:r>
              <a:rPr lang="en-US" altLang="ko-KR" dirty="0"/>
              <a:t>Rising/Falling Delay </a:t>
            </a:r>
            <a:r>
              <a:rPr lang="ko-KR" altLang="en-US" dirty="0"/>
              <a:t>측정으로 셀 성능 평가</a:t>
            </a:r>
          </a:p>
          <a:p>
            <a:pPr lvl="1"/>
            <a:r>
              <a:rPr lang="ko-KR" altLang="en-US" dirty="0"/>
              <a:t>측정 결과를 표로 정리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b="1" dirty="0"/>
              <a:t>실습의 가치</a:t>
            </a:r>
          </a:p>
          <a:p>
            <a:pPr lvl="1"/>
            <a:r>
              <a:rPr lang="ko-KR" altLang="en-US" b="1" dirty="0"/>
              <a:t>실제 설계 과정</a:t>
            </a:r>
            <a:r>
              <a:rPr lang="ko-KR" altLang="en-US" dirty="0"/>
              <a:t>에서 중요한 판단 기준 제공</a:t>
            </a:r>
          </a:p>
          <a:p>
            <a:pPr lvl="1"/>
            <a:r>
              <a:rPr lang="ko-KR" altLang="en-US" b="1" dirty="0"/>
              <a:t>성능 한계 파악</a:t>
            </a:r>
            <a:r>
              <a:rPr lang="ko-KR" altLang="en-US" dirty="0"/>
              <a:t>으로 설계 방향 결정</a:t>
            </a:r>
          </a:p>
        </p:txBody>
      </p:sp>
    </p:spTree>
    <p:extLst>
      <p:ext uri="{BB962C8B-B14F-4D97-AF65-F5344CB8AC3E}">
        <p14:creationId xmlns:p14="http://schemas.microsoft.com/office/powerpoint/2010/main" val="2112821076"/>
      </p:ext>
    </p:extLst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장 설계용 라이브러리 점검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요점 정리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63526E-D487-497C-880E-0FC0F1E6F01D}"/>
              </a:ext>
            </a:extLst>
          </p:cNvPr>
          <p:cNvSpPr/>
          <p:nvPr/>
        </p:nvSpPr>
        <p:spPr>
          <a:xfrm>
            <a:off x="272375" y="1755815"/>
            <a:ext cx="11585642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/>
              <a:t>1. </a:t>
            </a:r>
            <a:r>
              <a:rPr lang="ko-KR" altLang="en-US" dirty="0"/>
              <a:t>설계용 라이브러리는 반도체 설계에 사용되는 </a:t>
            </a:r>
            <a:r>
              <a:rPr lang="ko-KR" altLang="en-US" b="1" dirty="0"/>
              <a:t>미리 검증된 논리 및 기능 블록의 모음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2. </a:t>
            </a:r>
            <a:r>
              <a:rPr lang="ko-KR" altLang="en-US" dirty="0"/>
              <a:t>라이브러리는 </a:t>
            </a:r>
            <a:r>
              <a:rPr lang="ko-KR" altLang="en-US" b="1" dirty="0"/>
              <a:t>집 짓기의 벽돌</a:t>
            </a:r>
            <a:r>
              <a:rPr lang="ko-KR" altLang="en-US" dirty="0"/>
              <a:t>과 같은 개념으로</a:t>
            </a:r>
            <a:r>
              <a:rPr lang="en-US" altLang="ko-KR" dirty="0"/>
              <a:t>, </a:t>
            </a:r>
            <a:r>
              <a:rPr lang="ko-KR" altLang="en-US" dirty="0"/>
              <a:t>설계자가 매번 기본 요소를 새로 만들 필요가 없게 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3. </a:t>
            </a:r>
            <a:r>
              <a:rPr lang="ko-KR" altLang="en-US" dirty="0"/>
              <a:t>라이브러리 구성 요소는 </a:t>
            </a:r>
            <a:r>
              <a:rPr lang="ko-KR" altLang="en-US" b="1" dirty="0"/>
              <a:t>표준 셀</a:t>
            </a:r>
            <a:r>
              <a:rPr lang="en-US" altLang="ko-KR" b="1" dirty="0"/>
              <a:t>(Standard Cell) + </a:t>
            </a:r>
            <a:r>
              <a:rPr lang="ko-KR" altLang="en-US" b="1" dirty="0"/>
              <a:t>입출력 셀</a:t>
            </a:r>
            <a:r>
              <a:rPr lang="en-US" altLang="ko-KR" b="1" dirty="0"/>
              <a:t>(I/O Cell) + </a:t>
            </a:r>
            <a:r>
              <a:rPr lang="ko-KR" altLang="en-US" b="1" dirty="0"/>
              <a:t>메모리 블록 </a:t>
            </a:r>
            <a:r>
              <a:rPr lang="en-US" altLang="ko-KR" b="1" dirty="0"/>
              <a:t>+ </a:t>
            </a:r>
            <a:r>
              <a:rPr lang="ko-KR" altLang="en-US" b="1" dirty="0"/>
              <a:t>특수 기능 블록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4. </a:t>
            </a:r>
            <a:r>
              <a:rPr lang="en-US" altLang="ko-KR" b="1" dirty="0"/>
              <a:t>GPDK045</a:t>
            </a:r>
            <a:r>
              <a:rPr lang="ko-KR" altLang="en-US" dirty="0"/>
              <a:t>는 </a:t>
            </a:r>
            <a:r>
              <a:rPr lang="en-US" altLang="ko-KR" dirty="0"/>
              <a:t>Cadence</a:t>
            </a:r>
            <a:r>
              <a:rPr lang="ko-KR" altLang="en-US" dirty="0"/>
              <a:t>에서 제공하는 </a:t>
            </a:r>
            <a:r>
              <a:rPr lang="en-US" altLang="ko-KR" b="1" dirty="0"/>
              <a:t>45nm </a:t>
            </a:r>
            <a:r>
              <a:rPr lang="ko-KR" altLang="en-US" b="1" dirty="0"/>
              <a:t>교육용 라이브러리로</a:t>
            </a:r>
            <a:r>
              <a:rPr lang="en-US" altLang="ko-KR" dirty="0"/>
              <a:t>, </a:t>
            </a:r>
            <a:r>
              <a:rPr lang="ko-KR" altLang="en-US" dirty="0"/>
              <a:t>상용 라이브러리와 동일한 구조를 갖는다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5. </a:t>
            </a:r>
            <a:r>
              <a:rPr lang="ko-KR" altLang="en-US" dirty="0"/>
              <a:t>라이브러리는 </a:t>
            </a:r>
            <a:r>
              <a:rPr lang="ko-KR" altLang="en-US" b="1" dirty="0"/>
              <a:t>설계 효율성 향상</a:t>
            </a:r>
            <a:r>
              <a:rPr lang="ko-KR" altLang="en-US" dirty="0"/>
              <a:t>과 </a:t>
            </a:r>
            <a:r>
              <a:rPr lang="ko-KR" altLang="en-US" b="1" dirty="0"/>
              <a:t>제조 공정 최적화</a:t>
            </a:r>
            <a:r>
              <a:rPr lang="ko-KR" altLang="en-US" dirty="0"/>
              <a:t>라는 두 가지 핵심 가치를 제공한다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6. </a:t>
            </a:r>
            <a:r>
              <a:rPr lang="ko-KR" altLang="en-US" dirty="0"/>
              <a:t>라이브러리 파일 형식은 </a:t>
            </a:r>
            <a:r>
              <a:rPr lang="en-US" altLang="ko-KR" b="1" dirty="0"/>
              <a:t>4</a:t>
            </a:r>
            <a:r>
              <a:rPr lang="ko-KR" altLang="en-US" b="1" dirty="0"/>
              <a:t>가지 핵심 타입</a:t>
            </a:r>
            <a:r>
              <a:rPr lang="ko-KR" altLang="en-US" dirty="0"/>
              <a:t>으로 구성된다</a:t>
            </a:r>
            <a:r>
              <a:rPr lang="en-US" altLang="ko-KR" dirty="0"/>
              <a:t>:</a:t>
            </a:r>
            <a:endParaRPr lang="ko-KR" altLang="en-US" dirty="0"/>
          </a:p>
          <a:p>
            <a:pPr fontAlgn="base"/>
            <a:r>
              <a:rPr lang="en-US" altLang="ko-KR" b="1" dirty="0"/>
              <a:t>   - .lib: </a:t>
            </a:r>
            <a:r>
              <a:rPr lang="ko-KR" altLang="en-US" dirty="0"/>
              <a:t>타이밍</a:t>
            </a:r>
            <a:r>
              <a:rPr lang="en-US" altLang="ko-KR" dirty="0"/>
              <a:t>, </a:t>
            </a:r>
            <a:r>
              <a:rPr lang="ko-KR" altLang="en-US" dirty="0"/>
              <a:t>전력</a:t>
            </a:r>
            <a:r>
              <a:rPr lang="en-US" altLang="ko-KR" dirty="0"/>
              <a:t>, </a:t>
            </a:r>
            <a:r>
              <a:rPr lang="ko-KR" altLang="en-US" dirty="0"/>
              <a:t>딜레이 등 전기적 특성 정보</a:t>
            </a:r>
          </a:p>
          <a:p>
            <a:pPr fontAlgn="base"/>
            <a:r>
              <a:rPr lang="en-US" altLang="ko-KR" b="1" dirty="0"/>
              <a:t>   - .</a:t>
            </a:r>
            <a:r>
              <a:rPr lang="en-US" altLang="ko-KR" b="1" dirty="0" err="1"/>
              <a:t>db</a:t>
            </a:r>
            <a:r>
              <a:rPr lang="en-US" altLang="ko-KR" b="1" dirty="0"/>
              <a:t>: </a:t>
            </a:r>
            <a:r>
              <a:rPr lang="en-US" altLang="ko-KR" dirty="0"/>
              <a:t>.lib</a:t>
            </a:r>
            <a:r>
              <a:rPr lang="ko-KR" altLang="en-US" dirty="0"/>
              <a:t>와 동일 정보의 바이너리 버전 </a:t>
            </a:r>
            <a:r>
              <a:rPr lang="en-US" altLang="ko-KR" dirty="0"/>
              <a:t>(</a:t>
            </a:r>
            <a:r>
              <a:rPr lang="ko-KR" altLang="en-US" dirty="0"/>
              <a:t>합성 툴에서 빠른 로딩</a:t>
            </a:r>
            <a:r>
              <a:rPr lang="en-US" altLang="ko-KR" dirty="0"/>
              <a:t>)</a:t>
            </a:r>
            <a:endParaRPr lang="ko-KR" altLang="en-US" dirty="0"/>
          </a:p>
          <a:p>
            <a:pPr fontAlgn="base"/>
            <a:r>
              <a:rPr lang="en-US" altLang="ko-KR" b="1" dirty="0"/>
              <a:t>   - .v: </a:t>
            </a:r>
            <a:r>
              <a:rPr lang="ko-KR" altLang="en-US" dirty="0"/>
              <a:t>논리적 동작을 기술한 </a:t>
            </a:r>
            <a:r>
              <a:rPr lang="en-US" altLang="ko-KR" dirty="0"/>
              <a:t>Verilog </a:t>
            </a:r>
            <a:r>
              <a:rPr lang="ko-KR" altLang="en-US" dirty="0"/>
              <a:t>모델</a:t>
            </a:r>
          </a:p>
          <a:p>
            <a:pPr fontAlgn="base"/>
            <a:r>
              <a:rPr lang="en-US" altLang="ko-KR" b="1" dirty="0"/>
              <a:t>   - .</a:t>
            </a:r>
            <a:r>
              <a:rPr lang="en-US" altLang="ko-KR" b="1" dirty="0" err="1"/>
              <a:t>lef</a:t>
            </a:r>
            <a:r>
              <a:rPr lang="en-US" altLang="ko-KR" b="1" dirty="0"/>
              <a:t>: </a:t>
            </a:r>
            <a:r>
              <a:rPr lang="ko-KR" altLang="en-US" dirty="0"/>
              <a:t>물리적 레이아웃 정보 </a:t>
            </a:r>
            <a:r>
              <a:rPr lang="en-US" altLang="ko-KR" dirty="0"/>
              <a:t>(</a:t>
            </a:r>
            <a:r>
              <a:rPr lang="ko-KR" altLang="en-US" dirty="0"/>
              <a:t>핀 위치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/>
              <a:t>라우팅 정보</a:t>
            </a:r>
            <a:r>
              <a:rPr lang="en-US" altLang="ko-KR" dirty="0"/>
              <a:t>)</a:t>
            </a:r>
            <a:endParaRPr lang="ko-KR" altLang="en-US" dirty="0"/>
          </a:p>
          <a:p>
            <a:pPr fontAlgn="base"/>
            <a:r>
              <a:rPr lang="en-US" altLang="ko-KR" dirty="0"/>
              <a:t>7. </a:t>
            </a:r>
            <a:r>
              <a:rPr lang="ko-KR" altLang="en-US" b="1" dirty="0"/>
              <a:t>환경 변수 설정</a:t>
            </a:r>
            <a:r>
              <a:rPr lang="ko-KR" altLang="en-US" dirty="0"/>
              <a:t>은 </a:t>
            </a:r>
            <a:r>
              <a:rPr lang="ko-KR" altLang="en-US" b="1" dirty="0"/>
              <a:t>라이센스 정보 </a:t>
            </a:r>
            <a:r>
              <a:rPr lang="en-US" altLang="ko-KR" b="1" dirty="0"/>
              <a:t>+ </a:t>
            </a:r>
            <a:r>
              <a:rPr lang="ko-KR" altLang="en-US" b="1" dirty="0"/>
              <a:t>툴 경로 </a:t>
            </a:r>
            <a:r>
              <a:rPr lang="en-US" altLang="ko-KR" b="1" dirty="0"/>
              <a:t>+ PATH + OA_HOME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가지 핵심 요소가 필요하다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8. </a:t>
            </a:r>
            <a:r>
              <a:rPr lang="ko-KR" altLang="en-US" dirty="0"/>
              <a:t>표준 셀은 </a:t>
            </a:r>
            <a:r>
              <a:rPr lang="ko-KR" altLang="en-US" b="1" dirty="0"/>
              <a:t>조합 논리</a:t>
            </a:r>
            <a:r>
              <a:rPr lang="en-US" altLang="ko-KR" dirty="0"/>
              <a:t>(AND, OR, XOR, NOT) + </a:t>
            </a:r>
            <a:r>
              <a:rPr lang="ko-KR" altLang="en-US" b="1" dirty="0"/>
              <a:t>순차 논리</a:t>
            </a:r>
            <a:r>
              <a:rPr lang="en-US" altLang="ko-KR" dirty="0"/>
              <a:t>(D-FF, </a:t>
            </a:r>
            <a:r>
              <a:rPr lang="ko-KR" altLang="en-US" dirty="0"/>
              <a:t>래치</a:t>
            </a:r>
            <a:r>
              <a:rPr lang="en-US" altLang="ko-KR" dirty="0"/>
              <a:t>)</a:t>
            </a:r>
            <a:r>
              <a:rPr lang="ko-KR" altLang="en-US" dirty="0"/>
              <a:t>로 구성된다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9. </a:t>
            </a:r>
            <a:r>
              <a:rPr lang="en-US" altLang="ko-KR" b="1" dirty="0"/>
              <a:t>LAB1</a:t>
            </a:r>
            <a:r>
              <a:rPr lang="en-US" altLang="ko-KR" dirty="0"/>
              <a:t>(GUI </a:t>
            </a:r>
            <a:r>
              <a:rPr lang="ko-KR" altLang="en-US" dirty="0"/>
              <a:t>기반</a:t>
            </a:r>
            <a:r>
              <a:rPr lang="en-US" altLang="ko-KR" dirty="0"/>
              <a:t>): </a:t>
            </a:r>
            <a:r>
              <a:rPr lang="en-US" altLang="ko-KR" dirty="0" err="1"/>
              <a:t>SimVision</a:t>
            </a:r>
            <a:r>
              <a:rPr lang="ko-KR" altLang="en-US" dirty="0"/>
              <a:t>을 통한 기본 게이트 동작 확인 및 </a:t>
            </a:r>
            <a:r>
              <a:rPr lang="en-US" altLang="ko-KR" dirty="0"/>
              <a:t>$stop </a:t>
            </a:r>
            <a:r>
              <a:rPr lang="ko-KR" altLang="en-US" dirty="0"/>
              <a:t>명령어 학습</a:t>
            </a:r>
          </a:p>
          <a:p>
            <a:pPr fontAlgn="base"/>
            <a:r>
              <a:rPr lang="en-US" altLang="ko-KR" dirty="0"/>
              <a:t>10. </a:t>
            </a:r>
            <a:r>
              <a:rPr lang="en-US" altLang="ko-KR" b="1" dirty="0"/>
              <a:t>LAB2</a:t>
            </a:r>
            <a:r>
              <a:rPr lang="en-US" altLang="ko-KR" dirty="0"/>
              <a:t>(</a:t>
            </a:r>
            <a:r>
              <a:rPr lang="ko-KR" altLang="en-US" dirty="0"/>
              <a:t>커맨드방식</a:t>
            </a:r>
            <a:r>
              <a:rPr lang="en-US" altLang="ko-KR" dirty="0"/>
              <a:t>+</a:t>
            </a:r>
            <a:r>
              <a:rPr lang="ko-KR" altLang="en-US" dirty="0"/>
              <a:t>덤프</a:t>
            </a:r>
            <a:r>
              <a:rPr lang="en-US" altLang="ko-KR" dirty="0"/>
              <a:t>): GUI </a:t>
            </a:r>
            <a:r>
              <a:rPr lang="ko-KR" altLang="en-US" dirty="0"/>
              <a:t>없이 시뮬레이션 후 저장된 데이터로 분석</a:t>
            </a:r>
            <a:r>
              <a:rPr lang="en-US" altLang="ko-KR" dirty="0"/>
              <a:t>, $finish </a:t>
            </a:r>
            <a:r>
              <a:rPr lang="ko-KR" altLang="en-US" dirty="0"/>
              <a:t>명령어 학습</a:t>
            </a:r>
          </a:p>
        </p:txBody>
      </p:sp>
    </p:spTree>
    <p:extLst>
      <p:ext uri="{BB962C8B-B14F-4D97-AF65-F5344CB8AC3E}">
        <p14:creationId xmlns:p14="http://schemas.microsoft.com/office/powerpoint/2010/main" val="3563277799"/>
      </p:ext>
    </p:extLst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장 설계용 라이브러리 점검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요점 정리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63526E-D487-497C-880E-0FC0F1E6F01D}"/>
              </a:ext>
            </a:extLst>
          </p:cNvPr>
          <p:cNvSpPr/>
          <p:nvPr/>
        </p:nvSpPr>
        <p:spPr>
          <a:xfrm>
            <a:off x="647700" y="1590445"/>
            <a:ext cx="11463236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/>
              <a:t>11. </a:t>
            </a:r>
            <a:r>
              <a:rPr lang="en-US" altLang="ko-KR" b="1" dirty="0"/>
              <a:t>LAB3</a:t>
            </a:r>
            <a:r>
              <a:rPr lang="en-US" altLang="ko-KR" dirty="0"/>
              <a:t>(</a:t>
            </a:r>
            <a:r>
              <a:rPr lang="ko-KR" altLang="en-US" dirty="0"/>
              <a:t>고속 동작</a:t>
            </a:r>
            <a:r>
              <a:rPr lang="en-US" altLang="ko-KR" dirty="0"/>
              <a:t>): </a:t>
            </a:r>
            <a:r>
              <a:rPr lang="en-US" altLang="ko-KR" b="1" dirty="0"/>
              <a:t>1GHz</a:t>
            </a:r>
            <a:r>
              <a:rPr lang="en-US" altLang="ko-KR" dirty="0"/>
              <a:t>(1ns </a:t>
            </a:r>
            <a:r>
              <a:rPr lang="ko-KR" altLang="en-US" dirty="0"/>
              <a:t>주기</a:t>
            </a:r>
            <a:r>
              <a:rPr lang="en-US" altLang="ko-KR" dirty="0"/>
              <a:t>) </a:t>
            </a:r>
            <a:r>
              <a:rPr lang="ko-KR" altLang="en-US" dirty="0" err="1"/>
              <a:t>클록에서의</a:t>
            </a:r>
            <a:r>
              <a:rPr lang="ko-KR" altLang="en-US" dirty="0"/>
              <a:t> 셀 동작 검증</a:t>
            </a:r>
          </a:p>
          <a:p>
            <a:pPr fontAlgn="base"/>
            <a:r>
              <a:rPr lang="en-US" altLang="ko-KR" dirty="0"/>
              <a:t>12. Function Simulation</a:t>
            </a:r>
            <a:r>
              <a:rPr lang="ko-KR" altLang="en-US" dirty="0"/>
              <a:t>에서는 </a:t>
            </a:r>
            <a:r>
              <a:rPr lang="ko-KR" altLang="en-US" b="1" dirty="0"/>
              <a:t>딜레이가 적용되지 않아</a:t>
            </a:r>
            <a:r>
              <a:rPr lang="ko-KR" altLang="en-US" dirty="0"/>
              <a:t> 고속 동작이 가능하지만</a:t>
            </a:r>
            <a:r>
              <a:rPr lang="en-US" altLang="ko-KR" dirty="0"/>
              <a:t>, </a:t>
            </a:r>
            <a:r>
              <a:rPr lang="ko-KR" altLang="en-US" dirty="0"/>
              <a:t>실제 구현 후에는 </a:t>
            </a:r>
            <a:r>
              <a:rPr lang="en-US" altLang="ko-KR" b="1" dirty="0"/>
              <a:t>Cell Delay + Net Delay</a:t>
            </a:r>
            <a:r>
              <a:rPr lang="ko-KR" altLang="en-US" dirty="0"/>
              <a:t>가 적용된다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13. IO </a:t>
            </a:r>
            <a:r>
              <a:rPr lang="ko-KR" altLang="en-US" dirty="0"/>
              <a:t>셀은 </a:t>
            </a:r>
            <a:r>
              <a:rPr lang="en-US" altLang="ko-KR" dirty="0"/>
              <a:t>2</a:t>
            </a:r>
            <a:r>
              <a:rPr lang="ko-KR" altLang="en-US" dirty="0"/>
              <a:t>가지 핵심 분류로 구분된다</a:t>
            </a:r>
            <a:r>
              <a:rPr lang="en-US" altLang="ko-KR" dirty="0"/>
              <a:t>:</a:t>
            </a:r>
            <a:endParaRPr lang="ko-KR" altLang="en-US" dirty="0"/>
          </a:p>
          <a:p>
            <a:pPr fontAlgn="base"/>
            <a:r>
              <a:rPr lang="en-US" altLang="ko-KR" dirty="0"/>
              <a:t>- </a:t>
            </a:r>
            <a:r>
              <a:rPr lang="en-US" altLang="ko-KR" b="1" dirty="0"/>
              <a:t>GPIO: </a:t>
            </a:r>
            <a:r>
              <a:rPr lang="ko-KR" altLang="en-US" dirty="0"/>
              <a:t>신호 입출력 처리 </a:t>
            </a:r>
            <a:r>
              <a:rPr lang="en-US" altLang="ko-KR" dirty="0"/>
              <a:t>(PADDI, PADDO, PADDB)</a:t>
            </a:r>
            <a:endParaRPr lang="ko-KR" altLang="en-US" dirty="0"/>
          </a:p>
          <a:p>
            <a:pPr fontAlgn="base"/>
            <a:r>
              <a:rPr lang="en-US" altLang="ko-KR" dirty="0"/>
              <a:t>- </a:t>
            </a:r>
            <a:r>
              <a:rPr lang="en-US" altLang="ko-KR" b="1" dirty="0"/>
              <a:t>Power IO:</a:t>
            </a:r>
            <a:r>
              <a:rPr lang="ko-KR" altLang="en-US" dirty="0"/>
              <a:t> 전력 공급 </a:t>
            </a:r>
          </a:p>
          <a:p>
            <a:pPr fontAlgn="base"/>
            <a:r>
              <a:rPr lang="en-US" altLang="ko-KR" dirty="0"/>
              <a:t>(PADVDD/PADVSS - </a:t>
            </a:r>
            <a:r>
              <a:rPr lang="ko-KR" altLang="en-US" dirty="0" err="1"/>
              <a:t>코어용</a:t>
            </a:r>
            <a:r>
              <a:rPr lang="en-US" altLang="ko-KR" dirty="0"/>
              <a:t>, PADVDDIOR/PADVSSIOR - IO</a:t>
            </a:r>
            <a:r>
              <a:rPr lang="ko-KR" altLang="en-US" dirty="0"/>
              <a:t>용</a:t>
            </a:r>
            <a:r>
              <a:rPr lang="en-US" altLang="ko-KR" dirty="0"/>
              <a:t>)</a:t>
            </a:r>
            <a:endParaRPr lang="ko-KR" altLang="en-US" dirty="0"/>
          </a:p>
          <a:p>
            <a:pPr fontAlgn="base"/>
            <a:r>
              <a:rPr lang="en-US" altLang="ko-KR" dirty="0"/>
              <a:t>14. </a:t>
            </a:r>
            <a:r>
              <a:rPr lang="ko-KR" altLang="en-US" dirty="0"/>
              <a:t>양방향 셀</a:t>
            </a:r>
            <a:r>
              <a:rPr lang="en-US" altLang="ko-KR" dirty="0"/>
              <a:t>(PADDB)</a:t>
            </a:r>
            <a:r>
              <a:rPr lang="ko-KR" altLang="en-US" dirty="0"/>
              <a:t>은 </a:t>
            </a:r>
            <a:r>
              <a:rPr lang="en-US" altLang="ko-KR" b="1" dirty="0"/>
              <a:t>OEN(Output Enable Negative) </a:t>
            </a:r>
            <a:r>
              <a:rPr lang="ko-KR" altLang="en-US" b="1" dirty="0"/>
              <a:t>신호</a:t>
            </a:r>
            <a:r>
              <a:rPr lang="ko-KR" altLang="en-US" dirty="0"/>
              <a:t>로 입출력 모드를 전환한다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15. </a:t>
            </a:r>
            <a:r>
              <a:rPr lang="en-US" altLang="ko-KR" b="1" dirty="0"/>
              <a:t>Cell Delay </a:t>
            </a:r>
            <a:r>
              <a:rPr lang="ko-KR" altLang="en-US" b="1" dirty="0"/>
              <a:t>측정 결과</a:t>
            </a:r>
            <a:r>
              <a:rPr lang="ko-KR" altLang="en-US" dirty="0"/>
              <a:t>는 설계 시 중요한 판단 기준을 제공한다</a:t>
            </a:r>
            <a:r>
              <a:rPr lang="en-US" altLang="ko-KR" dirty="0"/>
              <a:t>:</a:t>
            </a:r>
            <a:endParaRPr lang="ko-KR" altLang="en-US" dirty="0"/>
          </a:p>
          <a:p>
            <a:pPr fontAlgn="base"/>
            <a:r>
              <a:rPr lang="en-US" altLang="ko-KR" dirty="0"/>
              <a:t>16. **</a:t>
            </a:r>
            <a:r>
              <a:rPr lang="ko-KR" altLang="en-US" dirty="0"/>
              <a:t>출력 셀의 지연</a:t>
            </a:r>
            <a:r>
              <a:rPr lang="en-US" altLang="ko-KR" dirty="0"/>
              <a:t>(~480ps)**</a:t>
            </a:r>
            <a:r>
              <a:rPr lang="ko-KR" altLang="en-US" dirty="0"/>
              <a:t>은 입력 셀</a:t>
            </a:r>
            <a:r>
              <a:rPr lang="en-US" altLang="ko-KR" dirty="0"/>
              <a:t>(~50ps)</a:t>
            </a:r>
            <a:r>
              <a:rPr lang="ko-KR" altLang="en-US" dirty="0"/>
              <a:t>보다 </a:t>
            </a:r>
            <a:r>
              <a:rPr lang="ko-KR" altLang="en-US" b="1" dirty="0"/>
              <a:t>약 </a:t>
            </a:r>
            <a:r>
              <a:rPr lang="en-US" altLang="ko-KR" b="1" dirty="0"/>
              <a:t>10</a:t>
            </a:r>
            <a:r>
              <a:rPr lang="ko-KR" altLang="en-US" b="1" dirty="0"/>
              <a:t>배 크므로 고속 설계 시 주의</a:t>
            </a:r>
            <a:r>
              <a:rPr lang="ko-KR" altLang="en-US" dirty="0"/>
              <a:t>가 필요하다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r>
              <a:rPr lang="en-US" altLang="ko-KR" dirty="0"/>
              <a:t>17. 1GHz </a:t>
            </a:r>
            <a:r>
              <a:rPr lang="ko-KR" altLang="en-US" dirty="0"/>
              <a:t>동작 검증을 통해 라이브러리의 최대 성능 한계를 파악할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7073284"/>
      </p:ext>
    </p:extLst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장 설계용 라이브러리 점검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주요 용어 설명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6771A77-2C42-416B-A339-23974534F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14981"/>
              </p:ext>
            </p:extLst>
          </p:nvPr>
        </p:nvGraphicFramePr>
        <p:xfrm>
          <a:off x="1087778" y="1385107"/>
          <a:ext cx="10608922" cy="5374640"/>
        </p:xfrm>
        <a:graphic>
          <a:graphicData uri="http://schemas.openxmlformats.org/drawingml/2006/table">
            <a:tbl>
              <a:tblPr/>
              <a:tblGrid>
                <a:gridCol w="2526025">
                  <a:extLst>
                    <a:ext uri="{9D8B030D-6E8A-4147-A177-3AD203B41FA5}">
                      <a16:colId xmlns:a16="http://schemas.microsoft.com/office/drawing/2014/main" val="1817031983"/>
                    </a:ext>
                  </a:extLst>
                </a:gridCol>
                <a:gridCol w="8082897">
                  <a:extLst>
                    <a:ext uri="{9D8B030D-6E8A-4147-A177-3AD203B41FA5}">
                      <a16:colId xmlns:a16="http://schemas.microsoft.com/office/drawing/2014/main" val="4085719842"/>
                    </a:ext>
                  </a:extLst>
                </a:gridCol>
              </a:tblGrid>
              <a:tr h="3016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용어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설명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18741"/>
                  </a:ext>
                </a:extLst>
              </a:tr>
              <a:tr h="9249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설계용 라이브러리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반도체 설계에 사용되는 미리 검증된 논리 및 기능 블록의 모음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표준 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IO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메모리 블록 등을 포함하며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설계자가 매번 기본 요소를 새로 만들 필요 없이 효율적인 설계를 가능하게 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집 짓기의 벽돌에 비유할 수 있음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595945"/>
                  </a:ext>
                </a:extLst>
              </a:tr>
              <a:tr h="623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GPDK045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Cadence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제공하는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45nm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공정 기반의 교육용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PDK.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상용 라이브러리와 동일한 구조를 가지므로 초보자 교육에 적합하며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유일하게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라이브러리를 제공하는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GPDK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버전임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56399"/>
                  </a:ext>
                </a:extLst>
              </a:tr>
              <a:tr h="623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OEN (Output Enable Negative)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양방향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(PADDB)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입출력 모드를 제어하는 신호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OEN = 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일 때 출력 모드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OEN = 1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일 때 입력 모드로 동작함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네거티브 로직을 사용하여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0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이 출력 활성화를 의미함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919493"/>
                  </a:ext>
                </a:extLst>
              </a:tr>
              <a:tr h="623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표준 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Standard Cell)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디지털 회로 설계의 기본 구성 요소로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조합 논리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(AND, OR, XOR, NOT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등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순차 논리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(D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플립플롭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래치 등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포함함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미리 검증된 셀을 재사용하여 설계 효율성을 높임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864625"/>
                  </a:ext>
                </a:extLst>
              </a:tr>
              <a:tr h="623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Input/Output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Cell)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칩 내부 회로와 외부 환경 사이의 인터페이스 역할을 담당하는 셀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GPIO(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신호 입출력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Power IO(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전력 공급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분류되며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신호 레벨 변환과 보호 기능을 수행함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848052"/>
                  </a:ext>
                </a:extLst>
              </a:tr>
              <a:tr h="613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.lib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파일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스탠다드 셀의 타이밍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전력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딜레이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노이즈 특성 등 전기적 특성 정보를 담고 있는 라이브러리 파일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Genus, 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Innovus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Tempus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등의 툴에서 사용됨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300156"/>
                  </a:ext>
                </a:extLst>
              </a:tr>
              <a:tr h="613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r>
                        <a:rPr 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lef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파일 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Library Exchange Format)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셀의 물리적 레이아웃 정보를 담고 있는 파일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핀의 위치와 크기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메탈 레이어 정보 등을 포함하며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주로 배치 및 배선 툴인 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Innovus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사용됨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860935"/>
      </p:ext>
    </p:extLst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장 설계용 라이브러리 점검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주요 용어 설명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6771A77-2C42-416B-A339-23974534F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243019"/>
              </p:ext>
            </p:extLst>
          </p:nvPr>
        </p:nvGraphicFramePr>
        <p:xfrm>
          <a:off x="1063730" y="1416941"/>
          <a:ext cx="10275703" cy="5315800"/>
        </p:xfrm>
        <a:graphic>
          <a:graphicData uri="http://schemas.openxmlformats.org/drawingml/2006/table">
            <a:tbl>
              <a:tblPr/>
              <a:tblGrid>
                <a:gridCol w="2446684">
                  <a:extLst>
                    <a:ext uri="{9D8B030D-6E8A-4147-A177-3AD203B41FA5}">
                      <a16:colId xmlns:a16="http://schemas.microsoft.com/office/drawing/2014/main" val="1817031983"/>
                    </a:ext>
                  </a:extLst>
                </a:gridCol>
                <a:gridCol w="7829019">
                  <a:extLst>
                    <a:ext uri="{9D8B030D-6E8A-4147-A177-3AD203B41FA5}">
                      <a16:colId xmlns:a16="http://schemas.microsoft.com/office/drawing/2014/main" val="4085719842"/>
                    </a:ext>
                  </a:extLst>
                </a:gridCol>
              </a:tblGrid>
              <a:tr h="2651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용어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설명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18741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.v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파일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Verilog Model)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스탠다드 셀의 논리적 동작을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Verilog HDL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기술한 파일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셀의 입출력 인터페이스와 내부 동작 원리를 포함하며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시뮬레이션 툴인 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Xcelium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사용됨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55806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Cell Delay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 내부에서 입력 신호가 출력 신호로 전파되는 데 걸리는 시간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Rising Delay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Falling Delay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구분되며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타이밍 분석의 핵심 요소임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272665"/>
                  </a:ext>
                </a:extLst>
              </a:tr>
              <a:tr h="813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PADDI (PAD Input)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입력 전용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PAD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핀을 입력으로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Y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핀을 출력으로 사용함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외부 신호를 내부 회로에서 안정적으로 사용할 수 있도록 변환하는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Input Buffer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역할을 수행함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8806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PADDO (PAD Output)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출력 전용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셀로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A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핀을 입력으로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핀을 출력으로 사용함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내부 회로에서 생성된 신호를 외부로 증폭하여 전달하는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Output Driver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역할을 수행함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87898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PADDB (PAD Bidirectional)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양방향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셀로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OEN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신호에 따라 입력 또는 출력 모드로 동작 가능함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하나의 셀로 입출력을 모두 처리할 수 있어 핀 수를 절약할 수 있음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773251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Function Simulation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회로의 논리적 기능만을 검증하는 시뮬레이션으로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Cell Delay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나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Net Delay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가 적용되지 않음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설계 초기 단계에서 기본 동작을 빠르게 확인할 때 사용됨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31663"/>
                  </a:ext>
                </a:extLst>
              </a:tr>
              <a:tr h="813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SimVision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Cadence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의 그래픽 시뮬레이션 환경으로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파형을 시각적으로 분석할 수 있음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Design Browser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Waveform Viewer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를 통해 시뮬레이션 결과를 직관적으로 확인 가능함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491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81487"/>
      </p:ext>
    </p:extLst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5481A-1946-4401-8CCE-E57EDCDD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98253"/>
            <a:ext cx="8302032" cy="513502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장 설계용 라이브러리 점검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EA9ADE-8F72-4D23-9B3F-D7AB2969E46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52567" y="950629"/>
            <a:ext cx="5663847" cy="466312"/>
          </a:xfrm>
        </p:spPr>
        <p:txBody>
          <a:bodyPr/>
          <a:lstStyle/>
          <a:p>
            <a:r>
              <a:rPr lang="ko-KR" altLang="en-US" sz="2400" b="1" dirty="0"/>
              <a:t>주요 용어 설명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6771A77-2C42-416B-A339-23974534F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229733"/>
              </p:ext>
            </p:extLst>
          </p:nvPr>
        </p:nvGraphicFramePr>
        <p:xfrm>
          <a:off x="1063730" y="1630949"/>
          <a:ext cx="10275703" cy="4643970"/>
        </p:xfrm>
        <a:graphic>
          <a:graphicData uri="http://schemas.openxmlformats.org/drawingml/2006/table">
            <a:tbl>
              <a:tblPr/>
              <a:tblGrid>
                <a:gridCol w="2446684">
                  <a:extLst>
                    <a:ext uri="{9D8B030D-6E8A-4147-A177-3AD203B41FA5}">
                      <a16:colId xmlns:a16="http://schemas.microsoft.com/office/drawing/2014/main" val="1817031983"/>
                    </a:ext>
                  </a:extLst>
                </a:gridCol>
                <a:gridCol w="7829019">
                  <a:extLst>
                    <a:ext uri="{9D8B030D-6E8A-4147-A177-3AD203B41FA5}">
                      <a16:colId xmlns:a16="http://schemas.microsoft.com/office/drawing/2014/main" val="4085719842"/>
                    </a:ext>
                  </a:extLst>
                </a:gridCol>
              </a:tblGrid>
              <a:tr h="2651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용어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설명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18741"/>
                  </a:ext>
                </a:extLst>
              </a:tr>
              <a:tr h="813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문턱전압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Threshold Voltage)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트랜지스터가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턴온되는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 데 필요한 최소 전압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GPDK045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에서는 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lvt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저전압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), 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svt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표준전압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), </a:t>
                      </a:r>
                      <a:r>
                        <a:rPr lang="en-US" altLang="ko-KR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hvt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고전압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)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로 분류되며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속도와 전력 소모의 트레이드오프 관계를 가짐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6883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$stop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과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$</a:t>
                      </a: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finish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Verilog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시뮬레이션 제어 명령어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$stop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은 시뮬레이션을 일시 정지하여 사용자가 계속 실행을 선택할 수 있고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$finish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는 시뮬레이션을 완전히 종료시킴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72113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ifdef-endif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구문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Verilog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조건부 컴파일을 위한 구문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+define+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옵션과 함께 사용하여 테스트벤치의 특정 부분을 선택적으로 활성화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/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비활성화할 수 있음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68222"/>
                  </a:ext>
                </a:extLst>
              </a:tr>
              <a:tr h="813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Power IO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칩의 전력 공급을 담당하는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셀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코어 영역용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(PADVDD/PADVSS)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과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IO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영역용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(PADVDDIOR/PADVSSIOR)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으로 구분되며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각각 다른 전압 도메인에 전력을 공급함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242766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CDS_LIC_FILE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Cadence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툴 사용을 위한 라이센스 정보를 담고 있는 환경 변수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[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포트번호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@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라이센스서버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IP]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형태로 설정하며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모든 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Cadence </a:t>
                      </a: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툴 실행의 전제 조건임</a:t>
                      </a:r>
                      <a:r>
                        <a:rPr lang="en-US" altLang="ko-KR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469597"/>
                  </a:ext>
                </a:extLst>
              </a:tr>
              <a:tr h="5391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AAA (ARM Academic Access)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ARM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에서 대학을 대상으로 제공하는 프로그램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최신 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ARM IP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와 개발 도구를 교육 목적으로 무료 제공하며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, NDA </a:t>
                      </a: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체결을 통해 접근 권한을 </a:t>
                      </a:r>
                      <a:r>
                        <a:rPr lang="ko-KR" altLang="en-US" sz="1400" kern="0" spc="-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부여받음</a:t>
                      </a: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.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04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263249"/>
      </p:ext>
    </p:extLst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AD944-BBCA-4EB9-8AB6-75987CBD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 공개 여부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6B123-9712-4B1C-9388-DAB77750C1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ARM </a:t>
            </a:r>
          </a:p>
          <a:p>
            <a:r>
              <a:rPr lang="en-US" altLang="ko-KR" dirty="0"/>
              <a:t>CADENCE GPDK045</a:t>
            </a:r>
          </a:p>
          <a:p>
            <a:r>
              <a:rPr lang="en-US" altLang="ko-KR" dirty="0"/>
              <a:t>CADENCE </a:t>
            </a:r>
            <a:r>
              <a:rPr lang="en-US" altLang="ko-KR" dirty="0" err="1"/>
              <a:t>Xcelum</a:t>
            </a:r>
            <a:endParaRPr lang="en-US" altLang="ko-KR" dirty="0"/>
          </a:p>
          <a:p>
            <a:r>
              <a:rPr lang="en-US" altLang="ko-KR" dirty="0"/>
              <a:t>CADENCE Genus</a:t>
            </a:r>
          </a:p>
          <a:p>
            <a:r>
              <a:rPr lang="en-US" altLang="ko-KR" dirty="0"/>
              <a:t>CADENCE Conformal</a:t>
            </a:r>
          </a:p>
          <a:p>
            <a:r>
              <a:rPr lang="en-US" altLang="ko-KR" dirty="0"/>
              <a:t>CADENCE Innovus</a:t>
            </a:r>
          </a:p>
          <a:p>
            <a:r>
              <a:rPr lang="en-US" altLang="ko-KR" dirty="0"/>
              <a:t>CADENCE Tempus</a:t>
            </a:r>
          </a:p>
          <a:p>
            <a:r>
              <a:rPr lang="en-US" altLang="ko-KR" dirty="0"/>
              <a:t>CADENCE Virtuoso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5F4AC4-C0F1-4948-8DA3-50B1268C6B0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본 자료의 출처 및 발췌</a:t>
            </a:r>
          </a:p>
        </p:txBody>
      </p:sp>
    </p:spTree>
    <p:extLst>
      <p:ext uri="{BB962C8B-B14F-4D97-AF65-F5344CB8AC3E}">
        <p14:creationId xmlns:p14="http://schemas.microsoft.com/office/powerpoint/2010/main" val="409042137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107619</TotalTime>
  <Words>5277</Words>
  <Application>Microsoft Office PowerPoint</Application>
  <PresentationFormat>와이드스크린</PresentationFormat>
  <Paragraphs>853</Paragraphs>
  <Slides>82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92" baseType="lpstr">
      <vt:lpstr>굴림</vt:lpstr>
      <vt:lpstr>맑은 고딕</vt:lpstr>
      <vt:lpstr>배달의민족 도현</vt:lpstr>
      <vt:lpstr>한컴바탕</vt:lpstr>
      <vt:lpstr>함초롬바탕</vt:lpstr>
      <vt:lpstr>휴먼명조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2.1 설계용 라이브러리 개요</vt:lpstr>
      <vt:lpstr>2.1 설계용 라이브러리 개요</vt:lpstr>
      <vt:lpstr>2.1 설계용 라이브러리 개요</vt:lpstr>
      <vt:lpstr>2.1 설계용 라이브러리 개요</vt:lpstr>
      <vt:lpstr>2.1 설계용 라이브러리 개요</vt:lpstr>
      <vt:lpstr>2.1 설계용 라이브러리 개요</vt:lpstr>
      <vt:lpstr>2.1 설계용 라이브러리 개요</vt:lpstr>
      <vt:lpstr>2.1 설계용 라이브러리 개요</vt:lpstr>
      <vt:lpstr>2.2 GPDK 045 구성 및 실습 환경 준비 </vt:lpstr>
      <vt:lpstr>PowerPoint 프레젠테이션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2.2 GPDK 045 구성 및 실습 환경 준비 </vt:lpstr>
      <vt:lpstr>PowerPoint 프레젠테이션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2.3 실습 : STD 셀 테스트와 해석 </vt:lpstr>
      <vt:lpstr>PowerPoint 프레젠테이션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2.4 실습 : IO셀 테스트와 해석 </vt:lpstr>
      <vt:lpstr>2장 설계용 라이브러리 점검</vt:lpstr>
      <vt:lpstr>2장 설계용 라이브러리 점검</vt:lpstr>
      <vt:lpstr>2장 설계용 라이브러리 점검</vt:lpstr>
      <vt:lpstr>2장 설계용 라이브러리 점검</vt:lpstr>
      <vt:lpstr>2장 설계용 라이브러리 점검</vt:lpstr>
      <vt:lpstr>자료 공개 여부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선혜승선혜승</dc:creator>
  <cp:lastModifiedBy>idec</cp:lastModifiedBy>
  <cp:revision>1093</cp:revision>
  <dcterms:created xsi:type="dcterms:W3CDTF">2019-11-05T14:40:42Z</dcterms:created>
  <dcterms:modified xsi:type="dcterms:W3CDTF">2025-08-25T00:52:10Z</dcterms:modified>
</cp:coreProperties>
</file>