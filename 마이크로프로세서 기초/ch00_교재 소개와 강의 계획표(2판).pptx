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6" r:id="rId1"/>
  </p:sldMasterIdLst>
  <p:handoutMasterIdLst>
    <p:handoutMasterId r:id="rId9"/>
  </p:handoutMasterIdLst>
  <p:sldIdLst>
    <p:sldId id="356" r:id="rId2"/>
    <p:sldId id="357" r:id="rId3"/>
    <p:sldId id="360" r:id="rId4"/>
    <p:sldId id="352" r:id="rId5"/>
    <p:sldId id="358" r:id="rId6"/>
    <p:sldId id="359" r:id="rId7"/>
    <p:sldId id="355" r:id="rId8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10"/>
    </p:embeddedFont>
    <p:embeddedFont>
      <p:font typeface="HY견명조" panose="02030600000101010101" pitchFamily="18" charset="-127"/>
      <p:regular r:id="rId11"/>
    </p:embeddedFont>
    <p:embeddedFont>
      <p:font typeface="HY헤드라인M" panose="02030600000101010101" pitchFamily="18" charset="-127"/>
      <p:regular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D1A"/>
    <a:srgbClr val="404040"/>
    <a:srgbClr val="948A88"/>
    <a:srgbClr val="BC0606"/>
    <a:srgbClr val="1F497D"/>
    <a:srgbClr val="BAD2CD"/>
    <a:srgbClr val="004FA3"/>
    <a:srgbClr val="0000FF"/>
    <a:srgbClr val="FFC1C1"/>
    <a:srgbClr val="FB5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10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9BBE25-1181-4C43-B3E8-9A672AB42AD3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4FE1A-607B-4D11-88C0-1D39C9D151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488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8">
            <a:extLst>
              <a:ext uri="{FF2B5EF4-FFF2-40B4-BE49-F238E27FC236}">
                <a16:creationId xmlns:a16="http://schemas.microsoft.com/office/drawing/2014/main" id="{E3FBB92B-B086-C46A-01F9-81A7E828AD66}"/>
              </a:ext>
            </a:extLst>
          </p:cNvPr>
          <p:cNvSpPr/>
          <p:nvPr userDrawn="1"/>
        </p:nvSpPr>
        <p:spPr>
          <a:xfrm>
            <a:off x="323528" y="404816"/>
            <a:ext cx="8497887" cy="6048375"/>
          </a:xfrm>
          <a:prstGeom prst="roundRect">
            <a:avLst>
              <a:gd name="adj" fmla="val 2066"/>
            </a:avLst>
          </a:prstGeom>
          <a:noFill/>
          <a:ln w="53975">
            <a:solidFill>
              <a:srgbClr val="99AD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500" dirty="0">
              <a:solidFill>
                <a:srgbClr val="9A5F3A"/>
              </a:solidFill>
            </a:endParaRPr>
          </a:p>
        </p:txBody>
      </p:sp>
      <p:pic>
        <p:nvPicPr>
          <p:cNvPr id="3" name="그림 29" descr="쿡북로고.jpg">
            <a:extLst>
              <a:ext uri="{FF2B5EF4-FFF2-40B4-BE49-F238E27FC236}">
                <a16:creationId xmlns:a16="http://schemas.microsoft.com/office/drawing/2014/main" id="{56246F12-DE17-648E-5FA0-4951DD49C0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953599" y="548680"/>
            <a:ext cx="1404852" cy="37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A4B165D9-AA33-F65A-F1FD-AF557C7CD5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81592" y="998730"/>
            <a:ext cx="7186612" cy="3000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350" dirty="0">
                <a:latin typeface="HY견고딕" pitchFamily="18" charset="-127"/>
                <a:ea typeface="HY견고딕" pitchFamily="18" charset="-127"/>
              </a:rPr>
              <a:t>최신 컴퓨터 구조</a:t>
            </a:r>
            <a:endParaRPr kumimoji="0" lang="de-DE" altLang="ko-KR" sz="900" b="0" dirty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C45FD2A-4DC0-AAEA-58FE-669560B970CA}"/>
              </a:ext>
            </a:extLst>
          </p:cNvPr>
          <p:cNvSpPr txBox="1"/>
          <p:nvPr userDrawn="1"/>
        </p:nvSpPr>
        <p:spPr>
          <a:xfrm>
            <a:off x="612455" y="1700216"/>
            <a:ext cx="7991475" cy="8819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50" dirty="0">
              <a:solidFill>
                <a:srgbClr val="222222"/>
              </a:solidFill>
              <a:ea typeface="맑은 고딕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b="1" dirty="0">
                <a:solidFill>
                  <a:srgbClr val="FF0000"/>
                </a:solidFill>
                <a:ea typeface="맑은 고딕" pitchFamily="50" charset="-127"/>
              </a:rPr>
              <a:t>[</a:t>
            </a:r>
            <a:r>
              <a:rPr kumimoji="0" lang="ko-KR" altLang="en-US" sz="1050" b="1" dirty="0">
                <a:solidFill>
                  <a:srgbClr val="FF0000"/>
                </a:solidFill>
                <a:ea typeface="맑은 고딕" pitchFamily="50" charset="-127"/>
              </a:rPr>
              <a:t>강의교안 이용 안내</a:t>
            </a:r>
            <a:r>
              <a:rPr kumimoji="0" lang="en-US" altLang="ko-KR" sz="1050" b="1" dirty="0">
                <a:solidFill>
                  <a:srgbClr val="FF0000"/>
                </a:solidFill>
                <a:ea typeface="맑은 고딕" pitchFamily="50" charset="-127"/>
              </a:rPr>
              <a:t>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50" u="none">
              <a:ea typeface="맑은 고딕" pitchFamily="50" charset="-127"/>
            </a:endParaRPr>
          </a:p>
          <a:p>
            <a:pPr marL="128588" indent="-128588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750" u="none">
                <a:ea typeface="맑은 고딕" pitchFamily="50" charset="-127"/>
              </a:rPr>
              <a:t>본 강의교안의 저작권은 한빛아카데미㈜에 있습니다</a:t>
            </a:r>
            <a:r>
              <a:rPr kumimoji="0" lang="en-US" altLang="ko-KR" sz="750" u="none">
                <a:ea typeface="맑은 고딕" pitchFamily="50" charset="-127"/>
              </a:rPr>
              <a:t>.</a:t>
            </a:r>
            <a:r>
              <a:rPr kumimoji="0" lang="ko-KR" altLang="en-US" sz="750" u="none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750" u="none">
              <a:solidFill>
                <a:srgbClr val="222222"/>
              </a:solidFill>
              <a:ea typeface="맑은 고딕" pitchFamily="50" charset="-127"/>
            </a:endParaRPr>
          </a:p>
          <a:p>
            <a:pPr marL="128588" indent="-128588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750" u="none">
                <a:solidFill>
                  <a:srgbClr val="222222"/>
                </a:solidFill>
                <a:ea typeface="맑은 고딕" pitchFamily="50" charset="-127"/>
              </a:rPr>
              <a:t>이 자료는 강의 보조자료로 제공되는 것으로 무단으로 전제하거나 배포하는 것을 금합니다</a:t>
            </a:r>
            <a:r>
              <a:rPr kumimoji="0" lang="en-US" altLang="ko-KR" sz="750" u="sng">
                <a:solidFill>
                  <a:srgbClr val="222222"/>
                </a:solidFill>
                <a:ea typeface="맑은 고딕" pitchFamily="50" charset="-127"/>
              </a:rPr>
              <a:t>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50" dirty="0">
              <a:ea typeface="맑은 고딕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6ADD0F-65A9-6B5C-90FF-1C2B582825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83768" y="1033914"/>
            <a:ext cx="381053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89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장제목">
    <p:bg>
      <p:bgPr>
        <a:solidFill>
          <a:srgbClr val="211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3">
            <a:extLst>
              <a:ext uri="{FF2B5EF4-FFF2-40B4-BE49-F238E27FC236}">
                <a16:creationId xmlns:a16="http://schemas.microsoft.com/office/drawing/2014/main" id="{B4833580-1722-DEE2-3902-00CCEA91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064" y="4365104"/>
            <a:ext cx="3928060" cy="2056236"/>
          </a:xfrm>
        </p:spPr>
        <p:txBody>
          <a:bodyPr>
            <a:noAutofit/>
          </a:bodyPr>
          <a:lstStyle>
            <a:lvl1pPr algn="ctr">
              <a:defRPr sz="3600" b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pic>
        <p:nvPicPr>
          <p:cNvPr id="4" name="그림 3" descr="텍스트, 스크린샷, 디자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74424C-18B4-2015-E1D9-9EE3538FAB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9" y="-3215"/>
            <a:ext cx="5016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7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이 장에서 만들 프로그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rgbClr val="948A88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2400" dirty="0">
              <a:solidFill>
                <a:srgbClr val="8B333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225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/37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1" y="51786"/>
            <a:ext cx="7785100" cy="474662"/>
          </a:xfrm>
        </p:spPr>
        <p:txBody>
          <a:bodyPr>
            <a:noAutofit/>
          </a:bodyPr>
          <a:lstStyle>
            <a:lvl1pPr algn="l">
              <a:defRPr sz="1800" b="1" spc="-75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266700" indent="-196454">
              <a:lnSpc>
                <a:spcPct val="120000"/>
              </a:lnSpc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401241" indent="-133350">
              <a:lnSpc>
                <a:spcPct val="120000"/>
              </a:lnSpc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800"/>
            </a:lvl2pPr>
            <a:lvl3pPr marL="540544" indent="-139304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673894" indent="-133350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100"/>
            </a:lvl4pPr>
            <a:lvl5pPr marL="808435" indent="-134541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356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이 장에서 만들 프로그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40">
            <a:extLst>
              <a:ext uri="{FF2B5EF4-FFF2-40B4-BE49-F238E27FC236}">
                <a16:creationId xmlns:a16="http://schemas.microsoft.com/office/drawing/2014/main" id="{22970BC7-0C92-7800-C375-2A7C578EABD2}"/>
              </a:ext>
            </a:extLst>
          </p:cNvPr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rgbClr val="32738C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2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A97C997D-4748-EC10-B096-CA360F740EE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225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1AF828BF-8CDD-BF8F-EDF3-4FCCF87AE9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/37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D88E7158-4077-5E30-875C-309EAA02C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51786"/>
            <a:ext cx="7785100" cy="474662"/>
          </a:xfrm>
        </p:spPr>
        <p:txBody>
          <a:bodyPr>
            <a:noAutofit/>
          </a:bodyPr>
          <a:lstStyle>
            <a:lvl1pPr algn="l">
              <a:defRPr sz="1800" b="1" spc="-75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BCA8B13F-1191-6569-A614-A753CC9347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266700" indent="-196454">
              <a:lnSpc>
                <a:spcPct val="120000"/>
              </a:lnSpc>
              <a:buClr>
                <a:schemeClr val="accent5">
                  <a:lumMod val="50000"/>
                </a:schemeClr>
              </a:buClr>
              <a:buSzPct val="130000"/>
              <a:buFont typeface="Wingdings" panose="05000000000000000000" pitchFamily="2" charset="2"/>
              <a:buChar char="§"/>
              <a:defRPr sz="1800" b="1"/>
            </a:lvl1pPr>
            <a:lvl2pPr marL="401241" indent="-133350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540544" indent="-139304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200"/>
            </a:lvl3pPr>
            <a:lvl4pPr marL="673894" indent="-133350">
              <a:lnSpc>
                <a:spcPct val="13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050"/>
            </a:lvl4pPr>
            <a:lvl5pPr marL="808435" indent="-134541">
              <a:lnSpc>
                <a:spcPct val="12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6592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7" name="Line 5"/>
          <p:cNvSpPr>
            <a:spLocks noChangeShapeType="1"/>
          </p:cNvSpPr>
          <p:nvPr userDrawn="1">
            <p:custDataLst>
              <p:tags r:id="rId2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 sz="1800"/>
          </a:p>
        </p:txBody>
      </p:sp>
      <p:sp>
        <p:nvSpPr>
          <p:cNvPr id="9" name="Line 5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 sz="1800"/>
          </a:p>
        </p:txBody>
      </p:sp>
      <p:sp>
        <p:nvSpPr>
          <p:cNvPr id="10" name="Text Box 4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35263" y="3048002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>
                <a:solidFill>
                  <a:srgbClr val="D9D1D5"/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>
                <a:solidFill>
                  <a:srgbClr val="D9D1D5"/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rgbClr val="D9D1D5"/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0783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40">
            <a:extLst>
              <a:ext uri="{FF2B5EF4-FFF2-40B4-BE49-F238E27FC236}">
                <a16:creationId xmlns:a16="http://schemas.microsoft.com/office/drawing/2014/main" id="{5EDD29C2-FDAD-B76C-1073-80195C4C239D}"/>
              </a:ext>
            </a:extLst>
          </p:cNvPr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rgbClr val="32738C"/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2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0E0F7B59-5960-5B5C-92A3-F1D2B082F3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9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9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/37</a:t>
            </a:r>
          </a:p>
        </p:txBody>
      </p:sp>
      <p:sp>
        <p:nvSpPr>
          <p:cNvPr id="8" name="제목 9">
            <a:extLst>
              <a:ext uri="{FF2B5EF4-FFF2-40B4-BE49-F238E27FC236}">
                <a16:creationId xmlns:a16="http://schemas.microsoft.com/office/drawing/2014/main" id="{B91D4F42-22C9-5CDE-8872-ED84BE18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51786"/>
            <a:ext cx="7785100" cy="474662"/>
          </a:xfrm>
        </p:spPr>
        <p:txBody>
          <a:bodyPr>
            <a:noAutofit/>
          </a:bodyPr>
          <a:lstStyle>
            <a:lvl1pPr algn="l">
              <a:defRPr sz="1800" b="1" spc="-75" baseline="0">
                <a:solidFill>
                  <a:schemeClr val="bg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0218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FD9B6-DC5A-4644-B01F-335E6DD2CDD1}" type="datetimeFigureOut">
              <a:rPr lang="ko-KR" altLang="en-US" smtClean="0"/>
              <a:pPr/>
              <a:t>2025-07-24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BC740F2-65F4-46F1-8462-F5CEAE10BBF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727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95" r:id="rId3"/>
    <p:sldLayoutId id="2147483689" r:id="rId4"/>
    <p:sldLayoutId id="2147483694" r:id="rId5"/>
    <p:sldLayoutId id="2147483696" r:id="rId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09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교재 정보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004048" y="2276872"/>
            <a:ext cx="4104458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2619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rgbClr val="8B3331"/>
              </a:buClr>
              <a:buSzPct val="130000"/>
              <a:buFont typeface="Wingdings" panose="05000000000000000000" pitchFamily="2" charset="2"/>
              <a:buChar char="§"/>
              <a:defRPr sz="20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34988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720725" indent="-18573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98525" indent="-177800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077913" indent="-179388" algn="l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1" indent="-179388"/>
            <a:r>
              <a:rPr lang="ko-KR" altLang="en-US" dirty="0">
                <a:solidFill>
                  <a:schemeClr val="bg1"/>
                </a:solidFill>
              </a:rPr>
              <a:t>도서명 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>
                <a:solidFill>
                  <a:schemeClr val="bg1"/>
                </a:solidFill>
              </a:rPr>
              <a:t>최신 컴퓨터 구조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판</a:t>
            </a:r>
            <a:endParaRPr lang="en-US" altLang="ko-KR" dirty="0">
              <a:solidFill>
                <a:schemeClr val="bg1"/>
              </a:solidFill>
            </a:endParaRPr>
          </a:p>
          <a:p>
            <a:pPr marL="179388" lvl="1" indent="-179388"/>
            <a:r>
              <a:rPr lang="en-US" altLang="ko-KR" dirty="0">
                <a:solidFill>
                  <a:schemeClr val="bg1"/>
                </a:solidFill>
              </a:rPr>
              <a:t>ISBN : 979-11-7340-031-5</a:t>
            </a:r>
          </a:p>
          <a:p>
            <a:pPr marL="179388" lvl="1" indent="-179388"/>
            <a:r>
              <a:rPr lang="ko-KR" altLang="en-US" dirty="0">
                <a:solidFill>
                  <a:schemeClr val="bg1"/>
                </a:solidFill>
              </a:rPr>
              <a:t>저자 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>
                <a:solidFill>
                  <a:schemeClr val="bg1"/>
                </a:solidFill>
              </a:rPr>
              <a:t>임석구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홍경호</a:t>
            </a:r>
            <a:endParaRPr lang="en-US" altLang="ko-KR" dirty="0">
              <a:solidFill>
                <a:schemeClr val="bg1"/>
              </a:solidFill>
            </a:endParaRPr>
          </a:p>
          <a:p>
            <a:pPr marL="179388" lvl="1" indent="-179388"/>
            <a:r>
              <a:rPr lang="ko-KR" altLang="en-US" dirty="0">
                <a:solidFill>
                  <a:schemeClr val="bg1"/>
                </a:solidFill>
              </a:rPr>
              <a:t>출판사 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 err="1">
                <a:solidFill>
                  <a:schemeClr val="bg1"/>
                </a:solidFill>
              </a:rPr>
              <a:t>한빛아카데미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주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marL="179388" lvl="1" indent="-179388"/>
            <a:r>
              <a:rPr lang="ko-KR" altLang="en-US" dirty="0">
                <a:solidFill>
                  <a:schemeClr val="bg1"/>
                </a:solidFill>
              </a:rPr>
              <a:t>전체분량 </a:t>
            </a:r>
            <a:r>
              <a:rPr lang="en-US" altLang="ko-KR" dirty="0">
                <a:solidFill>
                  <a:schemeClr val="bg1"/>
                </a:solidFill>
              </a:rPr>
              <a:t>: 580</a:t>
            </a:r>
            <a:r>
              <a:rPr lang="ko-KR" altLang="en-US" dirty="0">
                <a:solidFill>
                  <a:schemeClr val="bg1"/>
                </a:solidFill>
              </a:rPr>
              <a:t>쪽</a:t>
            </a:r>
            <a:endParaRPr lang="en-US" altLang="ko-KR" dirty="0">
              <a:solidFill>
                <a:schemeClr val="bg1"/>
              </a:solidFill>
            </a:endParaRPr>
          </a:p>
          <a:p>
            <a:pPr marL="179388" lvl="1" indent="-179388"/>
            <a:r>
              <a:rPr lang="ko-KR" altLang="en-US" dirty="0">
                <a:solidFill>
                  <a:schemeClr val="bg1"/>
                </a:solidFill>
              </a:rPr>
              <a:t>정가 </a:t>
            </a:r>
            <a:r>
              <a:rPr lang="en-US" altLang="ko-KR" dirty="0">
                <a:solidFill>
                  <a:schemeClr val="bg1"/>
                </a:solidFill>
              </a:rPr>
              <a:t>: 32,000</a:t>
            </a:r>
            <a:r>
              <a:rPr lang="ko-KR" altLang="en-US" dirty="0">
                <a:solidFill>
                  <a:schemeClr val="bg1"/>
                </a:solidFill>
              </a:rPr>
              <a:t>원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23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평행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408E86-1B92-3DA2-792D-C8E55859AB49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800"/>
            <a:ext cx="9144000" cy="5870575"/>
          </a:xfrm>
        </p:spPr>
      </p:pic>
    </p:spTree>
    <p:extLst>
      <p:ext uri="{BB962C8B-B14F-4D97-AF65-F5344CB8AC3E}">
        <p14:creationId xmlns:p14="http://schemas.microsoft.com/office/powerpoint/2010/main" val="65498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268288" indent="-268288">
              <a:spcAft>
                <a:spcPts val="1200"/>
              </a:spcAft>
              <a:buNone/>
              <a:tabLst>
                <a:tab pos="268288" algn="l"/>
              </a:tabLst>
            </a:pPr>
            <a:r>
              <a:rPr lang="ko-KR" altLang="en-US" sz="1500" dirty="0">
                <a:solidFill>
                  <a:srgbClr val="1F497D"/>
                </a:solidFill>
              </a:rPr>
              <a:t>➊ 컴퓨터 기초</a:t>
            </a:r>
            <a:r>
              <a:rPr lang="en-US" altLang="ko-KR" sz="1500" dirty="0">
                <a:solidFill>
                  <a:srgbClr val="1F497D"/>
                </a:solidFill>
              </a:rPr>
              <a:t>(1~3</a:t>
            </a:r>
            <a:r>
              <a:rPr lang="ko-KR" altLang="en-US" sz="1500" dirty="0">
                <a:solidFill>
                  <a:srgbClr val="1F497D"/>
                </a:solidFill>
              </a:rPr>
              <a:t>장</a:t>
            </a:r>
            <a:r>
              <a:rPr lang="en-US" altLang="ko-KR" sz="1500" dirty="0">
                <a:solidFill>
                  <a:srgbClr val="1F497D"/>
                </a:solidFill>
              </a:rPr>
              <a:t>) </a:t>
            </a:r>
            <a:r>
              <a:rPr lang="ko-KR" altLang="en-US" sz="1500" dirty="0"/>
              <a:t>컴퓨터를 구성하는 요소와 컴퓨터에서 처리되는 데이터를 표현하는 방법을 알아봅니다</a:t>
            </a:r>
            <a:r>
              <a:rPr lang="en-US" altLang="ko-KR" sz="1500" dirty="0"/>
              <a:t>. </a:t>
            </a:r>
            <a:r>
              <a:rPr lang="ko-KR" altLang="en-US" sz="1500" dirty="0"/>
              <a:t>또 컴퓨터 하드웨어의 기본인 디지털 논리 회로를 핵심만 빠르게 정리합니다</a:t>
            </a:r>
            <a:r>
              <a:rPr lang="en-US" altLang="ko-KR" sz="1500" dirty="0"/>
              <a:t>.</a:t>
            </a:r>
          </a:p>
          <a:p>
            <a:pPr marL="268288" indent="-268288">
              <a:spcAft>
                <a:spcPts val="1200"/>
              </a:spcAft>
              <a:buNone/>
              <a:tabLst>
                <a:tab pos="268288" algn="l"/>
              </a:tabLst>
            </a:pPr>
            <a:r>
              <a:rPr lang="en-US" altLang="ko-KR" sz="1500" dirty="0">
                <a:solidFill>
                  <a:srgbClr val="1F497D"/>
                </a:solidFill>
              </a:rPr>
              <a:t>➋ CPU</a:t>
            </a:r>
            <a:r>
              <a:rPr lang="ko-KR" altLang="en-US" sz="1500" dirty="0">
                <a:solidFill>
                  <a:srgbClr val="1F497D"/>
                </a:solidFill>
              </a:rPr>
              <a:t>와 제어 장치</a:t>
            </a:r>
            <a:r>
              <a:rPr lang="en-US" altLang="ko-KR" sz="1500" dirty="0">
                <a:solidFill>
                  <a:srgbClr val="1F497D"/>
                </a:solidFill>
              </a:rPr>
              <a:t>(4~5</a:t>
            </a:r>
            <a:r>
              <a:rPr lang="ko-KR" altLang="en-US" sz="1500" dirty="0">
                <a:solidFill>
                  <a:srgbClr val="1F497D"/>
                </a:solidFill>
              </a:rPr>
              <a:t>장</a:t>
            </a:r>
            <a:r>
              <a:rPr lang="en-US" altLang="ko-KR" sz="1500" dirty="0">
                <a:solidFill>
                  <a:srgbClr val="1F497D"/>
                </a:solidFill>
              </a:rPr>
              <a:t>) </a:t>
            </a:r>
            <a:r>
              <a:rPr lang="ko-KR" altLang="en-US" sz="1500" dirty="0"/>
              <a:t>컴퓨터의 뇌에 해당하는 </a:t>
            </a:r>
            <a:r>
              <a:rPr lang="en-US" altLang="ko-KR" sz="1500" dirty="0"/>
              <a:t>CPU</a:t>
            </a:r>
            <a:r>
              <a:rPr lang="ko-KR" altLang="en-US" sz="1500" dirty="0"/>
              <a:t>와 </a:t>
            </a:r>
            <a:r>
              <a:rPr lang="en-US" altLang="ko-KR" sz="1500" dirty="0"/>
              <a:t>CPU</a:t>
            </a:r>
            <a:r>
              <a:rPr lang="ko-KR" altLang="en-US" sz="1500" dirty="0"/>
              <a:t>의 주요 구성 요소인 제어 장치를 알아봅니다</a:t>
            </a:r>
            <a:r>
              <a:rPr lang="en-US" altLang="ko-KR" sz="1500" dirty="0"/>
              <a:t>. CPU</a:t>
            </a:r>
            <a:r>
              <a:rPr lang="ko-KR" altLang="en-US" sz="1500" dirty="0"/>
              <a:t>의 기본 구조와 명령어 처리 방법</a:t>
            </a:r>
            <a:r>
              <a:rPr lang="en-US" altLang="ko-KR" sz="1500" dirty="0"/>
              <a:t>, </a:t>
            </a:r>
            <a:r>
              <a:rPr lang="ko-KR" altLang="en-US" sz="1500" dirty="0"/>
              <a:t>제어 장치의 기능과 종류를 알아봅니다</a:t>
            </a:r>
            <a:r>
              <a:rPr lang="en-US" altLang="ko-KR" sz="1500" dirty="0"/>
              <a:t>. </a:t>
            </a:r>
            <a:r>
              <a:rPr lang="ko-KR" altLang="en-US" sz="1500" dirty="0"/>
              <a:t>그리고 </a:t>
            </a:r>
            <a:r>
              <a:rPr lang="en-US" altLang="ko-KR" sz="1500" dirty="0"/>
              <a:t>CPU</a:t>
            </a:r>
            <a:r>
              <a:rPr lang="ko-KR" altLang="en-US" sz="1500" dirty="0"/>
              <a:t>의 처리 속도를 높이는 최신 기술인 </a:t>
            </a:r>
            <a:r>
              <a:rPr lang="ko-KR" altLang="en-US" sz="1500" dirty="0" err="1"/>
              <a:t>파이프라이닝</a:t>
            </a:r>
            <a:r>
              <a:rPr lang="ko-KR" altLang="en-US" sz="1500" dirty="0"/>
              <a:t> 이론도 살펴봅니다</a:t>
            </a:r>
            <a:r>
              <a:rPr lang="en-US" altLang="ko-KR" sz="1500" dirty="0"/>
              <a:t>.</a:t>
            </a:r>
          </a:p>
          <a:p>
            <a:pPr marL="268288" indent="-268288">
              <a:spcAft>
                <a:spcPts val="1200"/>
              </a:spcAft>
              <a:buNone/>
              <a:tabLst>
                <a:tab pos="268288" algn="l"/>
              </a:tabLst>
            </a:pPr>
            <a:r>
              <a:rPr lang="en-US" altLang="ko-KR" sz="1500" dirty="0">
                <a:solidFill>
                  <a:srgbClr val="1F497D"/>
                </a:solidFill>
              </a:rPr>
              <a:t>➌ </a:t>
            </a:r>
            <a:r>
              <a:rPr lang="ko-KR" altLang="en-US" sz="1500" dirty="0">
                <a:solidFill>
                  <a:srgbClr val="1F497D"/>
                </a:solidFill>
              </a:rPr>
              <a:t>기억 장치</a:t>
            </a:r>
            <a:r>
              <a:rPr lang="en-US" altLang="ko-KR" sz="1500" dirty="0">
                <a:solidFill>
                  <a:srgbClr val="1F497D"/>
                </a:solidFill>
              </a:rPr>
              <a:t>(6~7</a:t>
            </a:r>
            <a:r>
              <a:rPr lang="ko-KR" altLang="en-US" sz="1500" dirty="0">
                <a:solidFill>
                  <a:srgbClr val="1F497D"/>
                </a:solidFill>
              </a:rPr>
              <a:t>장</a:t>
            </a:r>
            <a:r>
              <a:rPr lang="en-US" altLang="ko-KR" sz="1500" dirty="0">
                <a:solidFill>
                  <a:srgbClr val="1F497D"/>
                </a:solidFill>
              </a:rPr>
              <a:t>) </a:t>
            </a:r>
            <a:r>
              <a:rPr lang="ko-KR" altLang="en-US" sz="1500" dirty="0"/>
              <a:t>기억장치의 계층 구조를 바탕으로 기억 장치 시스템 전반과 보조기억장치를 알아봅니다</a:t>
            </a:r>
            <a:r>
              <a:rPr lang="en-US" altLang="ko-KR" sz="1500" dirty="0"/>
              <a:t>. </a:t>
            </a:r>
            <a:r>
              <a:rPr lang="ko-KR" altLang="en-US" sz="1500" dirty="0"/>
              <a:t>기억장치에서는 캐시기억장치</a:t>
            </a:r>
            <a:r>
              <a:rPr lang="en-US" altLang="ko-KR" sz="1500" dirty="0"/>
              <a:t>, </a:t>
            </a:r>
            <a:r>
              <a:rPr lang="ko-KR" altLang="en-US" sz="1500" dirty="0"/>
              <a:t>가상기억장치</a:t>
            </a:r>
            <a:r>
              <a:rPr lang="en-US" altLang="ko-KR" sz="1500" dirty="0"/>
              <a:t>, DDR1~5</a:t>
            </a:r>
            <a:r>
              <a:rPr lang="ko-KR" altLang="en-US" sz="1500" dirty="0"/>
              <a:t>와 </a:t>
            </a:r>
            <a:r>
              <a:rPr lang="ko-KR" altLang="en-US" sz="1500" dirty="0" err="1"/>
              <a:t>인터리빙</a:t>
            </a:r>
            <a:r>
              <a:rPr lang="ko-KR" altLang="en-US" sz="1500" dirty="0"/>
              <a:t> 메모리</a:t>
            </a:r>
            <a:r>
              <a:rPr lang="en-US" altLang="ko-KR" sz="1500" dirty="0"/>
              <a:t>, RAID </a:t>
            </a:r>
            <a:r>
              <a:rPr lang="ko-KR" altLang="en-US" sz="1500" dirty="0"/>
              <a:t>구성 등을 알아보고</a:t>
            </a:r>
            <a:r>
              <a:rPr lang="en-US" altLang="ko-KR" sz="1500" dirty="0"/>
              <a:t>, </a:t>
            </a:r>
            <a:r>
              <a:rPr lang="ko-KR" altLang="en-US" sz="1500" dirty="0"/>
              <a:t>보조기억장치에서는 광 저장 장치뿐만 아니라 플래시 메모리와 </a:t>
            </a:r>
            <a:r>
              <a:rPr lang="en-US" altLang="ko-KR" sz="1500" dirty="0"/>
              <a:t>SSD, HBM,</a:t>
            </a:r>
            <a:r>
              <a:rPr lang="ko-KR" altLang="en-US" sz="1500" dirty="0"/>
              <a:t> </a:t>
            </a:r>
            <a:r>
              <a:rPr lang="en-US" altLang="ko-KR" sz="1500" dirty="0"/>
              <a:t>GDDR,</a:t>
            </a:r>
            <a:r>
              <a:rPr lang="ko-KR" altLang="en-US" sz="1500" dirty="0"/>
              <a:t> </a:t>
            </a:r>
            <a:r>
              <a:rPr lang="en-US" altLang="ko-KR" sz="1500" dirty="0"/>
              <a:t>3D</a:t>
            </a:r>
            <a:r>
              <a:rPr lang="ko-KR" altLang="en-US" sz="1500" dirty="0"/>
              <a:t> </a:t>
            </a:r>
            <a:r>
              <a:rPr lang="en-US" altLang="ko-KR" sz="1500" dirty="0"/>
              <a:t>NAND </a:t>
            </a:r>
            <a:r>
              <a:rPr lang="ko-KR" altLang="en-US" sz="1500" dirty="0"/>
              <a:t>등의 최신 보조기억장치도 소개합니다</a:t>
            </a:r>
            <a:r>
              <a:rPr lang="en-US" altLang="ko-KR" sz="1500" dirty="0"/>
              <a:t>.</a:t>
            </a:r>
          </a:p>
          <a:p>
            <a:pPr marL="268288" indent="-268288">
              <a:spcAft>
                <a:spcPts val="1200"/>
              </a:spcAft>
              <a:buNone/>
              <a:tabLst>
                <a:tab pos="268288" algn="l"/>
              </a:tabLst>
            </a:pPr>
            <a:r>
              <a:rPr lang="en-US" altLang="ko-KR" sz="1500" dirty="0">
                <a:solidFill>
                  <a:srgbClr val="1F497D"/>
                </a:solidFill>
              </a:rPr>
              <a:t>➍ </a:t>
            </a:r>
            <a:r>
              <a:rPr lang="ko-KR" altLang="en-US" sz="1500" dirty="0">
                <a:solidFill>
                  <a:srgbClr val="1F497D"/>
                </a:solidFill>
              </a:rPr>
              <a:t>입출력 버스와 인터럽트</a:t>
            </a:r>
            <a:r>
              <a:rPr lang="en-US" altLang="ko-KR" sz="1500" dirty="0">
                <a:solidFill>
                  <a:srgbClr val="1F497D"/>
                </a:solidFill>
              </a:rPr>
              <a:t>(8~9</a:t>
            </a:r>
            <a:r>
              <a:rPr lang="ko-KR" altLang="en-US" sz="1500" dirty="0">
                <a:solidFill>
                  <a:srgbClr val="1F497D"/>
                </a:solidFill>
              </a:rPr>
              <a:t>장</a:t>
            </a:r>
            <a:r>
              <a:rPr lang="en-US" altLang="ko-KR" sz="1500" dirty="0">
                <a:solidFill>
                  <a:srgbClr val="1F497D"/>
                </a:solidFill>
              </a:rPr>
              <a:t>) </a:t>
            </a:r>
            <a:r>
              <a:rPr lang="ko-KR" altLang="en-US" sz="1500" dirty="0"/>
              <a:t>컴퓨터 구성 요소 간의 정보 교환 통로인 시스템 버스를 구성하고 중재하는 방법을 알아봅니다</a:t>
            </a:r>
            <a:r>
              <a:rPr lang="en-US" altLang="ko-KR" sz="1500" dirty="0"/>
              <a:t>. </a:t>
            </a:r>
            <a:r>
              <a:rPr lang="ko-KR" altLang="en-US" sz="1500" dirty="0"/>
              <a:t>그리고 인터럽트의 원인과 필요성</a:t>
            </a:r>
            <a:r>
              <a:rPr lang="en-US" altLang="ko-KR" sz="1500" dirty="0"/>
              <a:t>, </a:t>
            </a:r>
            <a:r>
              <a:rPr lang="ko-KR" altLang="en-US" sz="1500" dirty="0"/>
              <a:t>인터럽트 형태와 처리 과정</a:t>
            </a:r>
            <a:r>
              <a:rPr lang="en-US" altLang="ko-KR" sz="1500" dirty="0"/>
              <a:t>, </a:t>
            </a:r>
            <a:r>
              <a:rPr lang="ko-KR" altLang="en-US" sz="1500" dirty="0"/>
              <a:t>우선순위 인터럽트 등을 알아봅니다</a:t>
            </a:r>
            <a:r>
              <a:rPr lang="en-US" altLang="ko-KR" sz="1500" dirty="0"/>
              <a:t>.</a:t>
            </a:r>
          </a:p>
          <a:p>
            <a:pPr marL="268288" indent="-268288">
              <a:spcAft>
                <a:spcPts val="1200"/>
              </a:spcAft>
              <a:buNone/>
              <a:tabLst>
                <a:tab pos="268288" algn="l"/>
              </a:tabLst>
            </a:pPr>
            <a:r>
              <a:rPr lang="en-US" altLang="ko-KR" sz="1500" dirty="0">
                <a:solidFill>
                  <a:srgbClr val="1F497D"/>
                </a:solidFill>
              </a:rPr>
              <a:t>➎ </a:t>
            </a:r>
            <a:r>
              <a:rPr lang="ko-KR" altLang="en-US" sz="1500" dirty="0">
                <a:solidFill>
                  <a:srgbClr val="1F497D"/>
                </a:solidFill>
              </a:rPr>
              <a:t>병렬 컴퓨터 구조와 성능 분석</a:t>
            </a:r>
            <a:r>
              <a:rPr lang="en-US" altLang="ko-KR" sz="1500" dirty="0">
                <a:solidFill>
                  <a:srgbClr val="1F497D"/>
                </a:solidFill>
              </a:rPr>
              <a:t>(10~11</a:t>
            </a:r>
            <a:r>
              <a:rPr lang="ko-KR" altLang="en-US" sz="1500" dirty="0">
                <a:solidFill>
                  <a:srgbClr val="1F497D"/>
                </a:solidFill>
              </a:rPr>
              <a:t>장</a:t>
            </a:r>
            <a:r>
              <a:rPr lang="en-US" altLang="ko-KR" sz="1500" dirty="0">
                <a:solidFill>
                  <a:srgbClr val="1F497D"/>
                </a:solidFill>
              </a:rPr>
              <a:t>) </a:t>
            </a:r>
            <a:r>
              <a:rPr lang="ko-KR" altLang="en-US" sz="1500" dirty="0"/>
              <a:t>고성능을 위한 핵심 기술인 병렬 처리와 병렬 컴퓨터 시스템</a:t>
            </a:r>
            <a:r>
              <a:rPr lang="en-US" altLang="ko-KR" sz="1500" dirty="0"/>
              <a:t>, </a:t>
            </a:r>
            <a:r>
              <a:rPr lang="ko-KR" altLang="en-US" sz="1500" dirty="0"/>
              <a:t>클러스터 컴퓨팅 기술 등을 알아봅니다</a:t>
            </a:r>
            <a:r>
              <a:rPr lang="en-US" altLang="ko-KR" sz="1500" dirty="0"/>
              <a:t>. </a:t>
            </a:r>
            <a:r>
              <a:rPr lang="ko-KR" altLang="en-US" sz="1500" dirty="0"/>
              <a:t>그리고 컴퓨터 시스템의 성능을 분석하는 방법</a:t>
            </a:r>
            <a:r>
              <a:rPr lang="en-US" altLang="ko-KR" sz="1500" dirty="0"/>
              <a:t>, </a:t>
            </a:r>
            <a:r>
              <a:rPr lang="ko-KR" altLang="en-US" sz="1500" dirty="0"/>
              <a:t>성능 척도의 기준</a:t>
            </a:r>
            <a:r>
              <a:rPr lang="en-US" altLang="ko-KR" sz="1500" dirty="0"/>
              <a:t>, </a:t>
            </a:r>
            <a:r>
              <a:rPr lang="ko-KR" altLang="en-US" sz="1500" dirty="0"/>
              <a:t>성능 평가를 위한 벤치마크 프로그램도 소개합니다</a:t>
            </a:r>
            <a:r>
              <a:rPr lang="en-US" altLang="ko-KR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80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계획표</a:t>
            </a:r>
          </a:p>
        </p:txBody>
      </p:sp>
      <p:graphicFrame>
        <p:nvGraphicFramePr>
          <p:cNvPr id="4" name="내용 개체 틀 1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59566846"/>
              </p:ext>
            </p:extLst>
          </p:nvPr>
        </p:nvGraphicFramePr>
        <p:xfrm>
          <a:off x="63500" y="773113"/>
          <a:ext cx="8964612" cy="553560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18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22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주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해당 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주제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장</a:t>
                      </a:r>
                      <a:r>
                        <a:rPr lang="en-US" altLang="ko-KR" sz="1400" dirty="0"/>
                        <a:t>, 2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컴퓨터 시스템 개론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데이터의 표현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장</a:t>
                      </a:r>
                      <a:r>
                        <a:rPr lang="en-US" altLang="ko-KR" sz="1400" dirty="0"/>
                        <a:t>, 3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데이터의 표현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디지털 논리회로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디지털 논리회로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중앙처리장치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장</a:t>
                      </a:r>
                      <a:r>
                        <a:rPr lang="en-US" altLang="ko-KR" sz="1400" dirty="0"/>
                        <a:t>, 5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중앙처리장치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제어장치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제어장치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기억장치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필기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r>
                        <a:rPr lang="ko-KR" altLang="en-US" sz="1400" dirty="0"/>
                        <a:t>중간고사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기억장치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보조기억장치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보조기억장치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버스와 입출력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인터럽트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병렬 컴퓨터 구조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장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성능 분석과 측정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5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16</a:t>
                      </a:r>
                      <a:endParaRPr lang="ko-KR" altLang="en-US" sz="1400" dirty="0"/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필기</a:t>
                      </a:r>
                    </a:p>
                  </a:txBody>
                  <a:tcPr marL="105273" marR="10527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기말고사</a:t>
                      </a:r>
                    </a:p>
                  </a:txBody>
                  <a:tcPr marL="105273" marR="105273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48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책의 주요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93662" indent="0">
              <a:buNone/>
            </a:pPr>
            <a:r>
              <a:rPr lang="ko-KR" altLang="en-US" spc="-100" dirty="0"/>
              <a:t>➊ 핵심만 뽑았습니다</a:t>
            </a:r>
            <a:r>
              <a:rPr lang="en-US" altLang="ko-KR" spc="-100" dirty="0"/>
              <a:t>.	</a:t>
            </a:r>
          </a:p>
          <a:p>
            <a:pPr lvl="1"/>
            <a:r>
              <a:rPr lang="ko-KR" altLang="en-US" spc="-100" dirty="0"/>
              <a:t>디지털 논리회로부터 병렬 컴퓨터 구조까지 핵심을 익힐 수 있습니다</a:t>
            </a:r>
            <a:r>
              <a:rPr lang="en-US" altLang="ko-KR" spc="-100" dirty="0"/>
              <a:t>.</a:t>
            </a:r>
          </a:p>
          <a:p>
            <a:pPr lvl="1"/>
            <a:endParaRPr lang="en-US" altLang="ko-KR" spc="-100" dirty="0"/>
          </a:p>
          <a:p>
            <a:pPr marL="93662" indent="0">
              <a:buNone/>
            </a:pPr>
            <a:r>
              <a:rPr lang="en-US" altLang="ko-KR" spc="-100" dirty="0"/>
              <a:t>➋ </a:t>
            </a:r>
            <a:r>
              <a:rPr lang="ko-KR" altLang="en-US" spc="-100" dirty="0"/>
              <a:t>최신 컴퓨터 하드웨어 기술을 모두 기술하였습니다</a:t>
            </a:r>
            <a:r>
              <a:rPr lang="en-US" altLang="ko-KR" spc="-100" dirty="0"/>
              <a:t>.	</a:t>
            </a:r>
          </a:p>
          <a:p>
            <a:pPr lvl="1"/>
            <a:r>
              <a:rPr lang="ko-KR" altLang="en-US" spc="-100" dirty="0"/>
              <a:t>최신 기술인 </a:t>
            </a:r>
            <a:r>
              <a:rPr lang="en-US" altLang="ko-KR" spc="-100" dirty="0"/>
              <a:t>DDR5, GDDR, HBM,</a:t>
            </a:r>
            <a:r>
              <a:rPr lang="ko-KR" altLang="en-US" spc="-100" dirty="0"/>
              <a:t> </a:t>
            </a:r>
            <a:r>
              <a:rPr lang="en-US" altLang="ko-KR" spc="-100" dirty="0"/>
              <a:t>3D NAND, SSD, RAID-10 </a:t>
            </a:r>
            <a:r>
              <a:rPr lang="ko-KR" altLang="en-US" spc="-100" dirty="0"/>
              <a:t>등을 모두 담았습니다</a:t>
            </a:r>
            <a:r>
              <a:rPr lang="en-US" altLang="ko-KR" spc="-100" dirty="0"/>
              <a:t>.	</a:t>
            </a:r>
          </a:p>
          <a:p>
            <a:pPr lvl="1"/>
            <a:endParaRPr lang="en-US" altLang="ko-KR" spc="-100" dirty="0"/>
          </a:p>
          <a:p>
            <a:pPr marL="93662" indent="0">
              <a:buNone/>
            </a:pPr>
            <a:r>
              <a:rPr lang="en-US" altLang="ko-KR" spc="-100" dirty="0"/>
              <a:t>➌ </a:t>
            </a:r>
            <a:r>
              <a:rPr lang="ko-KR" altLang="en-US" spc="-100" dirty="0"/>
              <a:t>최근 </a:t>
            </a:r>
            <a:r>
              <a:rPr lang="en-US" altLang="ko-KR" spc="-100" dirty="0"/>
              <a:t>10</a:t>
            </a:r>
            <a:r>
              <a:rPr lang="ko-KR" altLang="en-US" spc="-100" dirty="0"/>
              <a:t>년간 각종 기사</a:t>
            </a:r>
            <a:r>
              <a:rPr lang="en-US" altLang="ko-KR" spc="-100" dirty="0"/>
              <a:t>, </a:t>
            </a:r>
            <a:r>
              <a:rPr lang="ko-KR" altLang="en-US" spc="-100" dirty="0"/>
              <a:t>산업기사에서 출제된 문제를 제공합니다</a:t>
            </a:r>
            <a:r>
              <a:rPr lang="en-US" altLang="ko-KR" spc="-100" dirty="0"/>
              <a:t>.	</a:t>
            </a:r>
          </a:p>
          <a:p>
            <a:pPr lvl="1"/>
            <a:r>
              <a:rPr lang="ko-KR" altLang="en-US" spc="-100" dirty="0"/>
              <a:t>자격증 취득에 도움을 주기 위해 각종 기사</a:t>
            </a:r>
            <a:r>
              <a:rPr lang="en-US" altLang="ko-KR" spc="-100" dirty="0"/>
              <a:t>, </a:t>
            </a:r>
            <a:r>
              <a:rPr lang="ko-KR" altLang="en-US" spc="-100" dirty="0"/>
              <a:t>산업기사 기출 문제를 담았습니다</a:t>
            </a:r>
            <a:r>
              <a:rPr lang="en-US" altLang="ko-KR" spc="-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4093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266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A7ftul0JWsMpeaCqdWE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2153</TotalTime>
  <Words>412</Words>
  <Application>Microsoft Office PowerPoint</Application>
  <PresentationFormat>화면 슬라이드 쇼(4:3)</PresentationFormat>
  <Paragraphs>74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Arial</vt:lpstr>
      <vt:lpstr>HY헤드라인M</vt:lpstr>
      <vt:lpstr>HY견고딕</vt:lpstr>
      <vt:lpstr>Wingdings</vt:lpstr>
      <vt:lpstr>HY견명조</vt:lpstr>
      <vt:lpstr>맑은 고딕</vt:lpstr>
      <vt:lpstr>2_Office 테마</vt:lpstr>
      <vt:lpstr>PowerPoint 프레젠테이션</vt:lpstr>
      <vt:lpstr>교재 정보</vt:lpstr>
      <vt:lpstr>PowerPoint 프레젠테이션</vt:lpstr>
      <vt:lpstr>주요 내용</vt:lpstr>
      <vt:lpstr>강의 계획표</vt:lpstr>
      <vt:lpstr>이 책의 주요 특징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오일석</dc:creator>
  <cp:lastModifiedBy>경호 홍</cp:lastModifiedBy>
  <cp:revision>217</cp:revision>
  <dcterms:created xsi:type="dcterms:W3CDTF">2006-10-05T04:04:58Z</dcterms:created>
  <dcterms:modified xsi:type="dcterms:W3CDTF">2025-07-24T07:42:43Z</dcterms:modified>
</cp:coreProperties>
</file>