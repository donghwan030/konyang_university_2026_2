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5" r:id="rId1"/>
  </p:sldMasterIdLst>
  <p:notesMasterIdLst>
    <p:notesMasterId r:id="rId38"/>
  </p:notesMasterIdLst>
  <p:handoutMasterIdLst>
    <p:handoutMasterId r:id="rId39"/>
  </p:handoutMasterIdLst>
  <p:sldIdLst>
    <p:sldId id="909" r:id="rId2"/>
    <p:sldId id="877" r:id="rId3"/>
    <p:sldId id="878" r:id="rId4"/>
    <p:sldId id="910" r:id="rId5"/>
    <p:sldId id="911" r:id="rId6"/>
    <p:sldId id="912" r:id="rId7"/>
    <p:sldId id="913" r:id="rId8"/>
    <p:sldId id="914" r:id="rId9"/>
    <p:sldId id="915" r:id="rId10"/>
    <p:sldId id="916" r:id="rId11"/>
    <p:sldId id="917" r:id="rId12"/>
    <p:sldId id="918" r:id="rId13"/>
    <p:sldId id="919" r:id="rId14"/>
    <p:sldId id="920" r:id="rId15"/>
    <p:sldId id="921" r:id="rId16"/>
    <p:sldId id="922" r:id="rId17"/>
    <p:sldId id="923" r:id="rId18"/>
    <p:sldId id="924" r:id="rId19"/>
    <p:sldId id="925" r:id="rId20"/>
    <p:sldId id="926" r:id="rId21"/>
    <p:sldId id="927" r:id="rId22"/>
    <p:sldId id="928" r:id="rId23"/>
    <p:sldId id="929" r:id="rId24"/>
    <p:sldId id="930" r:id="rId25"/>
    <p:sldId id="931" r:id="rId26"/>
    <p:sldId id="932" r:id="rId27"/>
    <p:sldId id="933" r:id="rId28"/>
    <p:sldId id="934" r:id="rId29"/>
    <p:sldId id="935" r:id="rId30"/>
    <p:sldId id="936" r:id="rId31"/>
    <p:sldId id="937" r:id="rId32"/>
    <p:sldId id="938" r:id="rId33"/>
    <p:sldId id="939" r:id="rId34"/>
    <p:sldId id="940" r:id="rId35"/>
    <p:sldId id="941" r:id="rId36"/>
    <p:sldId id="275" r:id="rId37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31E"/>
    <a:srgbClr val="9F9886"/>
    <a:srgbClr val="302825"/>
    <a:srgbClr val="040000"/>
    <a:srgbClr val="00B0F0"/>
    <a:srgbClr val="000000"/>
    <a:srgbClr val="53D2FF"/>
    <a:srgbClr val="575653"/>
    <a:srgbClr val="404040"/>
    <a:srgbClr val="3F3C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2" autoAdjust="0"/>
    <p:restoredTop sz="94362" autoAdjust="0"/>
  </p:normalViewPr>
  <p:slideViewPr>
    <p:cSldViewPr>
      <p:cViewPr varScale="1">
        <p:scale>
          <a:sx n="162" d="100"/>
          <a:sy n="162" d="100"/>
        </p:scale>
        <p:origin x="1380" y="138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3864" y="-12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2026-09-02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0275" y="741363"/>
            <a:ext cx="4937125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0275" y="741363"/>
            <a:ext cx="4937125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8"/>
          <p:cNvSpPr/>
          <p:nvPr userDrawn="1"/>
        </p:nvSpPr>
        <p:spPr>
          <a:xfrm>
            <a:off x="323528" y="404816"/>
            <a:ext cx="8497887" cy="6048375"/>
          </a:xfrm>
          <a:prstGeom prst="roundRect">
            <a:avLst>
              <a:gd name="adj" fmla="val 2066"/>
            </a:avLst>
          </a:prstGeom>
          <a:noFill/>
          <a:ln w="53975">
            <a:solidFill>
              <a:srgbClr val="99AD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00" dirty="0">
              <a:solidFill>
                <a:srgbClr val="9A5F3A"/>
              </a:solidFill>
            </a:endParaRPr>
          </a:p>
        </p:txBody>
      </p:sp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625748" y="1156682"/>
            <a:ext cx="718661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dirty="0">
                <a:latin typeface="HY견고딕" pitchFamily="18" charset="-127"/>
                <a:ea typeface="HY견고딕" pitchFamily="18" charset="-127"/>
              </a:rPr>
              <a:t>최신 컴퓨터 구조</a:t>
            </a:r>
            <a:endParaRPr kumimoji="0" lang="de-DE" altLang="ko-KR" sz="2000" b="0" dirty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211922-674B-5DBE-8717-5D1C8ED1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808" y="1259840"/>
            <a:ext cx="381053" cy="238158"/>
          </a:xfrm>
          <a:prstGeom prst="rect">
            <a:avLst/>
          </a:prstGeom>
        </p:spPr>
      </p:pic>
      <p:sp>
        <p:nvSpPr>
          <p:cNvPr id="7" name="TextBox 7"/>
          <p:cNvSpPr txBox="1"/>
          <p:nvPr userDrawn="1"/>
        </p:nvSpPr>
        <p:spPr>
          <a:xfrm>
            <a:off x="611560" y="1628800"/>
            <a:ext cx="7991475" cy="11248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>
              <a:defRPr/>
            </a:pPr>
            <a:endParaRPr lang="en-US" altLang="ko-KR" sz="1200" dirty="0">
              <a:solidFill>
                <a:srgbClr val="222222"/>
              </a:solidFill>
            </a:endParaRPr>
          </a:p>
          <a:p>
            <a:pPr>
              <a:defRPr/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강의교안 이용 안내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]</a:t>
            </a:r>
          </a:p>
          <a:p>
            <a:pPr>
              <a:defRPr/>
            </a:pPr>
            <a:endParaRPr lang="en-US" altLang="ko-KR" sz="12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108000" indent="-108000" latinLnBrk="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본 강의교안의 저작권은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임석구 </a:t>
            </a:r>
            <a:r>
              <a:rPr lang="en-US" altLang="ko-KR" sz="1200" b="1" spc="-100" baseline="0" dirty="0">
                <a:solidFill>
                  <a:prstClr val="black"/>
                </a:solidFill>
                <a:latin typeface="+mn-ea"/>
                <a:ea typeface="+mn-ea"/>
              </a:rPr>
              <a:t>·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홍경호</a:t>
            </a: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와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한빛아카데미㈜</a:t>
            </a: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에 있습니다</a:t>
            </a:r>
            <a:r>
              <a:rPr lang="en-US" altLang="ko-KR" sz="1200" spc="-100" dirty="0">
                <a:solidFill>
                  <a:prstClr val="black"/>
                </a:solidFill>
                <a:latin typeface="+mn-ea"/>
                <a:ea typeface="+mn-ea"/>
              </a:rPr>
              <a:t>.</a:t>
            </a:r>
            <a:r>
              <a:rPr lang="ko-KR" altLang="en-US" sz="1200" spc="-100" dirty="0">
                <a:solidFill>
                  <a:srgbClr val="222222"/>
                </a:solidFill>
                <a:latin typeface="+mn-ea"/>
                <a:ea typeface="+mn-ea"/>
              </a:rPr>
              <a:t> </a:t>
            </a:r>
            <a:endParaRPr lang="en-US" altLang="ko-KR" sz="1200" spc="-100" dirty="0">
              <a:solidFill>
                <a:srgbClr val="222222"/>
              </a:solidFill>
              <a:latin typeface="+mn-ea"/>
              <a:ea typeface="+mn-ea"/>
            </a:endParaRPr>
          </a:p>
          <a:p>
            <a:pPr marL="128588" indent="-128588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1200" u="sng" spc="-100" dirty="0">
                <a:solidFill>
                  <a:srgbClr val="222222"/>
                </a:solidFill>
                <a:latin typeface="+mn-ea"/>
                <a:ea typeface="+mn-ea"/>
              </a:rPr>
              <a:t>이 자료는 강의 보조자료로 제공되는 것으로 무단으로 전재하거나 배포하는 것을 금합니다</a:t>
            </a:r>
            <a:r>
              <a:rPr lang="en-US" altLang="ko-KR" sz="1200" u="sng" spc="-100" dirty="0">
                <a:solidFill>
                  <a:srgbClr val="222222"/>
                </a:solidFill>
                <a:latin typeface="+mn-ea"/>
                <a:ea typeface="+mn-ea"/>
              </a:rPr>
              <a:t>. </a:t>
            </a:r>
            <a:endParaRPr kumimoji="0" lang="ko-KR" altLang="en-US" sz="1200" dirty="0"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1008112" cy="19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72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장제목">
    <p:bg>
      <p:bgPr>
        <a:solidFill>
          <a:srgbClr val="272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3"/>
          <p:cNvSpPr>
            <a:spLocks noGrp="1"/>
          </p:cNvSpPr>
          <p:nvPr>
            <p:ph type="title"/>
          </p:nvPr>
        </p:nvSpPr>
        <p:spPr>
          <a:xfrm>
            <a:off x="5148064" y="4365104"/>
            <a:ext cx="3928060" cy="2056236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486786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677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이 장에서 만들 프로그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948A88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rgbClr val="8B33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401241" indent="-133350">
              <a:lnSpc>
                <a:spcPct val="120000"/>
              </a:lnSpc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/>
            </a:lvl2pPr>
            <a:lvl3pPr marL="540544" indent="-139304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673894" indent="-133350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10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5612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기본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32738C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chemeClr val="accent5">
                  <a:lumMod val="50000"/>
                </a:schemeClr>
              </a:buClr>
              <a:buSzPct val="130000"/>
              <a:buFont typeface="Wingdings" panose="05000000000000000000" pitchFamily="2" charset="2"/>
              <a:buChar char="§"/>
              <a:defRPr sz="1800" b="1"/>
            </a:lvl1pPr>
            <a:lvl2pPr marL="401241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540544" indent="-139304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200"/>
            </a:lvl3pPr>
            <a:lvl4pPr marL="673894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05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2312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39701" y="6525345"/>
            <a:ext cx="8756650" cy="280046"/>
          </a:xfrm>
          <a:prstGeom prst="rect">
            <a:avLst/>
          </a:prstGeom>
        </p:spPr>
        <p:txBody>
          <a:bodyPr/>
          <a:lstStyle>
            <a:lvl1pPr>
              <a:defRPr b="1" i="1"/>
            </a:lvl1pPr>
          </a:lstStyle>
          <a:p>
            <a:pPr latinLnBrk="0"/>
            <a:fld id="{926EA8F1-C76B-4BC6-98C4-C2D2384EDDB7}" type="slidenum">
              <a:rPr lang="en-US" altLang="ko-KR" kern="0" smtClean="0">
                <a:latin typeface="Verdana"/>
              </a:rPr>
              <a:pPr latinLnBrk="0"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500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500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500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500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2"/>
            <a:ext cx="36576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3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33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33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28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40">
            <a:extLst>
              <a:ext uri="{FF2B5EF4-FFF2-40B4-BE49-F238E27FC236}">
                <a16:creationId xmlns:a16="http://schemas.microsoft.com/office/drawing/2014/main" id="{5EDD29C2-FDAD-B76C-1073-80195C4C239D}"/>
              </a:ext>
            </a:extLst>
          </p:cNvPr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32738C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0E0F7B59-5960-5B5C-92A3-F1D2B082F3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8" name="제목 9">
            <a:extLst>
              <a:ext uri="{FF2B5EF4-FFF2-40B4-BE49-F238E27FC236}">
                <a16:creationId xmlns:a16="http://schemas.microsoft.com/office/drawing/2014/main" id="{B91D4F42-22C9-5CDE-8872-ED84BE18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2683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FD9B6-DC5A-4644-B01F-335E6DD2CDD1}" type="datetimeFigureOut">
              <a:rPr lang="ko-KR" altLang="en-US" smtClean="0"/>
              <a:pPr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BC740F2-65F4-46F1-8462-F5CEAE10BBF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6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77" r:id="rId2"/>
    <p:sldLayoutId id="2147484678" r:id="rId3"/>
    <p:sldLayoutId id="2147484679" r:id="rId4"/>
    <p:sldLayoutId id="2147484680" r:id="rId5"/>
    <p:sldLayoutId id="2147484681" r:id="rId6"/>
  </p:sldLayoutIdLst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hyperlink" Target="https://www.google.co.kr/url?sa=i&amp;rct=j&amp;q=&amp;esrc=s&amp;source=images&amp;cd=&amp;cad=rja&amp;uact=8&amp;ved=2ahUKEwihy-yLwNnZAhWETbwKHeoAASsQjRx6BAgAEAU&amp;url=https://www.nxp.com/kr/products/power-management/battery-management/battery-cell-controllers/14-channel-li-ion-battery-cell-controller-ic:MC33771&amp;psig=AOvVaw3VJO0t-K-EuoOoUFeGfcQ0&amp;ust=1520487641406300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Chapter 01.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컴퓨터 시스템</a:t>
            </a:r>
            <a:br>
              <a:rPr lang="en-US" altLang="ko-KR" dirty="0"/>
            </a:br>
            <a:r>
              <a:rPr lang="ko-KR" altLang="en-US" dirty="0"/>
              <a:t>개론</a:t>
            </a:r>
          </a:p>
        </p:txBody>
      </p:sp>
    </p:spTree>
    <p:extLst>
      <p:ext uri="{BB962C8B-B14F-4D97-AF65-F5344CB8AC3E}">
        <p14:creationId xmlns:p14="http://schemas.microsoft.com/office/powerpoint/2010/main" val="70426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내용 개체 틀 2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70247" indent="0">
              <a:buNone/>
            </a:pPr>
            <a:r>
              <a:rPr lang="ko-KR" altLang="en-US" sz="1650" dirty="0"/>
              <a:t>학습목표</a:t>
            </a:r>
            <a:endParaRPr lang="en-US" altLang="ko-KR" sz="1650" dirty="0"/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컴퓨터 하드웨어의 구성요소와 소프트웨어의 개념을 이해할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컴퓨터에서 사용하는 고급 언어와 기계어의 관계를 살펴본다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새로운 하드웨어 부품의 출현에 따른 컴퓨터의 세대별 발전 과정을 알아본다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여러 측면에서 컴퓨터를 분류하고 설명할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폰 </a:t>
            </a:r>
            <a:r>
              <a:rPr lang="ko-KR" altLang="en-US" sz="1350" spc="-75" dirty="0" err="1"/>
              <a:t>노이만</a:t>
            </a:r>
            <a:r>
              <a:rPr lang="ko-KR" altLang="en-US" sz="1350" spc="-75" dirty="0"/>
              <a:t> 구조와 하버드 구조를 비교하여 설명할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endParaRPr lang="en-US" altLang="ko-KR" dirty="0"/>
          </a:p>
          <a:p>
            <a:pPr marL="267891" lvl="1" indent="0">
              <a:buNone/>
            </a:pPr>
            <a:endParaRPr lang="en-US" altLang="ko-KR" dirty="0"/>
          </a:p>
          <a:p>
            <a:pPr marL="267891" lvl="1" indent="0">
              <a:buNone/>
            </a:pPr>
            <a:endParaRPr lang="en-US" altLang="ko-KR" dirty="0"/>
          </a:p>
          <a:p>
            <a:pPr marL="70247" indent="0">
              <a:buNone/>
            </a:pPr>
            <a:r>
              <a:rPr lang="ko-KR" altLang="en-US" sz="1650" dirty="0"/>
              <a:t>내용 </a:t>
            </a:r>
            <a:endParaRPr lang="en-US" altLang="ko-KR" sz="1650" dirty="0"/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1.1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컴퓨터 시스템의 구성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1.2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컴퓨터의 역사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1.3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컴퓨터의 분류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1.4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폰 </a:t>
            </a:r>
            <a:r>
              <a:rPr lang="ko-KR" altLang="en-US" sz="1350" spc="-75" dirty="0" err="1"/>
              <a:t>노이만</a:t>
            </a:r>
            <a:r>
              <a:rPr lang="en-US" altLang="ko-KR" sz="1350" spc="-75" dirty="0"/>
              <a:t>, </a:t>
            </a:r>
            <a:r>
              <a:rPr lang="ko-KR" altLang="en-US" sz="1350" spc="-75" dirty="0"/>
              <a:t>비 폰 </a:t>
            </a:r>
            <a:r>
              <a:rPr lang="ko-KR" altLang="en-US" sz="1350" spc="-75" dirty="0" err="1"/>
              <a:t>노이만</a:t>
            </a:r>
            <a:r>
              <a:rPr lang="en-US" altLang="ko-KR" sz="1350" spc="-75" dirty="0"/>
              <a:t>, </a:t>
            </a:r>
            <a:r>
              <a:rPr lang="ko-KR" altLang="en-US" sz="1350" spc="-75" dirty="0"/>
              <a:t>하버드 구조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179512" y="3342996"/>
            <a:ext cx="75662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sz="1500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 flipH="1">
            <a:off x="7745778" y="2942946"/>
            <a:ext cx="2286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"/>
            </a:pPr>
            <a:r>
              <a:rPr lang="ko-KR" altLang="en-US" dirty="0"/>
              <a:t> 컴퓨터의 기본 구성</a:t>
            </a:r>
          </a:p>
          <a:p>
            <a:pPr marL="335756" lvl="1" indent="-134541">
              <a:lnSpc>
                <a:spcPct val="110000"/>
              </a:lnSpc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하드웨어</a:t>
            </a:r>
            <a:r>
              <a:rPr lang="ko-KR" altLang="en-US" spc="-75" dirty="0"/>
              <a:t> </a:t>
            </a:r>
            <a:r>
              <a:rPr lang="en-US" altLang="ko-KR" spc="-75" dirty="0"/>
              <a:t>: </a:t>
            </a:r>
            <a:r>
              <a:rPr lang="ko-KR" altLang="en-US" spc="-75" dirty="0"/>
              <a:t>컴퓨터에서 각종 정보를 입력하여 처리하고 저장하는 동작이 실제 일어나게 해 주는 물리적인 실체</a:t>
            </a:r>
            <a:endParaRPr lang="en-US" altLang="ko-KR" spc="-75" dirty="0"/>
          </a:p>
          <a:p>
            <a:pPr marL="335756" lvl="1" indent="-134541">
              <a:lnSpc>
                <a:spcPct val="110000"/>
              </a:lnSpc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소프트웨어</a:t>
            </a:r>
            <a:r>
              <a:rPr lang="ko-KR" altLang="en-US" spc="-75" dirty="0"/>
              <a:t> </a:t>
            </a:r>
            <a:r>
              <a:rPr lang="en-US" altLang="ko-KR" spc="-75" dirty="0"/>
              <a:t>: </a:t>
            </a:r>
            <a:r>
              <a:rPr lang="ko-KR" altLang="en-US" spc="-75" dirty="0"/>
              <a:t>정보 처리의 종류를 지정하고 정보의 이동 방향을 결정하는 동작이 일어나는 시간을 지정해 주는 명령</a:t>
            </a:r>
            <a:r>
              <a:rPr lang="en-US" altLang="ko-KR" spc="-75" dirty="0"/>
              <a:t>(command)</a:t>
            </a:r>
            <a:r>
              <a:rPr lang="ko-KR" altLang="en-US" spc="-75" dirty="0"/>
              <a:t>들의 집합</a:t>
            </a:r>
            <a:r>
              <a:rPr lang="en-US" altLang="ko-KR" spc="-75" dirty="0"/>
              <a:t>(</a:t>
            </a:r>
            <a:r>
              <a:rPr lang="ko-KR" altLang="en-US" spc="-75" dirty="0"/>
              <a:t>프로그램</a:t>
            </a:r>
            <a:r>
              <a:rPr lang="en-US" altLang="ko-KR" spc="-75" dirty="0"/>
              <a:t>)</a:t>
            </a:r>
            <a:endParaRPr lang="ko-KR" altLang="en-US" spc="-75" dirty="0"/>
          </a:p>
        </p:txBody>
      </p:sp>
      <p:pic>
        <p:nvPicPr>
          <p:cNvPr id="4" name="그림 3" descr="텍스트, 스크린샷, 폰트, 번호이(가) 표시된 사진">
            <a:extLst>
              <a:ext uri="{FF2B5EF4-FFF2-40B4-BE49-F238E27FC236}">
                <a16:creationId xmlns:a16="http://schemas.microsoft.com/office/drawing/2014/main" id="{BB4AFC3B-1C3B-4C29-8237-0BF1AEE29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29499"/>
            <a:ext cx="6192114" cy="429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6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494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  </a:t>
            </a:r>
            <a:r>
              <a:rPr lang="ko-KR" altLang="en-US" spc="-75" dirty="0">
                <a:solidFill>
                  <a:srgbClr val="2B6278"/>
                </a:solidFill>
              </a:rPr>
              <a:t>하드웨어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컴퓨터 </a:t>
            </a:r>
            <a:r>
              <a:rPr lang="ko-KR" altLang="en-US" sz="1275" spc="-75" dirty="0" err="1"/>
              <a:t>하드웨</a:t>
            </a:r>
            <a:r>
              <a:rPr lang="en-US" altLang="ko-KR" sz="1275" spc="-75" dirty="0"/>
              <a:t>`</a:t>
            </a:r>
            <a:r>
              <a:rPr lang="ko-KR" altLang="en-US" sz="1275" spc="-75" dirty="0"/>
              <a:t>어는 중앙 처리 장치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주기억장치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보조 기억장치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입력 장치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출력 장치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시스템 버스로 구성된다</a:t>
            </a:r>
            <a:r>
              <a:rPr lang="en-US" altLang="ko-KR" sz="1275" spc="-75" dirty="0"/>
              <a:t>.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컴퓨터의</a:t>
            </a:r>
            <a:r>
              <a:rPr lang="en-US" altLang="ko-KR" sz="1275" spc="-75" dirty="0"/>
              <a:t> </a:t>
            </a:r>
            <a:r>
              <a:rPr lang="ko-KR" altLang="en-US" sz="1275" spc="-75" dirty="0"/>
              <a:t>기능을 수행하기 위해 각 구성 요소들은 시스템 버스를 통해 상호 연결되어 있다</a:t>
            </a:r>
            <a:r>
              <a:rPr lang="en-US" altLang="ko-KR" sz="1275" spc="-75" dirty="0"/>
              <a:t>.</a:t>
            </a:r>
            <a:endParaRPr lang="ko-KR" altLang="en-US" sz="1275" dirty="0"/>
          </a:p>
        </p:txBody>
      </p:sp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CC0ED9-4C97-BDFB-ACBD-FB67C532A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14320"/>
            <a:ext cx="6688436" cy="2388727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79513" y="761274"/>
            <a:ext cx="301686" cy="346249"/>
            <a:chOff x="1454125" y="2542102"/>
            <a:chExt cx="337053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5" y="2542102"/>
              <a:ext cx="3370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14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>
          <a:xfrm>
            <a:off x="35496" y="773705"/>
            <a:ext cx="8963994" cy="5669958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"/>
            </a:pPr>
            <a:r>
              <a:rPr lang="ko-KR" altLang="en-US" spc="-75" dirty="0"/>
              <a:t> 중앙 처리 장치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중앙 처리 장치</a:t>
            </a:r>
            <a:r>
              <a:rPr lang="en-US" altLang="ko-KR" spc="-75" dirty="0"/>
              <a:t>(Central Processing Unit, CPU) :</a:t>
            </a:r>
            <a:r>
              <a:rPr lang="ko-KR" altLang="en-US" spc="-75" dirty="0"/>
              <a:t> 사실상 컴퓨터의 특성을 결정하며</a:t>
            </a:r>
            <a:r>
              <a:rPr lang="en-US" altLang="ko-KR" spc="-75" dirty="0"/>
              <a:t>, </a:t>
            </a:r>
            <a:r>
              <a:rPr lang="ko-KR" altLang="en-US" spc="-75" dirty="0"/>
              <a:t>컴퓨터의 핵심 기능인 프로그램 실행과 데이터 처리를 담당한다</a:t>
            </a:r>
            <a:r>
              <a:rPr lang="en-US" altLang="ko-KR" spc="-75" dirty="0"/>
              <a:t>. 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중앙 처리 장치를 </a:t>
            </a:r>
            <a:r>
              <a:rPr lang="ko-KR" altLang="en-US" b="1" spc="-75" dirty="0">
                <a:solidFill>
                  <a:srgbClr val="00B0F0"/>
                </a:solidFill>
              </a:rPr>
              <a:t>프로세서</a:t>
            </a:r>
            <a:r>
              <a:rPr lang="en-US" altLang="ko-KR" spc="-75" dirty="0"/>
              <a:t>(processor) </a:t>
            </a:r>
            <a:r>
              <a:rPr lang="ko-KR" altLang="en-US" spc="-75" dirty="0"/>
              <a:t>또는 </a:t>
            </a:r>
            <a:r>
              <a:rPr lang="ko-KR" altLang="en-US" b="1" spc="-75" dirty="0">
                <a:solidFill>
                  <a:srgbClr val="00B0F0"/>
                </a:solidFill>
              </a:rPr>
              <a:t>마이크로프로세서</a:t>
            </a:r>
            <a:r>
              <a:rPr lang="en-US" altLang="ko-KR" spc="-75" dirty="0"/>
              <a:t>(microprocessor)</a:t>
            </a:r>
            <a:r>
              <a:rPr lang="ko-KR" altLang="en-US" spc="-75" dirty="0"/>
              <a:t>라고도 부른다</a:t>
            </a:r>
            <a:r>
              <a:rPr lang="en-US" altLang="ko-KR" spc="-75" dirty="0"/>
              <a:t>.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산술 논리 연산 장치</a:t>
            </a:r>
            <a:r>
              <a:rPr lang="en-US" altLang="ko-KR" spc="-75" dirty="0"/>
              <a:t>(Arithmetic and Logic Unit, ALU) :</a:t>
            </a:r>
            <a:r>
              <a:rPr lang="ko-KR" altLang="en-US" spc="-75" dirty="0"/>
              <a:t> 산술 연산</a:t>
            </a:r>
            <a:r>
              <a:rPr lang="en-US" altLang="ko-KR" spc="-75" dirty="0"/>
              <a:t> </a:t>
            </a:r>
            <a:r>
              <a:rPr lang="ko-KR" altLang="en-US" spc="-75" dirty="0"/>
              <a:t>논리 연산</a:t>
            </a:r>
            <a:r>
              <a:rPr lang="en-US" altLang="ko-KR" spc="-75" dirty="0"/>
              <a:t>, </a:t>
            </a:r>
            <a:r>
              <a:rPr lang="ko-KR" altLang="en-US" spc="-75" dirty="0"/>
              <a:t>보수 연산</a:t>
            </a:r>
            <a:r>
              <a:rPr lang="en-US" altLang="ko-KR" spc="-75" dirty="0"/>
              <a:t>, </a:t>
            </a:r>
            <a:r>
              <a:rPr lang="ko-KR" altLang="en-US" spc="-75" dirty="0"/>
              <a:t>시프트 </a:t>
            </a:r>
            <a:r>
              <a:rPr lang="en-US" altLang="ko-KR" spc="-75" dirty="0"/>
              <a:t>shift </a:t>
            </a:r>
            <a:r>
              <a:rPr lang="ko-KR" altLang="en-US" spc="-75" dirty="0"/>
              <a:t>연산을 수행한다</a:t>
            </a:r>
            <a:r>
              <a:rPr lang="en-US" altLang="ko-KR" spc="-75" dirty="0"/>
              <a:t>. 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제어 장치</a:t>
            </a:r>
            <a:r>
              <a:rPr lang="en-US" altLang="ko-KR" spc="-75" dirty="0"/>
              <a:t>(Control Unit, CU) :</a:t>
            </a:r>
            <a:r>
              <a:rPr lang="ko-KR" altLang="en-US" spc="-75" dirty="0"/>
              <a:t> 프로그램의 명령어를 해독하여 명령어 실행에 필요한 제어 신호를 발생시키고 컴퓨터의 모든 장치를 제어한다</a:t>
            </a:r>
            <a:r>
              <a:rPr lang="en-US" altLang="ko-KR" spc="-75" dirty="0"/>
              <a:t>. 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레지스터</a:t>
            </a:r>
            <a:r>
              <a:rPr lang="en-US" altLang="ko-KR" spc="-75" dirty="0"/>
              <a:t>(register) :</a:t>
            </a:r>
            <a:r>
              <a:rPr lang="ko-KR" altLang="en-US" spc="-75" dirty="0"/>
              <a:t> 중앙 처리 장치 내부에 있는 데이터를 일시적으로 보관하는 임시기억장치로</a:t>
            </a:r>
            <a:r>
              <a:rPr lang="en-US" altLang="ko-KR" spc="-75" dirty="0"/>
              <a:t>, </a:t>
            </a:r>
            <a:r>
              <a:rPr lang="ko-KR" altLang="en-US" spc="-75" dirty="0"/>
              <a:t>프로그램 실행 중에 사용되며 고속으로 액세스할 수 있다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pic>
        <p:nvPicPr>
          <p:cNvPr id="4" name="그림 3" descr="텍스트, 스크린샷, 라인, 도표이(가) 표시된 사진">
            <a:extLst>
              <a:ext uri="{FF2B5EF4-FFF2-40B4-BE49-F238E27FC236}">
                <a16:creationId xmlns:a16="http://schemas.microsoft.com/office/drawing/2014/main" id="{4DE53909-26D4-78DD-344C-8819C8E5F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033" y="4149080"/>
            <a:ext cx="5149934" cy="24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기억장치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주기억장치</a:t>
            </a:r>
            <a:r>
              <a:rPr lang="en-US" altLang="ko-KR" spc="-75" dirty="0"/>
              <a:t>(main memory) :</a:t>
            </a:r>
            <a:r>
              <a:rPr lang="ko-KR" altLang="en-US" spc="-75" dirty="0"/>
              <a:t> 반도체 칩으로 구성되어 고속으로 액세스가 가능하지만 고가다</a:t>
            </a:r>
            <a:r>
              <a:rPr lang="en-US" altLang="ko-KR" spc="-75" dirty="0"/>
              <a:t>. </a:t>
            </a:r>
            <a:r>
              <a:rPr lang="ko-KR" altLang="en-US" spc="-75" dirty="0"/>
              <a:t>또한 프로그램 실행 중에 일시적으로만 사용되는 휘발성 메모리다</a:t>
            </a:r>
            <a:r>
              <a:rPr lang="en-US" altLang="ko-KR" spc="-75" dirty="0"/>
              <a:t>. 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보조 기억장치</a:t>
            </a:r>
            <a:r>
              <a:rPr lang="en-US" altLang="ko-KR" spc="-75" dirty="0"/>
              <a:t>(auxiliary storage unit) :</a:t>
            </a:r>
            <a:r>
              <a:rPr lang="ko-KR" altLang="en-US" spc="-75" dirty="0"/>
              <a:t> 하드 디스크나 </a:t>
            </a:r>
            <a:r>
              <a:rPr lang="en-US" altLang="ko-KR" spc="-75" dirty="0"/>
              <a:t>SSD, CD-ROM </a:t>
            </a:r>
            <a:r>
              <a:rPr lang="ko-KR" altLang="en-US" spc="-75" dirty="0"/>
              <a:t>같은 </a:t>
            </a:r>
            <a:r>
              <a:rPr lang="ko-KR" altLang="en-US" spc="-75" dirty="0" err="1"/>
              <a:t>비휘발성</a:t>
            </a:r>
            <a:r>
              <a:rPr lang="ko-KR" altLang="en-US" spc="-75" dirty="0"/>
              <a:t> 메모리이며</a:t>
            </a:r>
            <a:r>
              <a:rPr lang="en-US" altLang="ko-KR" spc="-75" dirty="0"/>
              <a:t>, </a:t>
            </a:r>
            <a:r>
              <a:rPr lang="ko-KR" altLang="en-US" spc="-75" dirty="0"/>
              <a:t>저장 밀도가 높고 저가이지만 속도가 느리다</a:t>
            </a:r>
            <a:r>
              <a:rPr lang="en-US" altLang="ko-KR" spc="-75" dirty="0"/>
              <a:t>. </a:t>
            </a:r>
            <a:r>
              <a:rPr lang="ko-KR" altLang="en-US" spc="-75" dirty="0"/>
              <a:t>중앙 처리 장치에 당장 필요하지 않은 많은 양의 데이터나 프로그램을 저장하는 장치다</a:t>
            </a:r>
            <a:r>
              <a:rPr lang="en-US" altLang="ko-KR" spc="-75" dirty="0"/>
              <a:t>.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입출력 장치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입력 장치</a:t>
            </a:r>
            <a:r>
              <a:rPr lang="en-US" altLang="ko-KR" spc="-75" dirty="0"/>
              <a:t>(input device) : </a:t>
            </a:r>
            <a:r>
              <a:rPr lang="ko-KR" altLang="en-US" spc="-75" dirty="0"/>
              <a:t>데이터를 전자적인 </a:t>
            </a:r>
            <a:r>
              <a:rPr lang="en-US" altLang="ko-KR" spc="-75" dirty="0"/>
              <a:t>2</a:t>
            </a:r>
            <a:r>
              <a:rPr lang="ko-KR" altLang="en-US" spc="-75" dirty="0"/>
              <a:t>진 형태로 변환하여 컴퓨터 내부로 전달한다</a:t>
            </a:r>
            <a:r>
              <a:rPr lang="en-US" altLang="ko-KR" spc="-75" dirty="0"/>
              <a:t>. </a:t>
            </a:r>
            <a:r>
              <a:rPr lang="ko-KR" altLang="en-US" spc="-75" dirty="0"/>
              <a:t>키보드</a:t>
            </a:r>
            <a:r>
              <a:rPr lang="en-US" altLang="ko-KR" spc="-75" dirty="0"/>
              <a:t>, </a:t>
            </a:r>
            <a:r>
              <a:rPr lang="ko-KR" altLang="en-US" spc="-75" dirty="0"/>
              <a:t>마우스가 있다</a:t>
            </a:r>
            <a:r>
              <a:rPr lang="en-US" altLang="ko-KR" spc="-75" dirty="0"/>
              <a:t>.</a:t>
            </a:r>
            <a:r>
              <a:rPr lang="ko-KR" altLang="en-US" spc="-75" dirty="0"/>
              <a:t> </a:t>
            </a: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출력 장치</a:t>
            </a:r>
            <a:r>
              <a:rPr lang="en-US" altLang="ko-KR" spc="-75" dirty="0"/>
              <a:t>(output device) : </a:t>
            </a:r>
            <a:r>
              <a:rPr lang="ko-KR" altLang="en-US" spc="-75" dirty="0"/>
              <a:t>중앙 처리 장치가 처리한 전자적인 형태의 데이터를 사람이 이해할 수 있는 데이터로 변환하여 출력한다</a:t>
            </a:r>
            <a:r>
              <a:rPr lang="en-US" altLang="ko-KR" spc="-75" dirty="0"/>
              <a:t>. LCD </a:t>
            </a:r>
            <a:r>
              <a:rPr lang="ko-KR" altLang="en-US" spc="-75" dirty="0"/>
              <a:t>모니터</a:t>
            </a:r>
            <a:r>
              <a:rPr lang="en-US" altLang="ko-KR" spc="-75" dirty="0"/>
              <a:t>,</a:t>
            </a:r>
            <a:r>
              <a:rPr lang="ko-KR" altLang="en-US" spc="-75" dirty="0"/>
              <a:t> 프린터</a:t>
            </a:r>
            <a:r>
              <a:rPr lang="en-US" altLang="ko-KR" spc="-75" dirty="0"/>
              <a:t>, </a:t>
            </a:r>
            <a:r>
              <a:rPr lang="ko-KR" altLang="en-US" spc="-75" dirty="0"/>
              <a:t>스피커가 있다</a:t>
            </a:r>
            <a:r>
              <a:rPr lang="en-US" altLang="ko-KR" spc="-75" dirty="0"/>
              <a:t>.</a:t>
            </a:r>
            <a:r>
              <a:rPr lang="ko-KR" altLang="en-US" spc="-75" dirty="0"/>
              <a:t> </a:t>
            </a: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입력 장치와 출력 장치를 합하여 </a:t>
            </a:r>
            <a:r>
              <a:rPr lang="ko-KR" altLang="en-US" b="1" spc="-75" dirty="0">
                <a:solidFill>
                  <a:srgbClr val="00B0F0"/>
                </a:solidFill>
              </a:rPr>
              <a:t>입출력 장치</a:t>
            </a:r>
            <a:r>
              <a:rPr lang="en-US" altLang="ko-KR" spc="-75" dirty="0"/>
              <a:t>(</a:t>
            </a:r>
            <a:r>
              <a:rPr lang="en-US" altLang="ko-KR" spc="-75" dirty="0" err="1"/>
              <a:t>Input/Output</a:t>
            </a:r>
            <a:r>
              <a:rPr lang="en-US" altLang="ko-KR" spc="-75" dirty="0"/>
              <a:t> device, I/O device)</a:t>
            </a:r>
            <a:r>
              <a:rPr lang="ko-KR" altLang="en-US" spc="-75" dirty="0"/>
              <a:t>라고도 한다</a:t>
            </a:r>
            <a:r>
              <a:rPr lang="en-US" altLang="ko-KR" spc="-75" dirty="0"/>
              <a:t>.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ko-KR" altLang="en-US" spc="-75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</p:spTree>
    <p:extLst>
      <p:ext uri="{BB962C8B-B14F-4D97-AF65-F5344CB8AC3E}">
        <p14:creationId xmlns:p14="http://schemas.microsoft.com/office/powerpoint/2010/main" val="110875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시스템 버스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시스템 버스</a:t>
            </a:r>
            <a:r>
              <a:rPr lang="en-US" altLang="ko-KR" spc="-75" dirty="0"/>
              <a:t>(system bus) :</a:t>
            </a:r>
            <a:r>
              <a:rPr lang="ko-KR" altLang="en-US" spc="-75" dirty="0"/>
              <a:t> 중앙 처리 장치와 기억장치 및 입출력 장치 사이에 정보를 교환하는 통로이며</a:t>
            </a:r>
            <a:r>
              <a:rPr lang="en-US" altLang="ko-KR" spc="-75" dirty="0"/>
              <a:t> </a:t>
            </a:r>
            <a:r>
              <a:rPr lang="ko-KR" altLang="en-US" spc="-75" dirty="0"/>
              <a:t>주소 버스</a:t>
            </a:r>
            <a:r>
              <a:rPr lang="en-US" altLang="ko-KR" spc="-75" dirty="0"/>
              <a:t>, </a:t>
            </a:r>
            <a:r>
              <a:rPr lang="ko-KR" altLang="en-US" spc="-75" dirty="0"/>
              <a:t>데이터 버스</a:t>
            </a:r>
            <a:r>
              <a:rPr lang="en-US" altLang="ko-KR" spc="-75" dirty="0"/>
              <a:t>, </a:t>
            </a:r>
            <a:r>
              <a:rPr lang="ko-KR" altLang="en-US" spc="-75" dirty="0"/>
              <a:t>제어 버스가 있다</a:t>
            </a:r>
            <a:r>
              <a:rPr lang="en-US" altLang="ko-KR" spc="-75" dirty="0"/>
              <a:t>.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38341"/>
              </p:ext>
            </p:extLst>
          </p:nvPr>
        </p:nvGraphicFramePr>
        <p:xfrm>
          <a:off x="683568" y="2060848"/>
          <a:ext cx="7488832" cy="261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주소 버스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(address bus) 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1" indent="-1809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기억장치나 입출력 장치를 지정하는 주소 정보를 전송하는 신호 선들의 집합이다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단방향이다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데이터 버스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(data bus)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기억장치나 입출력 장치 사이에 데이터를 전송하기 위한 신호선들의 집합이다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데이터선의 수는 중앙 처리 장치가 한 번에 전송할 수 있는 데이터 비트의 수를 결정한다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양방향 전송이 가능해야 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제어 버스</a:t>
                      </a:r>
                      <a:endParaRPr lang="en-US" altLang="ko-KR" sz="1400" b="0" i="0" u="none" strike="noStrike" kern="1200" spc="-1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4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(control bus)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중앙 처리 장치가 시스템 내의 각종 요소의 동작을 제어하는 데 필요한 </a:t>
                      </a: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신호선들의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 집합이다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기억장치 읽기와 쓰기 신호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입출력 장치 읽기와 쓰기 신호 등이 있다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0975" marR="0" indent="-1809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단방향이다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66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컴퓨터 시스템의 구성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주기억장치는 중앙 처리 장치와 시스템 버스를 통해 연결된다</a:t>
            </a:r>
            <a:r>
              <a:rPr lang="en-US" altLang="ko-KR" spc="-75" dirty="0"/>
              <a:t>.</a:t>
            </a:r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보조 기억장치나 입출력 장치는 속도가 느리기 때문에 인터페이스</a:t>
            </a:r>
            <a:r>
              <a:rPr lang="en-US" altLang="ko-KR" spc="-75" dirty="0"/>
              <a:t> </a:t>
            </a:r>
            <a:r>
              <a:rPr lang="ko-KR" altLang="en-US" spc="-75" dirty="0"/>
              <a:t>회로나 제어기를 통해 중앙 처리 장치와 연결되어야 한다</a:t>
            </a:r>
            <a:r>
              <a:rPr lang="en-US" altLang="ko-KR" spc="-75" dirty="0"/>
              <a:t>.</a:t>
            </a:r>
          </a:p>
        </p:txBody>
      </p:sp>
      <p:pic>
        <p:nvPicPr>
          <p:cNvPr id="4" name="그림 3" descr="텍스트, 도표, 스크린샷, 라인이(가) 표시된 사진">
            <a:extLst>
              <a:ext uri="{FF2B5EF4-FFF2-40B4-BE49-F238E27FC236}">
                <a16:creationId xmlns:a16="http://schemas.microsoft.com/office/drawing/2014/main" id="{E0EC483B-21BD-8939-AD8E-BBFE0DC41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96" y="2348880"/>
            <a:ext cx="7700608" cy="382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8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pc="-75" dirty="0"/>
              <a:t> 컴퓨터 시스템의 수행 기능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프로그램 실행</a:t>
            </a:r>
            <a:r>
              <a:rPr lang="ko-KR" altLang="en-US" spc="-75" dirty="0"/>
              <a:t> </a:t>
            </a:r>
            <a:r>
              <a:rPr lang="en-US" altLang="ko-KR" spc="-75" dirty="0"/>
              <a:t>: </a:t>
            </a:r>
            <a:r>
              <a:rPr lang="ko-KR" altLang="en-US" spc="-75" dirty="0"/>
              <a:t>중앙 처리 장치가 주기억장치에서 프로그램 코드를 읽어 실행</a:t>
            </a:r>
            <a:endParaRPr lang="en-US" altLang="ko-KR" spc="-75" dirty="0"/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데이터 저장 </a:t>
            </a:r>
            <a:r>
              <a:rPr lang="en-US" altLang="ko-KR" spc="-75" dirty="0"/>
              <a:t>: </a:t>
            </a:r>
            <a:r>
              <a:rPr lang="ko-KR" altLang="en-US" spc="-75" dirty="0"/>
              <a:t>프로그램 실행 결과를 주기억장치에 저장</a:t>
            </a:r>
            <a:endParaRPr lang="en-US" altLang="ko-KR" spc="-75" dirty="0"/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데이터 이동 </a:t>
            </a:r>
            <a:r>
              <a:rPr lang="en-US" altLang="ko-KR" spc="-75" dirty="0"/>
              <a:t>: </a:t>
            </a:r>
            <a:r>
              <a:rPr lang="ko-KR" altLang="en-US" spc="-75" dirty="0"/>
              <a:t>하드 디스크 같은 보조 기억장치에 저장되어 있는 명령어와 데이터 블록을 주기억장치로 이동</a:t>
            </a:r>
            <a:endParaRPr lang="en-US" altLang="ko-KR" spc="-75" dirty="0"/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데이터 입출력 </a:t>
            </a:r>
            <a:r>
              <a:rPr lang="en-US" altLang="ko-KR" spc="-75" dirty="0"/>
              <a:t>: </a:t>
            </a:r>
            <a:r>
              <a:rPr lang="ko-KR" altLang="en-US" spc="-75" dirty="0"/>
              <a:t>사용자가 키보드나 마우스를 통해 입력하는 명령어나 데이터를 입력하거나 중앙 처리 장치가 처리한 결과를 모니터나 프린터로 출력</a:t>
            </a:r>
            <a:endParaRPr lang="en-US" altLang="ko-KR" spc="-75" dirty="0"/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제어</a:t>
            </a:r>
            <a:r>
              <a:rPr lang="ko-KR" altLang="en-US" spc="-75" dirty="0"/>
              <a:t> </a:t>
            </a:r>
            <a:r>
              <a:rPr lang="en-US" altLang="ko-KR" spc="-75" dirty="0"/>
              <a:t>: </a:t>
            </a:r>
            <a:r>
              <a:rPr lang="ko-KR" altLang="en-US" spc="-75" dirty="0"/>
              <a:t>프로그램에서 정해진 순서에 따라 실행되도록 각종 제어 신호를 발생</a:t>
            </a:r>
            <a:endParaRPr lang="en-US" altLang="ko-KR" spc="-75" dirty="0"/>
          </a:p>
        </p:txBody>
      </p:sp>
    </p:spTree>
    <p:extLst>
      <p:ext uri="{BB962C8B-B14F-4D97-AF65-F5344CB8AC3E}">
        <p14:creationId xmlns:p14="http://schemas.microsoft.com/office/powerpoint/2010/main" val="354622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150"/>
              </a:spcAft>
              <a:buNone/>
            </a:pPr>
            <a:r>
              <a:rPr lang="ko-KR" altLang="en-US" spc="-75" dirty="0">
                <a:solidFill>
                  <a:srgbClr val="2B6278"/>
                </a:solidFill>
              </a:rPr>
              <a:t>     소프트웨어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소프트웨어 </a:t>
            </a:r>
            <a:r>
              <a:rPr lang="en-US" altLang="ko-KR" spc="-75" dirty="0"/>
              <a:t>:</a:t>
            </a:r>
            <a:r>
              <a:rPr lang="ko-KR" altLang="en-US" spc="-75" dirty="0"/>
              <a:t> 컴퓨터를 구성하고 있는 하드웨어를 잘 동작시킬 수 있도록 제어하고</a:t>
            </a:r>
            <a:r>
              <a:rPr lang="en-US" altLang="ko-KR" spc="-75" dirty="0"/>
              <a:t>, </a:t>
            </a:r>
            <a:r>
              <a:rPr lang="ko-KR" altLang="en-US" spc="-75" dirty="0"/>
              <a:t>지시하는 모든 종류의 프로그램을 의미한다</a:t>
            </a:r>
            <a:r>
              <a:rPr lang="en-US" altLang="ko-KR" spc="-75" dirty="0"/>
              <a:t>. 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프로그램</a:t>
            </a:r>
            <a:r>
              <a:rPr lang="ko-KR" altLang="en-US" spc="-75" dirty="0"/>
              <a:t> </a:t>
            </a:r>
            <a:r>
              <a:rPr lang="en-US" altLang="ko-KR" spc="-75" dirty="0"/>
              <a:t>:</a:t>
            </a:r>
            <a:r>
              <a:rPr lang="ko-KR" altLang="en-US" spc="-75" dirty="0"/>
              <a:t> 컴퓨터를 사용해 어떤 일을 처리하기 위해 순차적으로 구성된 명령들의 집합이다</a:t>
            </a:r>
            <a:r>
              <a:rPr lang="en-US" altLang="ko-KR" spc="-75" dirty="0"/>
              <a:t>.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소프트웨어는 </a:t>
            </a:r>
            <a:r>
              <a:rPr lang="ko-KR" altLang="en-US" b="1" spc="-75" dirty="0">
                <a:solidFill>
                  <a:srgbClr val="00B0F0"/>
                </a:solidFill>
              </a:rPr>
              <a:t>시스템 소프트웨어</a:t>
            </a:r>
            <a:r>
              <a:rPr lang="ko-KR" altLang="en-US" spc="-75" dirty="0"/>
              <a:t>와 </a:t>
            </a:r>
            <a:r>
              <a:rPr lang="ko-KR" altLang="en-US" b="1" spc="-75" dirty="0">
                <a:solidFill>
                  <a:srgbClr val="00B0F0"/>
                </a:solidFill>
              </a:rPr>
              <a:t>응용 소프트웨어</a:t>
            </a:r>
            <a:r>
              <a:rPr lang="ko-KR" altLang="en-US" spc="-75" dirty="0"/>
              <a:t>로 나눌 수 있다</a:t>
            </a:r>
            <a:r>
              <a:rPr lang="en-US" altLang="ko-KR" spc="-75" dirty="0"/>
              <a:t>.</a:t>
            </a:r>
          </a:p>
          <a:p>
            <a:pPr marL="0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5756" lvl="1" indent="-257175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b="1" spc="-75" dirty="0"/>
              <a:t>시스템 소프트웨어</a:t>
            </a:r>
            <a:endParaRPr lang="en-US" altLang="ko-KR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시스템 소프트웨어</a:t>
            </a:r>
            <a:r>
              <a:rPr lang="en-US" altLang="ko-KR" spc="-75" dirty="0"/>
              <a:t>(system software) :</a:t>
            </a:r>
            <a:r>
              <a:rPr lang="ko-KR" altLang="en-US" spc="-75" dirty="0"/>
              <a:t> 하드웨어를 관리하고 응용 소프트웨어를 실행하는 데 필요한 프로그램이다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운영체제</a:t>
            </a:r>
            <a:r>
              <a:rPr lang="en-US" altLang="ko-KR" spc="-75" dirty="0"/>
              <a:t>(OS), </a:t>
            </a:r>
            <a:r>
              <a:rPr lang="ko-KR" altLang="en-US" spc="-75" dirty="0"/>
              <a:t>언어 번역 프로그램</a:t>
            </a:r>
            <a:r>
              <a:rPr lang="en-US" altLang="ko-KR" spc="-75" dirty="0"/>
              <a:t>, </a:t>
            </a:r>
            <a:r>
              <a:rPr lang="ko-KR" altLang="en-US" spc="-75" dirty="0"/>
              <a:t>유틸리티 프로그램 등이 이에 속한다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유틸리티 프로그램은 각종 주변 장치들을 구동하는 데 필요한 드라이버 프로그램</a:t>
            </a:r>
            <a:r>
              <a:rPr lang="en-US" altLang="ko-KR" spc="-75" dirty="0"/>
              <a:t>, </a:t>
            </a:r>
            <a:r>
              <a:rPr lang="ko-KR" altLang="en-US" spc="-75" dirty="0"/>
              <a:t>백신 프로그램</a:t>
            </a:r>
            <a:r>
              <a:rPr lang="en-US" altLang="ko-KR" spc="-75" dirty="0"/>
              <a:t>, TCP/IP </a:t>
            </a:r>
            <a:r>
              <a:rPr lang="ko-KR" altLang="en-US" spc="-75" dirty="0"/>
              <a:t>같이 컴퓨터를 네트워크로 연결하는 데 필요한 각종 프로그램 등을 말한다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79512" y="761274"/>
            <a:ext cx="36004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072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57175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시스템 소프트웨어</a:t>
            </a:r>
            <a:r>
              <a:rPr lang="en-US" altLang="ko-KR" sz="1800" b="1" spc="-75" dirty="0"/>
              <a:t>(</a:t>
            </a:r>
            <a:r>
              <a:rPr lang="ko-KR" altLang="en-US" sz="1800" b="1" spc="-75" dirty="0"/>
              <a:t>계속</a:t>
            </a:r>
            <a:r>
              <a:rPr lang="en-US" altLang="ko-KR" sz="1800" b="1" spc="-75" dirty="0"/>
              <a:t>)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949327"/>
              </p:ext>
            </p:extLst>
          </p:nvPr>
        </p:nvGraphicFramePr>
        <p:xfrm>
          <a:off x="467544" y="1268760"/>
          <a:ext cx="7920880" cy="397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운영체제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(Operating System)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1" indent="-1809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컴퓨터 하드웨어 자원인 중앙 처리 장치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기억장치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입출력 장치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네트워크 장치 등을 제어하고 관리하는 역할을 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종류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유닉스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UNIX, </a:t>
                      </a: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리눅스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LINUX,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윈도우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Windows,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맥 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OS MAC OS, OS, </a:t>
                      </a: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안드로이드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 등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언어 번역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프로그램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고급 언어 프로그램을 컴퓨터가 이해할 수 있는 기계어로 변환하는 프로그램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spc="-100" baseline="0" dirty="0">
                          <a:solidFill>
                            <a:srgbClr val="00B0F0"/>
                          </a:solidFill>
                        </a:rPr>
                        <a:t>인터프리터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(interpreter)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는 소스 프로그램을 한 줄씩 기계어로 번역하여 실행하기 때문에 실행 속도가 컴파일러보다 느리다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 Basic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이나 자바스크립트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HTML, SQL, Python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등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spc="-100" baseline="0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컴파일러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(compiler)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는 전체 소스 프로그램을 한 번에 기계어로 직접 번역하여 실행하기 때문에 실행 속도가 빠르며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C, C++, C#,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자바 등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9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장치 드라이버</a:t>
                      </a:r>
                      <a:endParaRPr lang="en-US" altLang="ko-KR" sz="1400" b="0" i="0" u="none" strike="noStrike" kern="1200" spc="-1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4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(Device Driver)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컴퓨터에 온라인으로 연결된 주변 장치를 제어하는 운영체제 모듈을 말한다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링커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(Linker)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여러 개로 분할해 작성된 프로그램에 의해 생성된 목적 프로그램 또는 라이브러리 루틴을 결합하여 실행 가능한 하나의 프로그램으로 연결하는 프로그램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연결 편집기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(Linkage Editor)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라고도 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로더</a:t>
                      </a:r>
                      <a:endParaRPr lang="en-US" altLang="ko-KR" sz="1400" b="0" spc="-1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(Loader)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하드 디스크 같은 저장 장치에 보관된 프로그램을 읽어 주기억장치에 적재한 후 실행 가능한 상태로 만드는 프로그램이다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spc="-100" baseline="0" dirty="0" err="1">
                          <a:solidFill>
                            <a:schemeClr val="tx1"/>
                          </a:solidFill>
                        </a:rPr>
                        <a:t>로더는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 할당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연결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재배치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spc="-100" baseline="0" dirty="0">
                          <a:solidFill>
                            <a:schemeClr val="tx1"/>
                          </a:solidFill>
                        </a:rPr>
                        <a:t>적재 기능을 수행한다</a:t>
                      </a:r>
                      <a:r>
                        <a:rPr lang="en-US" altLang="ko-KR" sz="14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04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5756" lvl="1" indent="-257175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응용 소프트웨어</a:t>
            </a:r>
            <a:endParaRPr lang="en-US" altLang="ko-KR" sz="1800" b="1" spc="-75" dirty="0"/>
          </a:p>
          <a:p>
            <a:pPr marL="407194" lvl="1" indent="-150019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00" spc="-75" dirty="0"/>
              <a:t>컴퓨터 시스템을 일반 사용자들이 특정한 용도에 활용하기 위해 만든 프로그램으로</a:t>
            </a:r>
            <a:r>
              <a:rPr lang="en-US" altLang="ko-KR" sz="1400" spc="-75" dirty="0"/>
              <a:t>, </a:t>
            </a:r>
            <a:r>
              <a:rPr lang="ko-KR" altLang="en-US" sz="1400" spc="-75" dirty="0"/>
              <a:t>애플리케이션 </a:t>
            </a:r>
            <a:r>
              <a:rPr lang="en-US" altLang="ko-KR" sz="1400" spc="-75" dirty="0"/>
              <a:t>application, </a:t>
            </a:r>
            <a:r>
              <a:rPr lang="ko-KR" altLang="en-US" sz="1400" spc="-75" dirty="0" err="1"/>
              <a:t>앱</a:t>
            </a:r>
            <a:r>
              <a:rPr lang="en-US" altLang="ko-KR" sz="1400" spc="-75" dirty="0"/>
              <a:t>, </a:t>
            </a:r>
            <a:r>
              <a:rPr lang="ko-KR" altLang="en-US" sz="1400" spc="-75" dirty="0" err="1"/>
              <a:t>어플이라고도</a:t>
            </a:r>
            <a:r>
              <a:rPr lang="ko-KR" altLang="en-US" sz="1400" spc="-75" dirty="0"/>
              <a:t> 한다</a:t>
            </a:r>
            <a:r>
              <a:rPr lang="en-US" altLang="ko-KR" sz="1400" spc="-75" dirty="0"/>
              <a:t>.</a:t>
            </a: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B991C-3AF2-AE65-C759-F8C2F106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16831"/>
            <a:ext cx="4898915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BED9CB-212E-C22E-2283-F8F02DD28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05" y="1580432"/>
            <a:ext cx="6429320" cy="4745065"/>
          </a:xfrm>
          <a:prstGeom prst="rect">
            <a:avLst/>
          </a:prstGeom>
        </p:spPr>
      </p:pic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72502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150"/>
              </a:spcAft>
              <a:buNone/>
            </a:pPr>
            <a:r>
              <a:rPr lang="ko-KR" altLang="en-US" spc="-75" dirty="0">
                <a:solidFill>
                  <a:srgbClr val="2B6278"/>
                </a:solidFill>
              </a:rPr>
              <a:t>     프로그램 처리 과정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프로그램은 고급 언어 → 어셈블리어 → 기계어 순으로 변환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79512" y="758788"/>
            <a:ext cx="36004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427984" y="5822950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75" dirty="0" err="1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니모닉</a:t>
            </a:r>
            <a:r>
              <a:rPr lang="en-US" altLang="ko-KR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(mnemonic)</a:t>
            </a:r>
          </a:p>
          <a:p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LOAD, ADD, STOR</a:t>
            </a:r>
            <a:endParaRPr lang="ko-KR" altLang="en-US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25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pc="-75" dirty="0"/>
              <a:t> 기계어 구조 예</a:t>
            </a:r>
          </a:p>
          <a:p>
            <a:pPr marL="272653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B0F0"/>
                </a:solidFill>
                <a:latin typeface="MS Gothic"/>
              </a:rPr>
              <a:t>❶ </a:t>
            </a:r>
            <a:r>
              <a:rPr lang="en-US" altLang="ko-KR" spc="-75" dirty="0">
                <a:solidFill>
                  <a:srgbClr val="00B0F0"/>
                </a:solidFill>
              </a:rPr>
              <a:t>LOAD A, X</a:t>
            </a:r>
            <a:endParaRPr lang="en-US" altLang="ko-KR" spc="-75" dirty="0"/>
          </a:p>
          <a:p>
            <a:pPr marL="535781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메모리 </a:t>
            </a:r>
            <a:r>
              <a:rPr lang="en-US" altLang="ko-KR" spc="-75" dirty="0"/>
              <a:t>10</a:t>
            </a:r>
            <a:r>
              <a:rPr lang="ko-KR" altLang="en-US" spc="-75" dirty="0"/>
              <a:t>번지의 내용을 읽어 레지스터 </a:t>
            </a:r>
            <a:r>
              <a:rPr lang="en-US" altLang="ko-KR" spc="-75" dirty="0"/>
              <a:t>A</a:t>
            </a:r>
            <a:r>
              <a:rPr lang="ko-KR" altLang="en-US" spc="-75" dirty="0"/>
              <a:t>에 로드</a:t>
            </a:r>
            <a:r>
              <a:rPr lang="en-US" altLang="ko-KR" spc="-75" dirty="0"/>
              <a:t>(LOAD)</a:t>
            </a:r>
            <a:r>
              <a:rPr lang="ko-KR" altLang="en-US" spc="-75" dirty="0"/>
              <a:t>하라는 의미</a:t>
            </a:r>
            <a:endParaRPr lang="en-US" altLang="ko-KR" spc="-75" dirty="0"/>
          </a:p>
          <a:p>
            <a:pPr marL="272653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B0F0"/>
                </a:solidFill>
                <a:latin typeface="MS Gothic"/>
              </a:rPr>
              <a:t>❷ </a:t>
            </a:r>
            <a:r>
              <a:rPr lang="en-US" altLang="ko-KR" spc="-75" dirty="0">
                <a:solidFill>
                  <a:srgbClr val="00B0F0"/>
                </a:solidFill>
              </a:rPr>
              <a:t>ADD A, Y</a:t>
            </a:r>
            <a:endParaRPr lang="en-US" altLang="ko-KR" spc="-75" dirty="0"/>
          </a:p>
          <a:p>
            <a:pPr marL="535781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레지스터 </a:t>
            </a:r>
            <a:r>
              <a:rPr lang="en-US" altLang="ko-KR" spc="-75" dirty="0"/>
              <a:t>A</a:t>
            </a:r>
            <a:r>
              <a:rPr lang="ko-KR" altLang="en-US" spc="-75" dirty="0"/>
              <a:t>의 내용과 메모리 </a:t>
            </a:r>
            <a:r>
              <a:rPr lang="en-US" altLang="ko-KR" spc="-75" dirty="0"/>
              <a:t>11</a:t>
            </a:r>
            <a:r>
              <a:rPr lang="ko-KR" altLang="en-US" spc="-75" dirty="0"/>
              <a:t>번지의 내용을 더해 그 결과를 레지스터 </a:t>
            </a:r>
            <a:r>
              <a:rPr lang="en-US" altLang="ko-KR" spc="-75" dirty="0"/>
              <a:t>A</a:t>
            </a:r>
            <a:r>
              <a:rPr lang="ko-KR" altLang="en-US" spc="-75" dirty="0"/>
              <a:t>에 </a:t>
            </a:r>
            <a:r>
              <a:rPr lang="ko-KR" altLang="en-US" spc="-75" dirty="0" err="1"/>
              <a:t>로드하라는</a:t>
            </a:r>
            <a:r>
              <a:rPr lang="ko-KR" altLang="en-US" spc="-75" dirty="0"/>
              <a:t> 의미</a:t>
            </a:r>
            <a:endParaRPr lang="en-US" altLang="ko-KR" spc="-75" dirty="0"/>
          </a:p>
          <a:p>
            <a:pPr marL="272653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B0F0"/>
                </a:solidFill>
                <a:latin typeface="MS Gothic"/>
              </a:rPr>
              <a:t>❸ </a:t>
            </a:r>
            <a:r>
              <a:rPr lang="en-US" altLang="ko-KR" spc="-75" dirty="0">
                <a:solidFill>
                  <a:srgbClr val="00B0F0"/>
                </a:solidFill>
              </a:rPr>
              <a:t>STOR Z, A</a:t>
            </a:r>
            <a:endParaRPr lang="en-US" altLang="ko-KR" spc="-75" dirty="0"/>
          </a:p>
          <a:p>
            <a:pPr marL="535781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레지스터 </a:t>
            </a:r>
            <a:r>
              <a:rPr lang="en-US" altLang="ko-KR" spc="-75" dirty="0"/>
              <a:t>A</a:t>
            </a:r>
            <a:r>
              <a:rPr lang="ko-KR" altLang="en-US" spc="-75" dirty="0"/>
              <a:t>의 내용을 메모리 </a:t>
            </a:r>
            <a:r>
              <a:rPr lang="en-US" altLang="ko-KR" spc="-75" dirty="0"/>
              <a:t>12</a:t>
            </a:r>
            <a:r>
              <a:rPr lang="ko-KR" altLang="en-US" spc="-75" dirty="0"/>
              <a:t>번지에 저장하라는 의미</a:t>
            </a:r>
            <a:endParaRPr lang="en-US" altLang="ko-KR" spc="-75" dirty="0"/>
          </a:p>
        </p:txBody>
      </p:sp>
      <p:sp>
        <p:nvSpPr>
          <p:cNvPr id="3" name="직사각형 2"/>
          <p:cNvSpPr/>
          <p:nvPr/>
        </p:nvSpPr>
        <p:spPr>
          <a:xfrm>
            <a:off x="5040052" y="3789040"/>
            <a:ext cx="3132348" cy="2212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5731" indent="-135731">
              <a:lnSpc>
                <a:spcPct val="120000"/>
              </a:lnSpc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ko-KR" altLang="en-US" sz="1600" b="1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연산 코드</a:t>
            </a:r>
            <a:r>
              <a:rPr lang="en-US" altLang="ko-KR" sz="16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(opcode)</a:t>
            </a:r>
          </a:p>
          <a:p>
            <a:pPr marL="202406" lvl="1" indent="-123825">
              <a:lnSpc>
                <a:spcPct val="12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수행할 연산을 지정하는 비트들</a:t>
            </a:r>
            <a:endParaRPr lang="en-US" altLang="ko-KR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02406" lvl="1" indent="-123825">
              <a:lnSpc>
                <a:spcPct val="12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 수 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3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지정할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 있는 </a:t>
            </a:r>
            <a:endParaRPr lang="en-US" altLang="ko-KR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8581" lvl="1">
              <a:lnSpc>
                <a:spcPct val="120000"/>
              </a:lnSpc>
              <a:buClr>
                <a:srgbClr val="00B0F0"/>
              </a:buClr>
            </a:pP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연산의 최대 수 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200" spc="-75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8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35731" indent="-135731">
              <a:lnSpc>
                <a:spcPct val="120000"/>
              </a:lnSpc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ko-KR" altLang="en-US" sz="1600" b="1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오퍼랜드</a:t>
            </a:r>
            <a:r>
              <a:rPr lang="en-US" altLang="ko-KR" sz="16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(operand)</a:t>
            </a:r>
          </a:p>
          <a:p>
            <a:pPr marL="202406" lvl="1" indent="-123825">
              <a:lnSpc>
                <a:spcPct val="12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연산에 시용될 데이터가 저장되어 있는 기억장치 주소</a:t>
            </a:r>
            <a:endParaRPr lang="en-US" altLang="ko-KR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02406" lvl="1" indent="-123825">
              <a:lnSpc>
                <a:spcPct val="12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 수 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5 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75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주소지정할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 있는 기억 장소의 최대 수 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lang="en-US" altLang="ko-KR" sz="1200" spc="-75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= 32 </a:t>
            </a:r>
            <a:r>
              <a:rPr lang="ko-KR" altLang="en-US" sz="1200" spc="-7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1200" spc="-7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 descr="텍스트, 스크린샷, 폰트, 번호이(가) 표시된 사진">
            <a:extLst>
              <a:ext uri="{FF2B5EF4-FFF2-40B4-BE49-F238E27FC236}">
                <a16:creationId xmlns:a16="http://schemas.microsoft.com/office/drawing/2014/main" id="{9C606D47-54E2-7896-28F1-5DF1F48A2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645024"/>
            <a:ext cx="3408997" cy="268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21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폰트이(가) 표시된 사진">
            <a:extLst>
              <a:ext uri="{FF2B5EF4-FFF2-40B4-BE49-F238E27FC236}">
                <a16:creationId xmlns:a16="http://schemas.microsoft.com/office/drawing/2014/main" id="{6C30C7CF-74B9-2513-C17B-D6C25D764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815228"/>
            <a:ext cx="4396877" cy="460740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pc="-75" dirty="0"/>
              <a:t> 프로그램과 데이터가 주기억장치에 저장되어 있는 형태</a:t>
            </a:r>
            <a:endParaRPr lang="en-US" altLang="ko-KR" spc="-75" dirty="0"/>
          </a:p>
          <a:p>
            <a:pPr marL="407194" indent="-1524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b="0" spc="-75" dirty="0"/>
              <a:t>명령어와 데이터는 지정된 기억 장소에 저장</a:t>
            </a:r>
            <a:endParaRPr lang="en-US" altLang="ko-KR" sz="1600" b="0" spc="-75" dirty="0"/>
          </a:p>
          <a:p>
            <a:pPr marL="407194" indent="-1524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b="0" spc="-105" dirty="0"/>
              <a:t>워드</a:t>
            </a:r>
            <a:r>
              <a:rPr lang="en-US" altLang="ko-KR" sz="1600" b="0" spc="-105" dirty="0"/>
              <a:t>(word) </a:t>
            </a:r>
            <a:r>
              <a:rPr lang="ko-KR" altLang="en-US" sz="1600" b="0" spc="-105" dirty="0"/>
              <a:t>단위로 저장</a:t>
            </a:r>
            <a:r>
              <a:rPr lang="en-US" altLang="ko-KR" sz="1600" b="0" spc="-105" dirty="0"/>
              <a:t>. </a:t>
            </a:r>
            <a:r>
              <a:rPr lang="ko-KR" altLang="en-US" sz="1600" b="0" spc="-105" dirty="0"/>
              <a:t>워드는 </a:t>
            </a:r>
            <a:r>
              <a:rPr lang="en-US" altLang="ko-KR" sz="1600" b="0" spc="-105" dirty="0"/>
              <a:t>CPU</a:t>
            </a:r>
            <a:r>
              <a:rPr lang="ko-KR" altLang="en-US" sz="1600" b="0" spc="-105" dirty="0"/>
              <a:t>에 의해 한 번에 처리될 수 있는 비트들의 그룹</a:t>
            </a:r>
            <a:r>
              <a:rPr lang="en-US" altLang="ko-KR" sz="1600" b="0" spc="-105" dirty="0"/>
              <a:t>(8, 16, 32, 66</a:t>
            </a:r>
            <a:r>
              <a:rPr lang="ko-KR" altLang="en-US" sz="1600" b="0" spc="-105" dirty="0"/>
              <a:t>비트</a:t>
            </a:r>
            <a:r>
              <a:rPr lang="en-US" altLang="ko-KR" sz="1600" b="0" spc="-105" dirty="0"/>
              <a:t>)</a:t>
            </a:r>
            <a:endParaRPr lang="ko-KR" altLang="en-US" sz="1600" b="0" spc="-105" dirty="0"/>
          </a:p>
        </p:txBody>
      </p:sp>
      <p:sp>
        <p:nvSpPr>
          <p:cNvPr id="3" name="오른쪽 중괄호 2"/>
          <p:cNvSpPr/>
          <p:nvPr/>
        </p:nvSpPr>
        <p:spPr>
          <a:xfrm>
            <a:off x="3121600" y="2285304"/>
            <a:ext cx="108012" cy="594066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6" name="오른쪽 중괄호 5"/>
          <p:cNvSpPr/>
          <p:nvPr/>
        </p:nvSpPr>
        <p:spPr>
          <a:xfrm>
            <a:off x="3124140" y="4972715"/>
            <a:ext cx="105475" cy="410617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3250437" y="2455379"/>
            <a:ext cx="605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0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명령어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57" y="5051064"/>
            <a:ext cx="605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0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</a:p>
        </p:txBody>
      </p:sp>
    </p:spTree>
    <p:extLst>
      <p:ext uri="{BB962C8B-B14F-4D97-AF65-F5344CB8AC3E}">
        <p14:creationId xmlns:p14="http://schemas.microsoft.com/office/powerpoint/2010/main" val="113082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72502" y="773705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150"/>
              </a:spcAft>
              <a:buNone/>
            </a:pPr>
            <a:r>
              <a:rPr lang="ko-KR" altLang="en-US" spc="-75" dirty="0">
                <a:solidFill>
                  <a:srgbClr val="2B6278"/>
                </a:solidFill>
              </a:rPr>
              <a:t>     컴퓨터 시스템의 계층 레벨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6</a:t>
            </a:r>
            <a:r>
              <a:rPr lang="en-US" altLang="ko-KR" spc="-75" dirty="0"/>
              <a:t> :</a:t>
            </a:r>
            <a:r>
              <a:rPr lang="ko-KR" altLang="en-US" spc="-75" dirty="0"/>
              <a:t> 사용자 레벨이며 응용 프로그램들로 구성된다</a:t>
            </a:r>
            <a:r>
              <a:rPr lang="en-US" altLang="ko-KR" spc="-75" dirty="0"/>
              <a:t>. </a:t>
            </a:r>
            <a:r>
              <a:rPr lang="ko-KR" altLang="en-US" spc="-75" dirty="0"/>
              <a:t>이 레벨에서 사용자들은 워드 프로세서</a:t>
            </a:r>
            <a:r>
              <a:rPr lang="en-US" altLang="ko-KR" spc="-75" dirty="0"/>
              <a:t>, </a:t>
            </a:r>
            <a:r>
              <a:rPr lang="ko-KR" altLang="en-US" spc="-75" dirty="0"/>
              <a:t>그래픽 패키지</a:t>
            </a:r>
            <a:r>
              <a:rPr lang="en-US" altLang="ko-KR" spc="-75" dirty="0"/>
              <a:t>, </a:t>
            </a:r>
            <a:r>
              <a:rPr lang="ko-KR" altLang="en-US" spc="-75" dirty="0"/>
              <a:t>게임 등과 같은 프로그램을 동작시킨다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5</a:t>
            </a:r>
            <a:r>
              <a:rPr lang="en-US" altLang="ko-KR" spc="-75" dirty="0"/>
              <a:t> :</a:t>
            </a:r>
            <a:r>
              <a:rPr lang="ko-KR" altLang="en-US" spc="-75" dirty="0"/>
              <a:t> </a:t>
            </a:r>
            <a:r>
              <a:rPr lang="en-US" altLang="ko-KR" spc="-75" dirty="0"/>
              <a:t>C/C++, JAVA, FORTRAN</a:t>
            </a:r>
            <a:r>
              <a:rPr lang="ko-KR" altLang="en-US" spc="-75" dirty="0"/>
              <a:t> 같은 고급 언어로 구성되어 있다</a:t>
            </a:r>
            <a:r>
              <a:rPr lang="en-US" altLang="ko-KR" spc="-75" dirty="0"/>
              <a:t>. </a:t>
            </a:r>
            <a:r>
              <a:rPr lang="ko-KR" altLang="en-US" spc="-75" dirty="0"/>
              <a:t>고급 언어 → 어셈블리어 → 기계어 순으로 변환된다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56692" y="764704"/>
            <a:ext cx="382859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4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56176" y="4293096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컴퓨터 구조에서는</a:t>
            </a:r>
            <a:endParaRPr lang="en-US" altLang="ko-KR" sz="1200" spc="-75" dirty="0">
              <a:solidFill>
                <a:srgbClr val="00B0F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</a:t>
            </a:r>
            <a:r>
              <a:rPr lang="en-US" altLang="ko-KR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레벨 </a:t>
            </a:r>
            <a:r>
              <a:rPr lang="en-US" altLang="ko-KR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다룬다</a:t>
            </a:r>
            <a:r>
              <a:rPr lang="en-US" altLang="ko-KR" sz="1200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spc="-75" dirty="0">
              <a:solidFill>
                <a:srgbClr val="00B0F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 descr="텍스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BECA59-5F6E-DA2F-875A-C135217D9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85555"/>
            <a:ext cx="5506218" cy="412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46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 </a:t>
            </a:r>
            <a:r>
              <a:rPr lang="ko-KR" altLang="en-US" dirty="0"/>
              <a:t>컴퓨터 시스템의 구성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07194" lvl="1" indent="-121444">
              <a:lnSpc>
                <a:spcPct val="120000"/>
              </a:lnSpc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4</a:t>
            </a:r>
            <a:r>
              <a:rPr lang="en-US" altLang="ko-KR" spc="-75" dirty="0"/>
              <a:t> :</a:t>
            </a:r>
            <a:r>
              <a:rPr lang="ko-KR" altLang="en-US" spc="-75" dirty="0"/>
              <a:t> 어셈블리어를 포함한다</a:t>
            </a:r>
            <a:r>
              <a:rPr lang="en-US" altLang="ko-KR" spc="-75" dirty="0"/>
              <a:t>. </a:t>
            </a:r>
            <a:r>
              <a:rPr lang="ko-KR" altLang="en-US" spc="-75" dirty="0"/>
              <a:t>어셈블리어 명령어 </a:t>
            </a:r>
            <a:r>
              <a:rPr lang="en-US" altLang="ko-KR" spc="-75" dirty="0"/>
              <a:t>1</a:t>
            </a:r>
            <a:r>
              <a:rPr lang="ko-KR" altLang="en-US" spc="-75" dirty="0"/>
              <a:t>개가 정확히 기계어 명령어 </a:t>
            </a:r>
            <a:r>
              <a:rPr lang="en-US" altLang="ko-KR" spc="-75" dirty="0"/>
              <a:t>1</a:t>
            </a:r>
            <a:r>
              <a:rPr lang="ko-KR" altLang="en-US" spc="-75" dirty="0"/>
              <a:t>개로 변환된다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20000"/>
              </a:lnSpc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3</a:t>
            </a:r>
            <a:r>
              <a:rPr lang="en-US" altLang="ko-KR" spc="-75" dirty="0"/>
              <a:t> :</a:t>
            </a:r>
            <a:r>
              <a:rPr lang="ko-KR" altLang="en-US" spc="-75" dirty="0"/>
              <a:t> 시스템 소프트웨어 레벨로 운영체제와 라이브러리들로 구성된다</a:t>
            </a:r>
            <a:r>
              <a:rPr lang="en-US" altLang="ko-KR" spc="-75" dirty="0"/>
              <a:t>. </a:t>
            </a:r>
            <a:r>
              <a:rPr lang="ko-KR" altLang="en-US" spc="-75" dirty="0"/>
              <a:t>이 레벨은 다중 프로그래밍</a:t>
            </a:r>
            <a:r>
              <a:rPr lang="en-US" altLang="ko-KR" spc="-75" dirty="0"/>
              <a:t>, </a:t>
            </a:r>
            <a:r>
              <a:rPr lang="ko-KR" altLang="en-US" spc="-75" dirty="0"/>
              <a:t>메모리 할당</a:t>
            </a:r>
            <a:r>
              <a:rPr lang="en-US" altLang="ko-KR" spc="-75" dirty="0"/>
              <a:t>, </a:t>
            </a:r>
            <a:r>
              <a:rPr lang="ko-KR" altLang="en-US" spc="-75" dirty="0"/>
              <a:t>프로세스 관리와 기타 중요 기능을 담당한다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20000"/>
              </a:lnSpc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2</a:t>
            </a:r>
            <a:r>
              <a:rPr lang="en-US" altLang="ko-KR" spc="-75" dirty="0"/>
              <a:t> :</a:t>
            </a:r>
            <a:r>
              <a:rPr lang="ko-KR" altLang="en-US" spc="-75" dirty="0"/>
              <a:t> 명령어 세트 아키텍처</a:t>
            </a:r>
            <a:r>
              <a:rPr lang="en-US" altLang="ko-KR" spc="-75" dirty="0"/>
              <a:t>(Instruction Set Architecture, ISA) </a:t>
            </a:r>
            <a:r>
              <a:rPr lang="ko-KR" altLang="en-US" spc="-75" dirty="0"/>
              <a:t>레벨인 컴퓨터 시스템의 특정 구조에 의해 인식되는 기계어로 구성되어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레벨 </a:t>
            </a:r>
            <a:r>
              <a:rPr lang="en-US" altLang="ko-KR" b="1" spc="-75" dirty="0">
                <a:solidFill>
                  <a:srgbClr val="00B0F0"/>
                </a:solidFill>
              </a:rPr>
              <a:t>1</a:t>
            </a:r>
            <a:r>
              <a:rPr lang="ko-KR" altLang="en-US" spc="-75" dirty="0"/>
              <a:t>은 제어 레벨로 제어 장치가 명령어들을 해독</a:t>
            </a:r>
            <a:r>
              <a:rPr lang="en-US" altLang="ko-KR" spc="-75" dirty="0"/>
              <a:t>(decode)</a:t>
            </a:r>
            <a:r>
              <a:rPr lang="ko-KR" altLang="en-US" spc="-75" dirty="0"/>
              <a:t>하고 실행하며</a:t>
            </a:r>
            <a:r>
              <a:rPr lang="en-US" altLang="ko-KR" spc="-75" dirty="0"/>
              <a:t>, </a:t>
            </a:r>
            <a:r>
              <a:rPr lang="ko-KR" altLang="en-US" spc="-75" dirty="0"/>
              <a:t>데이터들을 이동할 시간과 장소들을 결정한다</a:t>
            </a:r>
            <a:r>
              <a:rPr lang="en-US" altLang="ko-KR" spc="-75" dirty="0"/>
              <a:t>. </a:t>
            </a:r>
            <a:r>
              <a:rPr lang="ko-KR" altLang="en-US" spc="-75" dirty="0"/>
              <a:t>제어 장치는 레벨 </a:t>
            </a:r>
            <a:r>
              <a:rPr lang="en-US" altLang="ko-KR" spc="-75" dirty="0"/>
              <a:t>2</a:t>
            </a:r>
            <a:r>
              <a:rPr lang="ko-KR" altLang="en-US" spc="-75" dirty="0"/>
              <a:t>에서 기계어 명령어를 한번에 하나씩 읽어서 필요한 동작을 수행하기 위한 신호들을 발생시킨다</a:t>
            </a:r>
            <a:r>
              <a:rPr lang="en-US" altLang="ko-KR" spc="-75" dirty="0"/>
              <a:t>. </a:t>
            </a:r>
            <a:r>
              <a:rPr lang="ko-KR" altLang="en-US" spc="-75" dirty="0"/>
              <a:t>제어 장치는 하드와이어 </a:t>
            </a:r>
            <a:r>
              <a:rPr lang="en-US" altLang="ko-KR" spc="-75" dirty="0"/>
              <a:t>hardwired </a:t>
            </a:r>
            <a:r>
              <a:rPr lang="ko-KR" altLang="en-US" spc="-75" dirty="0"/>
              <a:t>방식과 마이크로 프로그램 </a:t>
            </a:r>
            <a:r>
              <a:rPr lang="en-US" altLang="ko-KR" spc="-75" dirty="0"/>
              <a:t>microprogrammed </a:t>
            </a:r>
            <a:r>
              <a:rPr lang="ko-KR" altLang="en-US" spc="-75" dirty="0"/>
              <a:t>방식 중 하나로 구현할 수 있다</a:t>
            </a:r>
            <a:r>
              <a:rPr lang="en-US" altLang="ko-KR" spc="-75" dirty="0"/>
              <a:t>(5</a:t>
            </a:r>
            <a:r>
              <a:rPr lang="ko-KR" altLang="en-US" spc="-75" dirty="0"/>
              <a:t>장에서 설명</a:t>
            </a:r>
            <a:r>
              <a:rPr lang="en-US" altLang="ko-KR" spc="-75" dirty="0"/>
              <a:t>).</a:t>
            </a:r>
            <a:endParaRPr lang="ko-KR" altLang="en-US" spc="-75" dirty="0"/>
          </a:p>
        </p:txBody>
      </p:sp>
    </p:spTree>
    <p:extLst>
      <p:ext uri="{BB962C8B-B14F-4D97-AF65-F5344CB8AC3E}">
        <p14:creationId xmlns:p14="http://schemas.microsoft.com/office/powerpoint/2010/main" val="3316761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pc="-75" dirty="0">
                <a:solidFill>
                  <a:srgbClr val="2B6278"/>
                </a:solidFill>
              </a:rPr>
              <a:t>     컴퓨터의 발전 과정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335756" lvl="1" indent="-214313">
              <a:lnSpc>
                <a:spcPct val="110000"/>
              </a:lnSpc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초기의 계산 도구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계산을 하는 도구로서 가장 간단한 것은 주판이며</a:t>
            </a:r>
            <a:r>
              <a:rPr lang="en-US" altLang="ko-KR" spc="-75" dirty="0"/>
              <a:t>, </a:t>
            </a:r>
            <a:r>
              <a:rPr lang="ko-KR" altLang="en-US" spc="-75" dirty="0"/>
              <a:t>기원전 약 </a:t>
            </a:r>
            <a:r>
              <a:rPr lang="en-US" altLang="ko-KR" spc="-75" dirty="0"/>
              <a:t>3000</a:t>
            </a:r>
            <a:r>
              <a:rPr lang="ko-KR" altLang="en-US" spc="-75" dirty="0"/>
              <a:t>년 전 고대 메소포타미아 인들이 가장 먼저 사용했다고 추정된다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주판을 제외하면 </a:t>
            </a:r>
            <a:r>
              <a:rPr lang="en-US" altLang="ko-KR" spc="-75" dirty="0"/>
              <a:t>17</a:t>
            </a:r>
            <a:r>
              <a:rPr lang="ko-KR" altLang="en-US" spc="-75" dirty="0"/>
              <a:t>세기에 이르도록 계산을 위한 특별한 도구가 없었다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기계식 계산기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톱니바퀴를 이용한 수동 계산기</a:t>
            </a:r>
            <a:r>
              <a:rPr lang="ko-KR" altLang="en-US" spc="-75" dirty="0"/>
              <a:t> </a:t>
            </a:r>
            <a:r>
              <a:rPr lang="en-US" altLang="ko-KR" spc="-75" dirty="0"/>
              <a:t>: </a:t>
            </a:r>
            <a:r>
              <a:rPr lang="ko-KR" altLang="en-US" spc="-75" dirty="0"/>
              <a:t>기어로 연결된 </a:t>
            </a:r>
            <a:r>
              <a:rPr lang="ko-KR" altLang="en-US" spc="-75" dirty="0" err="1"/>
              <a:t>바퀴판들로</a:t>
            </a:r>
            <a:r>
              <a:rPr lang="ko-KR" altLang="en-US" spc="-75" dirty="0"/>
              <a:t> 덧셈과 뺄셈 수행</a:t>
            </a:r>
            <a:r>
              <a:rPr lang="en-US" altLang="ko-KR" spc="-75" dirty="0"/>
              <a:t>(1642</a:t>
            </a:r>
            <a:r>
              <a:rPr lang="ko-KR" altLang="en-US" spc="-75" dirty="0"/>
              <a:t>년 파스칼</a:t>
            </a:r>
            <a:r>
              <a:rPr lang="en-US" altLang="ko-KR" spc="-75" dirty="0"/>
              <a:t>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1671</a:t>
            </a:r>
            <a:r>
              <a:rPr lang="ko-KR" altLang="en-US" spc="-75" dirty="0"/>
              <a:t>년 독일의 라이프니츠는 이를 개량하여 곱셈과 나눗셈도 가능한 계산기를 발명하였다</a:t>
            </a:r>
            <a:r>
              <a:rPr lang="en-US" altLang="ko-KR" spc="-75" dirty="0"/>
              <a:t>. </a:t>
            </a:r>
            <a:r>
              <a:rPr lang="ko-KR" altLang="en-US" spc="-75" dirty="0"/>
              <a:t>또 라이프니츠는 기계 장치에 더 적합한 진법을 연구해서</a:t>
            </a:r>
            <a:r>
              <a:rPr lang="en-US" altLang="ko-KR" spc="-75" dirty="0"/>
              <a:t> 17</a:t>
            </a:r>
            <a:r>
              <a:rPr lang="ko-KR" altLang="en-US" spc="-75" dirty="0"/>
              <a:t>세기 후반에 </a:t>
            </a:r>
            <a:r>
              <a:rPr lang="en-US" altLang="ko-KR" spc="-75" dirty="0"/>
              <a:t>2</a:t>
            </a:r>
            <a:r>
              <a:rPr lang="ko-KR" altLang="en-US" spc="-75" dirty="0"/>
              <a:t>진법을 창안했다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차분 기관</a:t>
            </a:r>
            <a:r>
              <a:rPr lang="en-US" altLang="ko-KR" spc="-75" dirty="0"/>
              <a:t>(difference engine) : 1823</a:t>
            </a:r>
            <a:r>
              <a:rPr lang="ko-KR" altLang="en-US" spc="-75" dirty="0"/>
              <a:t>년 영국의 </a:t>
            </a:r>
            <a:r>
              <a:rPr lang="ko-KR" altLang="en-US" spc="-75" dirty="0" err="1"/>
              <a:t>배비지가</a:t>
            </a:r>
            <a:r>
              <a:rPr lang="ko-KR" altLang="en-US" spc="-75" dirty="0"/>
              <a:t> 삼각함수를 유효숫자 </a:t>
            </a:r>
            <a:r>
              <a:rPr lang="en-US" altLang="ko-KR" spc="-75" dirty="0"/>
              <a:t>5</a:t>
            </a:r>
            <a:r>
              <a:rPr lang="ko-KR" altLang="en-US" spc="-75" dirty="0"/>
              <a:t>자리까지 계산하여 종이에 표로 인쇄하였다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02857" y="764704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810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기계식 계산기</a:t>
            </a:r>
            <a:r>
              <a:rPr lang="en-US" altLang="ko-KR" sz="1800" b="1" spc="-75" dirty="0"/>
              <a:t>(</a:t>
            </a:r>
            <a:r>
              <a:rPr lang="ko-KR" altLang="en-US" sz="1800" b="1" spc="-75" dirty="0"/>
              <a:t>계속</a:t>
            </a:r>
            <a:r>
              <a:rPr lang="en-US" altLang="ko-KR" sz="1800" b="1" spc="-75" dirty="0"/>
              <a:t>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해석 기관</a:t>
            </a:r>
            <a:r>
              <a:rPr lang="en-US" altLang="ko-KR" spc="-75" dirty="0"/>
              <a:t>(analytical engine) : </a:t>
            </a:r>
            <a:r>
              <a:rPr lang="ko-KR" altLang="en-US" spc="-75" dirty="0"/>
              <a:t>방정식을 순차적으로 풀 수 있도록 고안된 기계식 계산기</a:t>
            </a:r>
            <a:r>
              <a:rPr lang="en-US" altLang="ko-KR" spc="-75" dirty="0"/>
              <a:t>(1833</a:t>
            </a:r>
            <a:r>
              <a:rPr lang="ko-KR" altLang="en-US" spc="-75" dirty="0"/>
              <a:t>년</a:t>
            </a:r>
            <a:r>
              <a:rPr lang="en-US" altLang="ko-KR" spc="-75" dirty="0"/>
              <a:t>, </a:t>
            </a:r>
            <a:r>
              <a:rPr lang="ko-KR" altLang="en-US" spc="-75" dirty="0" err="1"/>
              <a:t>베비지</a:t>
            </a:r>
            <a:r>
              <a:rPr lang="en-US" altLang="ko-KR" spc="-75" dirty="0"/>
              <a:t>). </a:t>
            </a:r>
            <a:r>
              <a:rPr lang="ko-KR" altLang="en-US" spc="-75" dirty="0"/>
              <a:t>오늘날 사용하는 컴퓨터의 기본 요소를 모두 갖춘 것이었다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천공 카드 시스템</a:t>
            </a:r>
            <a:r>
              <a:rPr lang="en-US" altLang="ko-KR" spc="-75" dirty="0"/>
              <a:t>(Punch Card System, PCS) : 1889</a:t>
            </a:r>
            <a:r>
              <a:rPr lang="ko-KR" altLang="en-US" spc="-75" dirty="0"/>
              <a:t>년 미국의 </a:t>
            </a:r>
            <a:r>
              <a:rPr lang="ko-KR" altLang="en-US" spc="-75" dirty="0" err="1"/>
              <a:t>홀러리스는</a:t>
            </a:r>
            <a:r>
              <a:rPr lang="ko-KR" altLang="en-US" spc="-75" dirty="0"/>
              <a:t> 인구조사에 활용하기 위한 시스템을 만들었다</a:t>
            </a:r>
            <a:r>
              <a:rPr lang="en-US" altLang="ko-KR" spc="-75" dirty="0"/>
              <a:t>. </a:t>
            </a:r>
            <a:r>
              <a:rPr lang="ko-KR" altLang="en-US" spc="-75" dirty="0"/>
              <a:t>종이 카드에 구멍을 뚫어 자료를 처리하는 시스템으로 수 백 장의 카드를 읽고 기억하는 데 </a:t>
            </a:r>
            <a:r>
              <a:rPr lang="en-US" altLang="ko-KR" spc="-75" dirty="0"/>
              <a:t>1</a:t>
            </a:r>
            <a:r>
              <a:rPr lang="ko-KR" altLang="en-US" spc="-75" dirty="0"/>
              <a:t>분도 걸리지 않았다</a:t>
            </a:r>
            <a:r>
              <a:rPr lang="en-US" altLang="ko-KR" spc="-75" dirty="0"/>
              <a:t>. </a:t>
            </a:r>
            <a:r>
              <a:rPr lang="ko-KR" altLang="en-US" spc="-75" dirty="0"/>
              <a:t>그 결과 </a:t>
            </a:r>
            <a:r>
              <a:rPr lang="en-US" altLang="ko-KR" spc="-75" dirty="0"/>
              <a:t>1890</a:t>
            </a:r>
            <a:r>
              <a:rPr lang="ko-KR" altLang="en-US" spc="-75" dirty="0"/>
              <a:t>년에 시행된 인구조사에서는 </a:t>
            </a:r>
            <a:r>
              <a:rPr lang="en-US" altLang="ko-KR" spc="-75" dirty="0"/>
              <a:t>7</a:t>
            </a:r>
            <a:r>
              <a:rPr lang="ko-KR" altLang="en-US" spc="-75" dirty="0"/>
              <a:t>년 이상이 걸리던 통계 처리 시간을 </a:t>
            </a:r>
            <a:r>
              <a:rPr lang="en-US" altLang="ko-KR" spc="-75" dirty="0"/>
              <a:t>3</a:t>
            </a:r>
            <a:r>
              <a:rPr lang="ko-KR" altLang="en-US" spc="-75" dirty="0"/>
              <a:t>년 이하로 단축시켰다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227688-4A69-C112-02C0-7F4B4277C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67" y="1844824"/>
            <a:ext cx="4736968" cy="250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2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전기 기계식 계산기</a:t>
            </a:r>
            <a:endParaRPr lang="en-US" altLang="ko-KR" sz="1800" b="1" spc="-75" dirty="0"/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b="1" spc="-75" dirty="0">
                <a:solidFill>
                  <a:srgbClr val="00B0F0"/>
                </a:solidFill>
              </a:rPr>
              <a:t>MARK-I</a:t>
            </a:r>
            <a:r>
              <a:rPr lang="en-US" altLang="ko-KR" spc="-75" dirty="0"/>
              <a:t>  : 1944</a:t>
            </a:r>
            <a:r>
              <a:rPr lang="ko-KR" altLang="en-US" spc="-75" dirty="0"/>
              <a:t>년 하버드 대학의 </a:t>
            </a:r>
            <a:r>
              <a:rPr lang="ko-KR" altLang="en-US" spc="-75" dirty="0" err="1"/>
              <a:t>에이킨이</a:t>
            </a:r>
            <a:r>
              <a:rPr lang="en-US" altLang="ko-KR" spc="-75" dirty="0"/>
              <a:t> </a:t>
            </a:r>
            <a:r>
              <a:rPr lang="ko-KR" altLang="en-US" spc="-75" dirty="0"/>
              <a:t>개발</a:t>
            </a:r>
            <a:r>
              <a:rPr lang="en-US" altLang="ko-KR" spc="-75" dirty="0"/>
              <a:t>. MARK-I</a:t>
            </a:r>
            <a:r>
              <a:rPr lang="ko-KR" altLang="en-US" spc="-75" dirty="0"/>
              <a:t>은 </a:t>
            </a:r>
            <a:r>
              <a:rPr lang="ko-KR" altLang="en-US" spc="-75" dirty="0" err="1"/>
              <a:t>배비지의</a:t>
            </a:r>
            <a:r>
              <a:rPr lang="ko-KR" altLang="en-US" spc="-75" dirty="0"/>
              <a:t> 해석 기관을 실현시킨 것으로서 </a:t>
            </a:r>
            <a:r>
              <a:rPr lang="ko-KR" altLang="en-US" spc="-75" dirty="0" err="1"/>
              <a:t>미해군의</a:t>
            </a:r>
            <a:r>
              <a:rPr lang="ko-KR" altLang="en-US" spc="-75" dirty="0"/>
              <a:t> 탄도 계산에 이용되었으며</a:t>
            </a:r>
            <a:r>
              <a:rPr lang="en-US" altLang="ko-KR" spc="-75" dirty="0"/>
              <a:t>, </a:t>
            </a:r>
            <a:r>
              <a:rPr lang="ko-KR" altLang="en-US" spc="-75" dirty="0"/>
              <a:t>수많은 수학이나 과학 문제를 해결하는 데 공헌했다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2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전자식 계산기</a:t>
            </a:r>
            <a:endParaRPr lang="en-US" altLang="ko-KR" sz="1800" b="1" spc="-75" dirty="0"/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 err="1">
                <a:solidFill>
                  <a:srgbClr val="00B0F0"/>
                </a:solidFill>
              </a:rPr>
              <a:t>에니악</a:t>
            </a:r>
            <a:r>
              <a:rPr lang="en-US" altLang="ko-KR" spc="-75" dirty="0"/>
              <a:t>(ENIAC, Electronic Numerical Integrator And Computer) : </a:t>
            </a:r>
            <a:r>
              <a:rPr lang="ko-KR" altLang="en-US" spc="-75" dirty="0"/>
              <a:t>진공관을 사용한 최초의 전자식 컴퓨터</a:t>
            </a:r>
            <a:r>
              <a:rPr lang="en-US" altLang="ko-KR" spc="-75" dirty="0"/>
              <a:t>(1946</a:t>
            </a:r>
            <a:r>
              <a:rPr lang="ko-KR" altLang="en-US" spc="-75" dirty="0"/>
              <a:t>년</a:t>
            </a:r>
            <a:r>
              <a:rPr lang="en-US" altLang="ko-KR" spc="-75" dirty="0"/>
              <a:t>,</a:t>
            </a:r>
            <a:r>
              <a:rPr lang="ko-KR" altLang="en-US" spc="-75" dirty="0"/>
              <a:t> </a:t>
            </a:r>
            <a:r>
              <a:rPr lang="ko-KR" altLang="en-US" spc="-75" dirty="0" err="1"/>
              <a:t>에커트와</a:t>
            </a:r>
            <a:r>
              <a:rPr lang="ko-KR" altLang="en-US" spc="-75" dirty="0"/>
              <a:t> </a:t>
            </a:r>
            <a:r>
              <a:rPr lang="ko-KR" altLang="en-US" spc="-75" dirty="0" err="1"/>
              <a:t>모클리</a:t>
            </a:r>
            <a:r>
              <a:rPr lang="en-US" altLang="ko-KR" spc="-75" dirty="0"/>
              <a:t>)</a:t>
            </a:r>
          </a:p>
          <a:p>
            <a:pPr marL="407194" lvl="1" indent="-121444">
              <a:lnSpc>
                <a:spcPct val="120000"/>
              </a:lnSpc>
              <a:spcBef>
                <a:spcPts val="45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 err="1">
                <a:solidFill>
                  <a:srgbClr val="00B0F0"/>
                </a:solidFill>
              </a:rPr>
              <a:t>에드삭</a:t>
            </a:r>
            <a:r>
              <a:rPr lang="en-US" altLang="ko-KR" spc="-75" dirty="0"/>
              <a:t>(EDSAC, Electronic Delay Storage Automatic Calculator) : 10</a:t>
            </a:r>
            <a:r>
              <a:rPr lang="ko-KR" altLang="en-US" spc="-75" dirty="0"/>
              <a:t>진수 체계와 프로그램 내장 방식의 계산기</a:t>
            </a:r>
            <a:r>
              <a:rPr lang="en-US" altLang="ko-KR" spc="-75" dirty="0"/>
              <a:t>(1949</a:t>
            </a:r>
            <a:r>
              <a:rPr lang="ko-KR" altLang="en-US" spc="-75" dirty="0"/>
              <a:t>년</a:t>
            </a:r>
            <a:r>
              <a:rPr lang="en-US" altLang="ko-KR" spc="-75" dirty="0"/>
              <a:t>,</a:t>
            </a:r>
            <a:r>
              <a:rPr lang="ko-KR" altLang="en-US" spc="-75" dirty="0"/>
              <a:t> </a:t>
            </a:r>
            <a:r>
              <a:rPr lang="ko-KR" altLang="en-US" spc="-75" dirty="0" err="1"/>
              <a:t>윌키스</a:t>
            </a:r>
            <a:r>
              <a:rPr lang="en-US" altLang="ko-KR" spc="-75" dirty="0"/>
              <a:t>) </a:t>
            </a:r>
          </a:p>
          <a:p>
            <a:pPr marL="407194" lvl="1" indent="-121444">
              <a:lnSpc>
                <a:spcPct val="120000"/>
              </a:lnSpc>
              <a:spcBef>
                <a:spcPts val="45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 err="1">
                <a:solidFill>
                  <a:srgbClr val="00B0F0"/>
                </a:solidFill>
              </a:rPr>
              <a:t>에드박</a:t>
            </a:r>
            <a:r>
              <a:rPr lang="en-US" altLang="ko-KR" spc="-75" dirty="0"/>
              <a:t>(EDVAC, Electronic Discrete Variable Automatic Computer) : 2</a:t>
            </a:r>
            <a:r>
              <a:rPr lang="ko-KR" altLang="en-US" spc="-75" dirty="0"/>
              <a:t>진수 체계와 프로그램 내장 방식을 적용</a:t>
            </a:r>
            <a:r>
              <a:rPr lang="en-US" altLang="ko-KR" spc="-75" dirty="0"/>
              <a:t>(1951</a:t>
            </a:r>
            <a:r>
              <a:rPr lang="ko-KR" altLang="en-US" spc="-75" dirty="0"/>
              <a:t>년</a:t>
            </a:r>
            <a:r>
              <a:rPr lang="en-US" altLang="ko-KR" spc="-75" dirty="0"/>
              <a:t>,</a:t>
            </a:r>
            <a:r>
              <a:rPr lang="ko-KR" altLang="en-US" spc="-75" dirty="0"/>
              <a:t> 폰 </a:t>
            </a:r>
            <a:r>
              <a:rPr lang="ko-KR" altLang="en-US" spc="-75" dirty="0" err="1"/>
              <a:t>노이만</a:t>
            </a:r>
            <a:r>
              <a:rPr lang="en-US" altLang="ko-KR" spc="-75" dirty="0"/>
              <a:t>)</a:t>
            </a:r>
          </a:p>
          <a:p>
            <a:pPr marL="407194" lvl="1" indent="-121444">
              <a:lnSpc>
                <a:spcPct val="120000"/>
              </a:lnSpc>
              <a:spcBef>
                <a:spcPts val="45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 err="1">
                <a:solidFill>
                  <a:srgbClr val="00B0F0"/>
                </a:solidFill>
              </a:rPr>
              <a:t>유니박</a:t>
            </a:r>
            <a:r>
              <a:rPr lang="en-US" altLang="ko-KR" spc="-75" dirty="0"/>
              <a:t>(UNIVAC, </a:t>
            </a:r>
            <a:r>
              <a:rPr lang="en-US" altLang="ko-KR" spc="-75" dirty="0" err="1"/>
              <a:t>UNIVersal</a:t>
            </a:r>
            <a:r>
              <a:rPr lang="en-US" altLang="ko-KR" spc="-75" dirty="0"/>
              <a:t> Automatic Computer) : </a:t>
            </a:r>
            <a:r>
              <a:rPr lang="ko-KR" altLang="en-US" spc="-75" dirty="0"/>
              <a:t>최초의 상용 컴퓨터</a:t>
            </a:r>
            <a:r>
              <a:rPr lang="en-US" altLang="ko-KR" spc="-75" dirty="0"/>
              <a:t>, </a:t>
            </a:r>
            <a:r>
              <a:rPr lang="ko-KR" altLang="en-US" spc="-75" dirty="0"/>
              <a:t>인구조사통계국에 설치</a:t>
            </a:r>
            <a:r>
              <a:rPr lang="en-US" altLang="ko-KR" spc="-75" dirty="0"/>
              <a:t>(1951</a:t>
            </a:r>
            <a:r>
              <a:rPr lang="ko-KR" altLang="en-US" spc="-75" dirty="0"/>
              <a:t>년</a:t>
            </a:r>
            <a:r>
              <a:rPr lang="en-US" altLang="ko-KR" spc="-75" dirty="0"/>
              <a:t>,</a:t>
            </a:r>
            <a:r>
              <a:rPr lang="ko-KR" altLang="en-US" spc="-75" dirty="0"/>
              <a:t> </a:t>
            </a:r>
            <a:r>
              <a:rPr lang="ko-KR" altLang="en-US" spc="-75" dirty="0" err="1"/>
              <a:t>모클리와</a:t>
            </a:r>
            <a:r>
              <a:rPr lang="ko-KR" altLang="en-US" spc="-75" dirty="0"/>
              <a:t> </a:t>
            </a:r>
            <a:r>
              <a:rPr lang="ko-KR" altLang="en-US" spc="-75" dirty="0" err="1"/>
              <a:t>에커트</a:t>
            </a:r>
            <a:r>
              <a:rPr lang="en-US" altLang="ko-KR" spc="-75" dirty="0"/>
              <a:t>)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sp>
        <p:nvSpPr>
          <p:cNvPr id="2" name="TextBox 1"/>
          <p:cNvSpPr txBox="1"/>
          <p:nvPr/>
        </p:nvSpPr>
        <p:spPr>
          <a:xfrm>
            <a:off x="1403648" y="5229200"/>
            <a:ext cx="6061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75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컴퓨터의 발전 과정에 있어서 진공관 및 프로그램 내장 방식의 사용은 근대에서 현대로 넘어</a:t>
            </a:r>
          </a:p>
          <a:p>
            <a:r>
              <a:rPr lang="ko-KR" altLang="en-US" sz="1200" b="1" spc="-75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오게 되는 분기점이 되었다</a:t>
            </a:r>
            <a:r>
              <a:rPr lang="en-US" altLang="ko-KR" sz="1200" b="1" spc="-75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b="1" spc="-75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81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 </a:t>
            </a:r>
            <a:r>
              <a:rPr lang="ko-KR" altLang="en-US" spc="-75" dirty="0">
                <a:solidFill>
                  <a:srgbClr val="2B6278"/>
                </a:solidFill>
              </a:rPr>
              <a:t>컴퓨터의 세대별 분류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컴퓨터의 발전 과정을 세대별로 명확하게 설명하기는 어렵지만 새로운 하드웨어 부품의 출현을 기준으로 분류되고 있다</a:t>
            </a:r>
            <a:r>
              <a:rPr lang="en-US" altLang="ko-KR" spc="-75" dirty="0"/>
              <a:t>.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49268" y="765488"/>
            <a:ext cx="390284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718" y="5744970"/>
            <a:ext cx="1285875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5676664"/>
            <a:ext cx="407631" cy="81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4247966" y="6331998"/>
            <a:ext cx="4876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pc="-75" dirty="0">
                <a:solidFill>
                  <a:srgbClr val="7030A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진공관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409036" y="6294115"/>
            <a:ext cx="4876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pc="-75" dirty="0">
                <a:solidFill>
                  <a:srgbClr val="7030A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릴레이</a:t>
            </a:r>
            <a:endParaRPr lang="ko-KR" altLang="en-US" sz="1050" dirty="0">
              <a:solidFill>
                <a:srgbClr val="7030A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14" name="Picture 4" descr="IC에 대한 이미지 검색결과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201" y="5744970"/>
            <a:ext cx="822938" cy="53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81" y="5704711"/>
            <a:ext cx="550069" cy="75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5220074" y="6286971"/>
            <a:ext cx="6896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pc="-75" dirty="0">
                <a:solidFill>
                  <a:srgbClr val="7030A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트랜지스터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641894" y="6286971"/>
            <a:ext cx="28405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spc="-75" dirty="0">
                <a:solidFill>
                  <a:srgbClr val="7030A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IC</a:t>
            </a:r>
            <a:endParaRPr lang="ko-KR" altLang="en-US" sz="1050" spc="-75" dirty="0">
              <a:solidFill>
                <a:srgbClr val="7030A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390629-179A-DF67-FB74-002BBB10FC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29071"/>
            <a:ext cx="7562953" cy="33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43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z="1600" spc="-75" dirty="0"/>
              <a:t> 집적 회로의 분류</a:t>
            </a:r>
            <a:endParaRPr lang="en-US" altLang="ko-KR" sz="1600" spc="-75" dirty="0"/>
          </a:p>
          <a:p>
            <a:pPr marL="407194" indent="-13096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b="0" spc="-90" dirty="0"/>
              <a:t>집적 회로</a:t>
            </a:r>
            <a:r>
              <a:rPr lang="en-US" altLang="ko-KR" sz="1600" b="0" spc="-90" dirty="0"/>
              <a:t>(Integrated Circuit, IC)</a:t>
            </a:r>
            <a:r>
              <a:rPr lang="ko-KR" altLang="en-US" sz="1600" b="0" spc="-90" dirty="0"/>
              <a:t>가 개발된 </a:t>
            </a:r>
            <a:r>
              <a:rPr lang="en-US" altLang="ko-KR" sz="1600" b="0" spc="-90" dirty="0"/>
              <a:t>3</a:t>
            </a:r>
            <a:r>
              <a:rPr lang="ko-KR" altLang="en-US" sz="1600" b="0" spc="-90" dirty="0"/>
              <a:t>세대 이후에는 컴퓨터 세대에 대한 정의가 분명하지 않다</a:t>
            </a:r>
            <a:r>
              <a:rPr lang="en-US" altLang="ko-KR" sz="1600" b="0" spc="-90" dirty="0"/>
              <a:t>.</a:t>
            </a:r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en-US" altLang="ko-KR" sz="1600" spc="-75" dirty="0"/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z="1600" spc="-75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486196"/>
              </p:ext>
            </p:extLst>
          </p:nvPr>
        </p:nvGraphicFramePr>
        <p:xfrm>
          <a:off x="539552" y="1844824"/>
          <a:ext cx="7632848" cy="375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SSI</a:t>
                      </a:r>
                    </a:p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(Small Scale IC)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D2FF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1" indent="-1809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트랜지스터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수십 개가 집적된 소규모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IC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기본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게이트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 기능과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플립플롭이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 이에 해당한다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MSI</a:t>
                      </a:r>
                    </a:p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(Medium Scale IC)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D2FF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트랜지스터 수백 개가 집적된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중규모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IC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디코더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인코더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멀티플렉서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디멀티플렉서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카운터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레지스터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소형 기억장치 등의 기능을 포함한다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LSI</a:t>
                      </a:r>
                    </a:p>
                    <a:p>
                      <a:pPr latinLnBrk="1"/>
                      <a:r>
                        <a:rPr lang="en-US" altLang="ko-KR" sz="1600" b="0" i="0" u="none" strike="noStrike" kern="1200" spc="-1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(Large Scale IC)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D2FF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트랜지스터 수천 개가 집적된 대규모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IC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8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비트 마이크로프로세서나 소규모 반도체 기억장치 칩이 이에 해당한다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VLSI</a:t>
                      </a:r>
                    </a:p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(Very Large Scale IC)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D2FF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트랜지스터 수만에서 수십만 개 이상 집적된 초대규모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IC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대용량 반도체 메모리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1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만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게이트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 이상의 논리 회로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단일 칩 마이크로프로세서 등이 있다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ULSI</a:t>
                      </a:r>
                    </a:p>
                    <a:p>
                      <a:pPr latinLnBrk="1"/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(Ultra Large Scale IC)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D2FF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트랜지스터가 수백만 개 이상 집적된 극대규모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IC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인텔의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486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이나 </a:t>
                      </a:r>
                      <a:r>
                        <a:rPr lang="ko-KR" altLang="en-US" sz="1600" b="0" spc="-100" baseline="0" dirty="0" err="1">
                          <a:solidFill>
                            <a:schemeClr val="tx1"/>
                          </a:solidFill>
                        </a:rPr>
                        <a:t>팬티엄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수백 메가바이트 이상의 반도체 기억장치 칩 등이 이에 해당한다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80975" indent="-180975" latinLnBrk="1">
                        <a:buClr>
                          <a:srgbClr val="00B0F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VLSI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ULSI </a:t>
                      </a:r>
                      <a:r>
                        <a:rPr lang="ko-KR" altLang="en-US" sz="1600" b="0" spc="-100" baseline="0" dirty="0">
                          <a:solidFill>
                            <a:schemeClr val="tx1"/>
                          </a:solidFill>
                        </a:rPr>
                        <a:t>사이의 정확한 구분은 사실 모호하다</a:t>
                      </a:r>
                      <a:r>
                        <a:rPr lang="en-US" altLang="ko-KR" sz="1600" b="0" spc="-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spc="-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522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1</a:t>
            </a:r>
            <a:r>
              <a:rPr lang="ko-KR" altLang="en-US" sz="1500" b="1" spc="-75" dirty="0"/>
              <a:t>세대 컴퓨터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진공관을 사용함에 따라 컴퓨터 크기가 매우 크며</a:t>
            </a:r>
            <a:r>
              <a:rPr lang="en-US" altLang="ko-KR" spc="-75" dirty="0"/>
              <a:t>, </a:t>
            </a:r>
            <a:r>
              <a:rPr lang="ko-KR" altLang="en-US" spc="-75" dirty="0"/>
              <a:t>열 발생량이 많고 전력 소모가 크다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노이만이</a:t>
            </a:r>
            <a:r>
              <a:rPr lang="ko-KR" altLang="en-US" spc="-75" dirty="0"/>
              <a:t> 제안한 프로그램 내장의 개념을 도입했다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수치 계산</a:t>
            </a:r>
            <a:r>
              <a:rPr lang="en-US" altLang="ko-KR" spc="-75" dirty="0"/>
              <a:t>, </a:t>
            </a:r>
            <a:r>
              <a:rPr lang="ko-KR" altLang="en-US" spc="-75" dirty="0"/>
              <a:t>통계 등에 사용되었다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 언어는 기계어와 어셈블리어를 사용했다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대표적인 컴퓨터 </a:t>
            </a:r>
            <a:r>
              <a:rPr lang="en-US" altLang="ko-KR" spc="-75" dirty="0"/>
              <a:t>: ENIAC,</a:t>
            </a:r>
            <a:r>
              <a:rPr lang="ko-KR" altLang="en-US" spc="-75" dirty="0"/>
              <a:t> </a:t>
            </a:r>
            <a:r>
              <a:rPr lang="en-US" altLang="ko-KR" spc="-75" dirty="0"/>
              <a:t>UNIVAC, EDSAC,</a:t>
            </a:r>
            <a:r>
              <a:rPr lang="ko-KR" altLang="en-US" spc="-75" dirty="0"/>
              <a:t> </a:t>
            </a:r>
            <a:r>
              <a:rPr lang="en-US" altLang="ko-KR" spc="-75" dirty="0"/>
              <a:t>EDVAC</a:t>
            </a:r>
          </a:p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2</a:t>
            </a:r>
            <a:r>
              <a:rPr lang="ko-KR" altLang="en-US" sz="1500" b="1" spc="-75" dirty="0"/>
              <a:t>세대 컴퓨터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자기 드럼이나 자기 디스크 같은 대용량의 보조 기억장치가 사용되었다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운영체제의 개념을 도입했다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다중 프로그래밍 기법을 사용했다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온라인 실시간 처리 방식을 도입했다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과학 계산</a:t>
            </a:r>
            <a:r>
              <a:rPr lang="en-US" altLang="ko-KR" spc="-75" dirty="0"/>
              <a:t>, </a:t>
            </a:r>
            <a:r>
              <a:rPr lang="ko-KR" altLang="en-US" spc="-75" dirty="0"/>
              <a:t>일반 사무용으로 사용되었다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트랜지스터를 사용함으로써 컴퓨터는 더 고속화되고</a:t>
            </a:r>
            <a:r>
              <a:rPr lang="en-US" altLang="ko-KR" spc="-75" dirty="0"/>
              <a:t>, </a:t>
            </a:r>
            <a:r>
              <a:rPr lang="ko-KR" altLang="en-US" spc="-75" dirty="0"/>
              <a:t>기억 용량이 늘었으나 소형화되었다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소프트웨어 개발에 주력한 시기로</a:t>
            </a:r>
            <a:r>
              <a:rPr lang="en-US" altLang="ko-KR" spc="-75" dirty="0"/>
              <a:t>, </a:t>
            </a:r>
            <a:r>
              <a:rPr lang="ko-KR" altLang="en-US" spc="-75" dirty="0"/>
              <a:t>사용된 언어로는 </a:t>
            </a:r>
            <a:r>
              <a:rPr lang="en-US" altLang="ko-KR" spc="-75" dirty="0"/>
              <a:t>FORTRAN, ALGOL, COBOL </a:t>
            </a:r>
            <a:r>
              <a:rPr lang="ko-KR" altLang="en-US" spc="-75" dirty="0"/>
              <a:t>등이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</p:spTree>
    <p:extLst>
      <p:ext uri="{BB962C8B-B14F-4D97-AF65-F5344CB8AC3E}">
        <p14:creationId xmlns:p14="http://schemas.microsoft.com/office/powerpoint/2010/main" val="4020070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3</a:t>
            </a:r>
            <a:r>
              <a:rPr lang="ko-KR" altLang="en-US" sz="1500" b="1" spc="-75" dirty="0"/>
              <a:t>세대 컴퓨터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캐시</a:t>
            </a:r>
            <a:r>
              <a:rPr lang="en-US" altLang="ko-KR" spc="-75" dirty="0"/>
              <a:t>(cache) </a:t>
            </a:r>
            <a:r>
              <a:rPr lang="ko-KR" altLang="en-US" spc="-75" dirty="0"/>
              <a:t>기억장치가 등장했다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OMR, OCR, MICR</a:t>
            </a:r>
            <a:r>
              <a:rPr lang="ko-KR" altLang="en-US" spc="-75" dirty="0"/>
              <a:t>이 도입되었다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패밀리</a:t>
            </a:r>
            <a:r>
              <a:rPr lang="en-US" altLang="ko-KR" spc="-75" dirty="0"/>
              <a:t>(family) </a:t>
            </a:r>
            <a:r>
              <a:rPr lang="ko-KR" altLang="en-US" spc="-75" dirty="0"/>
              <a:t>개념의 출현에 따라 프로그램의 호환성이 이루어졌다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시분할 처리를 통해 멀티프로그래밍을 지원했다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경영 정보 시스템</a:t>
            </a:r>
            <a:r>
              <a:rPr lang="en-US" altLang="ko-KR" spc="-75" dirty="0"/>
              <a:t>(Management Information System, MIS)</a:t>
            </a:r>
            <a:r>
              <a:rPr lang="ko-KR" altLang="en-US" spc="-75" dirty="0"/>
              <a:t>이 확립되었다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4</a:t>
            </a:r>
            <a:r>
              <a:rPr lang="ko-KR" altLang="en-US" sz="1500" b="1" spc="-75" dirty="0"/>
              <a:t>세대 컴퓨터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마이크로프로세서가 개발되었다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가상 기억장치의 개념이 도입되었다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 네트워크가 발전되었다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개인용 컴퓨터</a:t>
            </a:r>
            <a:r>
              <a:rPr lang="en-US" altLang="ko-KR" spc="-75" dirty="0"/>
              <a:t>PC</a:t>
            </a:r>
            <a:r>
              <a:rPr lang="ko-KR" altLang="en-US" spc="-75" dirty="0"/>
              <a:t>가 등장하여 대중화를 이루었다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온라인 실시간 처리 시스템이 보편화되었고 기존 시스템에 비해 빠른 처리 속도를 갖게 되었다</a:t>
            </a:r>
            <a:r>
              <a:rPr lang="en-US" altLang="ko-KR" spc="-75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210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5</a:t>
            </a:r>
            <a:r>
              <a:rPr lang="ko-KR" altLang="en-US" sz="1500" b="1" spc="-75" dirty="0"/>
              <a:t>세대 컴퓨터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5</a:t>
            </a:r>
            <a:r>
              <a:rPr lang="ko-KR" altLang="en-US" spc="-75" dirty="0"/>
              <a:t>세대는 아직 명확하게 구분되지 않고 있으나 부품의 </a:t>
            </a:r>
            <a:r>
              <a:rPr lang="ko-KR" altLang="en-US" spc="-75" dirty="0" err="1"/>
              <a:t>집적도보다는</a:t>
            </a:r>
            <a:r>
              <a:rPr lang="ko-KR" altLang="en-US" spc="-75" dirty="0"/>
              <a:t> 획기적인 응용 소프트웨어의 출현에 의해 정의될 가능성이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현 시점에서는 </a:t>
            </a:r>
            <a:r>
              <a:rPr lang="en-US" altLang="ko-KR" spc="-75" dirty="0"/>
              <a:t>VLSI, ULSI</a:t>
            </a:r>
            <a:r>
              <a:rPr lang="ko-KR" altLang="en-US" spc="-75" dirty="0"/>
              <a:t>를 기본 소자로 하여 초미니</a:t>
            </a:r>
            <a:r>
              <a:rPr lang="en-US" altLang="ko-KR" spc="-75" dirty="0"/>
              <a:t>, </a:t>
            </a:r>
            <a:r>
              <a:rPr lang="ko-KR" altLang="en-US" spc="-75" dirty="0"/>
              <a:t>초고속을 추구하며 기존 시스템의 수준을 벗어나 경영 정보</a:t>
            </a:r>
            <a:r>
              <a:rPr lang="en-US" altLang="ko-KR" spc="-75" dirty="0"/>
              <a:t>, </a:t>
            </a:r>
            <a:r>
              <a:rPr lang="ko-KR" altLang="en-US" spc="-75" dirty="0"/>
              <a:t>지식 정보</a:t>
            </a:r>
            <a:r>
              <a:rPr lang="en-US" altLang="ko-KR" spc="-75" dirty="0"/>
              <a:t>, </a:t>
            </a:r>
            <a:r>
              <a:rPr lang="ko-KR" altLang="en-US" spc="-75" dirty="0"/>
              <a:t>인공지능</a:t>
            </a:r>
            <a:r>
              <a:rPr lang="en-US" altLang="ko-KR" spc="-75" dirty="0"/>
              <a:t>, </a:t>
            </a:r>
            <a:r>
              <a:rPr lang="ko-KR" altLang="en-US" spc="-75" dirty="0"/>
              <a:t>신경망</a:t>
            </a:r>
            <a:r>
              <a:rPr lang="en-US" altLang="ko-KR" spc="-75" dirty="0"/>
              <a:t>, </a:t>
            </a:r>
            <a:r>
              <a:rPr lang="ko-KR" altLang="en-US" spc="-75" dirty="0"/>
              <a:t>퍼지</a:t>
            </a:r>
            <a:r>
              <a:rPr lang="en-US" altLang="ko-KR" spc="-75" dirty="0"/>
              <a:t>, </a:t>
            </a:r>
            <a:r>
              <a:rPr lang="ko-KR" altLang="en-US" spc="-75" dirty="0"/>
              <a:t>멀티미디어</a:t>
            </a:r>
            <a:r>
              <a:rPr lang="en-US" altLang="ko-KR" spc="-75" dirty="0"/>
              <a:t>, </a:t>
            </a:r>
            <a:r>
              <a:rPr lang="ko-KR" altLang="en-US" spc="-75" dirty="0"/>
              <a:t>가상 현실을 목표로 하고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컴퓨터와 인간의 인터페이스를 좀 더 인간에게 편리하도록 하기 위한 </a:t>
            </a:r>
            <a:r>
              <a:rPr lang="en-US" altLang="ko-KR" spc="-75" dirty="0"/>
              <a:t>GUI </a:t>
            </a:r>
            <a:r>
              <a:rPr lang="ko-KR" altLang="en-US" spc="-75" dirty="0"/>
              <a:t>환경을 구현하고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컴퓨터의 성능을 향상시키기 위해 다중 프로세서를 사용한 병렬 처리 컴퓨터 시스템</a:t>
            </a:r>
            <a:r>
              <a:rPr lang="en-US" altLang="ko-KR" spc="-75" dirty="0"/>
              <a:t>, </a:t>
            </a:r>
            <a:r>
              <a:rPr lang="ko-KR" altLang="en-US" spc="-75" dirty="0"/>
              <a:t>광 컴퓨터</a:t>
            </a:r>
            <a:r>
              <a:rPr lang="en-US" altLang="ko-KR" spc="-75" dirty="0"/>
              <a:t>, </a:t>
            </a:r>
            <a:r>
              <a:rPr lang="ko-KR" altLang="en-US" spc="-75" dirty="0"/>
              <a:t>신경망 컴퓨터 등의 개발과 인공지능의 연구가 활발히 진행되고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비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</a:t>
            </a:r>
            <a:r>
              <a:rPr lang="en-US" altLang="ko-KR" spc="-75" dirty="0"/>
              <a:t>Non-Von Neumann </a:t>
            </a:r>
            <a:r>
              <a:rPr lang="ko-KR" altLang="en-US" spc="-75" dirty="0"/>
              <a:t>컴퓨터 구조가 제안되었다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고도의 사람 대 기계 </a:t>
            </a:r>
            <a:r>
              <a:rPr lang="en-US" altLang="ko-KR" spc="-75" dirty="0"/>
              <a:t>man-machine </a:t>
            </a:r>
            <a:r>
              <a:rPr lang="ko-KR" altLang="en-US" spc="-75" dirty="0"/>
              <a:t>인터페이스가 개발되었다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객체 지향 프로그래밍</a:t>
            </a:r>
            <a:r>
              <a:rPr lang="en-US" altLang="ko-KR" spc="-75" dirty="0"/>
              <a:t> </a:t>
            </a:r>
            <a:r>
              <a:rPr lang="ko-KR" altLang="en-US" spc="-75" dirty="0"/>
              <a:t>언어가 사용되고</a:t>
            </a:r>
            <a:r>
              <a:rPr lang="en-US" altLang="ko-KR" spc="-75" dirty="0"/>
              <a:t>, </a:t>
            </a:r>
            <a:r>
              <a:rPr lang="ko-KR" altLang="en-US" spc="-75" dirty="0"/>
              <a:t>문자</a:t>
            </a:r>
            <a:r>
              <a:rPr lang="en-US" altLang="ko-KR" spc="-75" dirty="0"/>
              <a:t>, </a:t>
            </a:r>
            <a:r>
              <a:rPr lang="ko-KR" altLang="en-US" spc="-75" dirty="0"/>
              <a:t>음성</a:t>
            </a:r>
            <a:r>
              <a:rPr lang="en-US" altLang="ko-KR" spc="-75" dirty="0"/>
              <a:t>, </a:t>
            </a:r>
            <a:r>
              <a:rPr lang="ko-KR" altLang="en-US" spc="-75" dirty="0"/>
              <a:t>영상 정보가 통합되는 멀티미디어 시대가 도래했다</a:t>
            </a:r>
            <a:r>
              <a:rPr lang="en-US" altLang="ko-KR" spc="-75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925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 </a:t>
            </a:r>
            <a:r>
              <a:rPr lang="ko-KR" altLang="en-US" dirty="0"/>
              <a:t>컴퓨터의 역사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무어의 법칙과 황의 법칙</a:t>
            </a:r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무어의</a:t>
            </a:r>
            <a:r>
              <a:rPr lang="en-US" altLang="ko-KR" sz="1500" b="1" spc="-75" dirty="0"/>
              <a:t> </a:t>
            </a:r>
            <a:r>
              <a:rPr lang="ko-KR" altLang="en-US" sz="1500" b="1" spc="-75" dirty="0"/>
              <a:t>법칙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반도체 집적 회로의 트랜지스터 수가 </a:t>
            </a:r>
            <a:r>
              <a:rPr lang="en-US" altLang="ko-KR" spc="-75" dirty="0"/>
              <a:t>12</a:t>
            </a:r>
            <a:r>
              <a:rPr lang="ko-KR" altLang="en-US" spc="-75" dirty="0"/>
              <a:t>개월마다 </a:t>
            </a:r>
            <a:r>
              <a:rPr lang="en-US" altLang="ko-KR" spc="-75" dirty="0"/>
              <a:t>2</a:t>
            </a:r>
            <a:r>
              <a:rPr lang="ko-KR" altLang="en-US" spc="-75" dirty="0"/>
              <a:t>배로 증가한다는 법칙이다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1970</a:t>
            </a:r>
            <a:r>
              <a:rPr lang="ko-KR" altLang="en-US" spc="-75" dirty="0"/>
              <a:t>년대 중반부터 이 기간은 </a:t>
            </a:r>
            <a:r>
              <a:rPr lang="en-US" altLang="ko-KR" spc="-75" dirty="0"/>
              <a:t>12</a:t>
            </a:r>
            <a:r>
              <a:rPr lang="ko-KR" altLang="en-US" spc="-75" dirty="0"/>
              <a:t>개월에서 </a:t>
            </a:r>
            <a:r>
              <a:rPr lang="en-US" altLang="ko-KR" spc="-75" dirty="0"/>
              <a:t>18</a:t>
            </a:r>
            <a:r>
              <a:rPr lang="ko-KR" altLang="en-US" spc="-75" dirty="0"/>
              <a:t>개월로 늘어났다</a:t>
            </a:r>
            <a:r>
              <a:rPr lang="en-US" altLang="ko-KR" spc="-75" dirty="0"/>
              <a:t>. </a:t>
            </a:r>
            <a:r>
              <a:rPr lang="ko-KR" altLang="en-US" spc="-75" dirty="0"/>
              <a:t>이럴 경우에 </a:t>
            </a:r>
            <a:r>
              <a:rPr lang="en-US" altLang="ko-KR" spc="-75" dirty="0"/>
              <a:t>10</a:t>
            </a:r>
            <a:r>
              <a:rPr lang="ko-KR" altLang="en-US" spc="-75" dirty="0"/>
              <a:t>년 동안 증가율은 </a:t>
            </a:r>
            <a:r>
              <a:rPr lang="en-US" altLang="ko-KR" spc="-75" dirty="0"/>
              <a:t>1,000</a:t>
            </a:r>
            <a:r>
              <a:rPr lang="ko-KR" altLang="en-US" spc="-75" dirty="0"/>
              <a:t>배가 아니라 </a:t>
            </a:r>
            <a:r>
              <a:rPr lang="en-US" altLang="ko-KR" spc="-75" dirty="0"/>
              <a:t>100</a:t>
            </a:r>
            <a:r>
              <a:rPr lang="ko-KR" altLang="en-US" spc="-75" dirty="0"/>
              <a:t>배 정도가 되었다</a:t>
            </a:r>
            <a:r>
              <a:rPr lang="en-US" altLang="ko-KR" spc="-75" dirty="0"/>
              <a:t>. 1990</a:t>
            </a:r>
            <a:r>
              <a:rPr lang="ko-KR" altLang="en-US" spc="-75" dirty="0"/>
              <a:t>년대부터는 </a:t>
            </a:r>
            <a:r>
              <a:rPr lang="en-US" altLang="ko-KR" spc="-75" dirty="0"/>
              <a:t>18</a:t>
            </a:r>
            <a:r>
              <a:rPr lang="ko-KR" altLang="en-US" spc="-75" dirty="0"/>
              <a:t>개월이 다시 </a:t>
            </a:r>
            <a:r>
              <a:rPr lang="en-US" altLang="ko-KR" spc="-75" dirty="0"/>
              <a:t>24</a:t>
            </a:r>
            <a:r>
              <a:rPr lang="ko-KR" altLang="en-US" spc="-75" dirty="0"/>
              <a:t>개월로 늘어났는데</a:t>
            </a:r>
            <a:r>
              <a:rPr lang="en-US" altLang="ko-KR" spc="-75" dirty="0"/>
              <a:t>, </a:t>
            </a:r>
            <a:r>
              <a:rPr lang="ko-KR" altLang="en-US" spc="-75" dirty="0"/>
              <a:t>이 경우에 </a:t>
            </a:r>
            <a:r>
              <a:rPr lang="en-US" altLang="ko-KR" spc="-75" dirty="0"/>
              <a:t>10</a:t>
            </a:r>
            <a:r>
              <a:rPr lang="ko-KR" altLang="en-US" spc="-75" dirty="0"/>
              <a:t>년간 증가율은 </a:t>
            </a:r>
            <a:r>
              <a:rPr lang="en-US" altLang="ko-KR" spc="-75" dirty="0"/>
              <a:t>32</a:t>
            </a:r>
            <a:r>
              <a:rPr lang="ko-KR" altLang="en-US" spc="-75" dirty="0"/>
              <a:t>배 정도로 줄어들었다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무어의 법칙은 한계에 다다르고 있다</a:t>
            </a:r>
            <a:r>
              <a:rPr lang="en-US" altLang="ko-KR" spc="-75" dirty="0"/>
              <a:t>. </a:t>
            </a:r>
            <a:r>
              <a:rPr lang="ko-KR" altLang="en-US" spc="-75" dirty="0"/>
              <a:t>이것은 기술적인 한계뿐만 아니라 경제적인 한계도 있었다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황의</a:t>
            </a:r>
            <a:r>
              <a:rPr lang="en-US" altLang="ko-KR" sz="1500" b="1" spc="-75" dirty="0"/>
              <a:t> </a:t>
            </a:r>
            <a:r>
              <a:rPr lang="ko-KR" altLang="en-US" sz="1500" b="1" spc="-75" dirty="0"/>
              <a:t>법칙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집적 회로를 뛰어넘는 메모리의 발전으로 인해서 앞으로는 </a:t>
            </a:r>
            <a:r>
              <a:rPr lang="en-US" altLang="ko-KR" spc="-75" dirty="0"/>
              <a:t>1</a:t>
            </a:r>
            <a:r>
              <a:rPr lang="ko-KR" altLang="en-US" spc="-75" dirty="0"/>
              <a:t>년에 </a:t>
            </a:r>
            <a:r>
              <a:rPr lang="en-US" altLang="ko-KR" spc="-75" dirty="0"/>
              <a:t>2</a:t>
            </a:r>
            <a:r>
              <a:rPr lang="ko-KR" altLang="en-US" spc="-75" dirty="0"/>
              <a:t>배씩 용량이 뛰어오를 것이라고 주장한 것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이는 계속해서 </a:t>
            </a:r>
            <a:r>
              <a:rPr lang="en-US" altLang="ko-KR" spc="-75" dirty="0"/>
              <a:t>NAND flash </a:t>
            </a:r>
            <a:r>
              <a:rPr lang="ko-KR" altLang="en-US" spc="-75" dirty="0"/>
              <a:t>계열의 메모리가 지속적으로 발전하면서 실제로 증명되었다</a:t>
            </a:r>
            <a:r>
              <a:rPr lang="en-US" altLang="ko-KR" spc="-75" dirty="0"/>
              <a:t>. </a:t>
            </a:r>
            <a:r>
              <a:rPr lang="ko-KR" altLang="en-US" spc="-75" dirty="0"/>
              <a:t>하지만 </a:t>
            </a:r>
            <a:r>
              <a:rPr lang="en-US" altLang="ko-KR" spc="-75" dirty="0"/>
              <a:t>2010</a:t>
            </a:r>
            <a:r>
              <a:rPr lang="ko-KR" altLang="en-US" spc="-75" dirty="0"/>
              <a:t>년</a:t>
            </a:r>
            <a:r>
              <a:rPr lang="en-US" altLang="ko-KR" spc="-75" dirty="0"/>
              <a:t>, </a:t>
            </a:r>
            <a:r>
              <a:rPr lang="ko-KR" altLang="en-US" spc="-75" dirty="0"/>
              <a:t>불과 </a:t>
            </a:r>
            <a:r>
              <a:rPr lang="en-US" altLang="ko-KR" spc="-75" dirty="0"/>
              <a:t>8</a:t>
            </a:r>
            <a:r>
              <a:rPr lang="ko-KR" altLang="en-US" spc="-75" dirty="0"/>
              <a:t>년 만에 황의 법칙은 깨졌다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16505" y="757235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30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BB366E-549D-7F46-E5EB-7BC0BF74A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40768"/>
            <a:ext cx="7822069" cy="4283514"/>
          </a:xfrm>
          <a:prstGeom prst="rect">
            <a:avLst/>
          </a:prstGeom>
        </p:spPr>
      </p:pic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"/>
            </a:pPr>
            <a:r>
              <a:rPr lang="ko-KR" altLang="en-US" dirty="0"/>
              <a:t> 컴퓨터의 분류</a:t>
            </a:r>
          </a:p>
        </p:txBody>
      </p:sp>
    </p:spTree>
    <p:extLst>
      <p:ext uri="{BB962C8B-B14F-4D97-AF65-F5344CB8AC3E}">
        <p14:creationId xmlns:p14="http://schemas.microsoft.com/office/powerpoint/2010/main" val="2432867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72502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데이터 형태에 따른 분류</a:t>
            </a:r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아날로그 컴퓨터</a:t>
            </a:r>
            <a:r>
              <a:rPr lang="en-US" altLang="ko-KR" sz="1500" b="1" spc="-75" dirty="0"/>
              <a:t>(analog 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연속적인 변량을 사용하여 계산을 수행한다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신속한 입력과 그 상태에 대한 즉각적인 반응을 얻을 수 있으므로 이 유형의 컴퓨터는 프로세스 제어 </a:t>
            </a:r>
            <a:r>
              <a:rPr lang="en-US" altLang="ko-KR" spc="-75" dirty="0"/>
              <a:t>process control</a:t>
            </a:r>
            <a:r>
              <a:rPr lang="ko-KR" altLang="en-US" spc="-75" dirty="0"/>
              <a:t>에 적합하다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아날로그 컴퓨터에서는 전압</a:t>
            </a:r>
            <a:r>
              <a:rPr lang="en-US" altLang="ko-KR" spc="-75" dirty="0"/>
              <a:t>, </a:t>
            </a:r>
            <a:r>
              <a:rPr lang="ko-KR" altLang="en-US" spc="-75" dirty="0"/>
              <a:t>전류</a:t>
            </a:r>
            <a:r>
              <a:rPr lang="en-US" altLang="ko-KR" spc="-75" dirty="0"/>
              <a:t>, </a:t>
            </a:r>
            <a:r>
              <a:rPr lang="ko-KR" altLang="en-US" spc="-75" dirty="0"/>
              <a:t>온도</a:t>
            </a:r>
            <a:r>
              <a:rPr lang="en-US" altLang="ko-KR" spc="-75" dirty="0"/>
              <a:t>, </a:t>
            </a:r>
            <a:r>
              <a:rPr lang="ko-KR" altLang="en-US" spc="-75" dirty="0"/>
              <a:t>압력 등의 데이터를 처리한다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디지털 컴퓨터</a:t>
            </a:r>
            <a:r>
              <a:rPr lang="en-US" altLang="ko-KR" sz="1500" b="1" spc="-75" dirty="0"/>
              <a:t>(digital 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숫자나 문자를 코드화하여 필요한 정밀도까지의 결과를 얻을 수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디지털 컴퓨터는 숫자나 문자를 코드화하여 사용하며</a:t>
            </a:r>
            <a:r>
              <a:rPr lang="en-US" altLang="ko-KR" spc="-75" dirty="0"/>
              <a:t>, </a:t>
            </a:r>
            <a:r>
              <a:rPr lang="ko-KR" altLang="en-US" spc="-75" dirty="0"/>
              <a:t>데이터를 분석하고 종합하여 처리한 결과를 숫자나 문자 등으로 정확히 구분할 수 있게 해준다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 err="1"/>
              <a:t>하이브리드</a:t>
            </a:r>
            <a:r>
              <a:rPr lang="ko-KR" altLang="en-US" sz="1500" b="1" spc="-75" dirty="0"/>
              <a:t> 컴퓨터</a:t>
            </a:r>
            <a:r>
              <a:rPr lang="en-US" altLang="ko-KR" sz="1500" b="1" spc="-75" dirty="0"/>
              <a:t>(hybrid 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아날로그나 디지털 신호를 모두 처리할 수 있으며 필요에 따라 아날로그 신호나 디지털 신호로 변환한다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컴퓨터에서 처리한 결과는 필요에 따라 </a:t>
            </a:r>
            <a:r>
              <a:rPr lang="en-US" altLang="ko-KR" spc="-75" dirty="0"/>
              <a:t>A/D </a:t>
            </a:r>
            <a:r>
              <a:rPr lang="ko-KR" altLang="en-US" spc="-75" dirty="0"/>
              <a:t>변환기나 </a:t>
            </a:r>
            <a:r>
              <a:rPr lang="en-US" altLang="ko-KR" spc="-75" dirty="0"/>
              <a:t>D/A </a:t>
            </a:r>
            <a:r>
              <a:rPr lang="ko-KR" altLang="en-US" spc="-75" dirty="0"/>
              <a:t>변환기에 의해서 데이터를 아날로그 형태나 디지털 형태로 얻을 수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12808" y="760057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198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사용 목적에 따른 분류</a:t>
            </a:r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전용 컴퓨터</a:t>
            </a:r>
            <a:r>
              <a:rPr lang="en-US" altLang="ko-KR" sz="1500" b="1" spc="-75" dirty="0"/>
              <a:t>(special purpose 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특수한 목적으로 사용하기 위한 컴퓨터로 주로 군사용</a:t>
            </a:r>
            <a:r>
              <a:rPr lang="en-US" altLang="ko-KR" spc="-75" dirty="0"/>
              <a:t>, </a:t>
            </a:r>
            <a:r>
              <a:rPr lang="ko-KR" altLang="en-US" spc="-75" dirty="0"/>
              <a:t>기상 예보용</a:t>
            </a:r>
            <a:r>
              <a:rPr lang="en-US" altLang="ko-KR" spc="-75" dirty="0"/>
              <a:t>, </a:t>
            </a:r>
            <a:r>
              <a:rPr lang="ko-KR" altLang="en-US" spc="-75" dirty="0"/>
              <a:t>천문학</a:t>
            </a:r>
            <a:r>
              <a:rPr lang="en-US" altLang="ko-KR" spc="-75" dirty="0"/>
              <a:t>, </a:t>
            </a:r>
            <a:r>
              <a:rPr lang="ko-KR" altLang="en-US" spc="-75" dirty="0"/>
              <a:t>원자핵 물리 분야 등의 특정 업무에 사용된다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전용 컴퓨터는 주로 고정 프로그램과 일정한 데이터만을 취급할 수 있도록 구성되어 있다</a:t>
            </a:r>
            <a:r>
              <a:rPr lang="en-US" altLang="ko-KR" spc="-75" dirty="0"/>
              <a:t>.</a:t>
            </a:r>
          </a:p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범용 컴퓨터</a:t>
            </a:r>
            <a:r>
              <a:rPr lang="en-US" altLang="ko-KR" sz="1500" b="1" spc="-75" dirty="0"/>
              <a:t>(general purpose 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여러 업무에 광범위하게 사용할 수 있는 일반 목적용 컴퓨터다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과학 계산</a:t>
            </a:r>
            <a:r>
              <a:rPr lang="en-US" altLang="ko-KR" spc="-75" dirty="0"/>
              <a:t>, </a:t>
            </a:r>
            <a:r>
              <a:rPr lang="ko-KR" altLang="en-US" spc="-75" dirty="0"/>
              <a:t>통계 데이터 처리</a:t>
            </a:r>
            <a:r>
              <a:rPr lang="en-US" altLang="ko-KR" spc="-75" dirty="0"/>
              <a:t>, </a:t>
            </a:r>
            <a:r>
              <a:rPr lang="ko-KR" altLang="en-US" spc="-75" dirty="0"/>
              <a:t>생산 관리</a:t>
            </a:r>
            <a:r>
              <a:rPr lang="en-US" altLang="ko-KR" spc="-75" dirty="0"/>
              <a:t>, </a:t>
            </a:r>
            <a:r>
              <a:rPr lang="ko-KR" altLang="en-US" spc="-75" dirty="0"/>
              <a:t>사무 관리 등 광범위한 분야에 사용할 수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범용 컴퓨터는 여러 형태의 데이터를 취급할 수 있는 유연성</a:t>
            </a:r>
            <a:r>
              <a:rPr lang="en-US" altLang="ko-KR" spc="-75" dirty="0"/>
              <a:t>, </a:t>
            </a:r>
            <a:r>
              <a:rPr lang="ko-KR" altLang="en-US" spc="-75" dirty="0"/>
              <a:t>기억 용량의 증대</a:t>
            </a:r>
            <a:r>
              <a:rPr lang="en-US" altLang="ko-KR" spc="-75" dirty="0"/>
              <a:t>, </a:t>
            </a:r>
            <a:r>
              <a:rPr lang="ko-KR" altLang="en-US" spc="-75" dirty="0"/>
              <a:t>처리 속도의 신속화</a:t>
            </a:r>
            <a:r>
              <a:rPr lang="en-US" altLang="ko-KR" spc="-75" dirty="0"/>
              <a:t>, </a:t>
            </a:r>
            <a:r>
              <a:rPr lang="ko-KR" altLang="en-US" spc="-75" dirty="0"/>
              <a:t>입출력 장치의 다양화 등 언제든지 필요한 시기에 확장 또는 조정할 수 있는 기능이 필요하다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02857" y="755609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964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성능과 규모에 따른 분류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정량보다는 정성적 측면에서 분류한 것이다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근래에는 분류 기준을 기억 용량</a:t>
            </a:r>
            <a:r>
              <a:rPr lang="en-US" altLang="ko-KR" spc="-75" dirty="0"/>
              <a:t>, </a:t>
            </a:r>
            <a:r>
              <a:rPr lang="ko-KR" altLang="en-US" spc="-75" dirty="0"/>
              <a:t>처리 능력</a:t>
            </a:r>
            <a:r>
              <a:rPr lang="en-US" altLang="ko-KR" spc="-75" dirty="0"/>
              <a:t>, </a:t>
            </a:r>
            <a:r>
              <a:rPr lang="ko-KR" altLang="en-US" spc="-75" dirty="0"/>
              <a:t>가격 측면에 두고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이와 같은 분류는 컴퓨터 관련 기술의 급속한 발전으로 인해 구분이 모호해지고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09682" y="760056"/>
            <a:ext cx="397190" cy="346249"/>
            <a:chOff x="1454126" y="2542101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6" y="2542101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 descr="텍스트, 스크린샷, 디스플레이, 폰트이(가) 표시된 사진">
            <a:extLst>
              <a:ext uri="{FF2B5EF4-FFF2-40B4-BE49-F238E27FC236}">
                <a16:creationId xmlns:a16="http://schemas.microsoft.com/office/drawing/2014/main" id="{9E600D27-6214-4678-FDFE-56B3BD979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492896"/>
            <a:ext cx="5117544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59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마이크로 컴퓨터</a:t>
            </a:r>
            <a:r>
              <a:rPr lang="en-US" altLang="ko-KR" sz="1500" b="1" spc="-75" dirty="0"/>
              <a:t>(microcomputer)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최근 가장 널리 사용되고 있는 범용 컴퓨터다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마이크로프로세서를 중앙 처리 장치로 사용하는 컴퓨터를 의미하며</a:t>
            </a:r>
            <a:r>
              <a:rPr lang="en-US" altLang="ko-KR" spc="-75" dirty="0"/>
              <a:t>,</a:t>
            </a:r>
            <a:r>
              <a:rPr lang="ko-KR" altLang="en-US" spc="-75" dirty="0"/>
              <a:t> 워크스테이션과 개인용 컴퓨터</a:t>
            </a:r>
            <a:r>
              <a:rPr lang="en-US" altLang="ko-KR" spc="-75" dirty="0"/>
              <a:t>(PC)</a:t>
            </a:r>
            <a:r>
              <a:rPr lang="ko-KR" altLang="en-US" spc="-75" dirty="0"/>
              <a:t>가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1970</a:t>
            </a:r>
            <a:r>
              <a:rPr lang="ko-KR" altLang="en-US" spc="-75" dirty="0"/>
              <a:t>년대 후반에는 개인용 컴퓨터가 등장했다</a:t>
            </a:r>
            <a:r>
              <a:rPr lang="en-US" altLang="ko-KR" spc="-75" dirty="0"/>
              <a:t>. 1980</a:t>
            </a:r>
            <a:r>
              <a:rPr lang="ko-KR" altLang="en-US" spc="-75" dirty="0"/>
              <a:t>년대에 들어서면서 마이크로프로세서의 성능이 급속도로 향상되면서 개인용 컴퓨터의 응용 범위도 단순 응용에서부터 매우 복잡한 응용에까지 확산되고 있었다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최근에는 개인용 컴퓨터의 발전으로 워크스테이션과의 구별이 모호해지고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335756" lvl="1" indent="-214313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워크스테이션</a:t>
            </a:r>
            <a:r>
              <a:rPr lang="en-US" altLang="ko-KR" sz="1500" b="1" spc="-75" dirty="0"/>
              <a:t>(workstation)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과학자</a:t>
            </a:r>
            <a:r>
              <a:rPr lang="en-US" altLang="ko-KR" spc="-75" dirty="0"/>
              <a:t>, </a:t>
            </a:r>
            <a:r>
              <a:rPr lang="ko-KR" altLang="en-US" spc="-75" dirty="0"/>
              <a:t>공학자</a:t>
            </a:r>
            <a:r>
              <a:rPr lang="en-US" altLang="ko-KR" spc="-75" dirty="0"/>
              <a:t>, </a:t>
            </a:r>
            <a:r>
              <a:rPr lang="ko-KR" altLang="en-US" spc="-75" dirty="0"/>
              <a:t>엔지니어</a:t>
            </a:r>
            <a:r>
              <a:rPr lang="en-US" altLang="ko-KR" spc="-75" dirty="0"/>
              <a:t>, </a:t>
            </a:r>
            <a:r>
              <a:rPr lang="ko-KR" altLang="en-US" spc="-75" dirty="0" err="1"/>
              <a:t>애니메이터와</a:t>
            </a:r>
            <a:r>
              <a:rPr lang="ko-KR" altLang="en-US" spc="-75" dirty="0"/>
              <a:t> 같은 전문직 종사자들이 개인용 컴퓨터보다 더 우수한 성능을 요구하여 만들어진 컴퓨터다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외형은 개인용 컴퓨터와 유사한데</a:t>
            </a:r>
            <a:r>
              <a:rPr lang="en-US" altLang="ko-KR" spc="-75" dirty="0"/>
              <a:t>, </a:t>
            </a:r>
            <a:r>
              <a:rPr lang="ko-KR" altLang="en-US" spc="-75" dirty="0"/>
              <a:t>최근에는 워크스테이션의 가격이 떨어지고 개인용 컴퓨터의 성능이 강력해지기 때문에 워크스테이션과 개인용 컴퓨터의 구분이 사라지고 있다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</p:spTree>
    <p:extLst>
      <p:ext uri="{BB962C8B-B14F-4D97-AF65-F5344CB8AC3E}">
        <p14:creationId xmlns:p14="http://schemas.microsoft.com/office/powerpoint/2010/main" val="3319114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 </a:t>
            </a:r>
            <a:r>
              <a:rPr lang="ko-KR" altLang="en-US" dirty="0"/>
              <a:t>컴퓨터의 분류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335756" lvl="1" indent="-214313">
              <a:lnSpc>
                <a:spcPct val="12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미니 컴퓨터</a:t>
            </a:r>
            <a:r>
              <a:rPr lang="en-US" altLang="ko-KR" sz="1800" b="1" spc="-75" dirty="0"/>
              <a:t>(minicomputer)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성능과 규모 측면에서 마이크로 컴퓨터와 메인 프레임 컴퓨터의 중간에 해당한다</a:t>
            </a:r>
            <a:r>
              <a:rPr lang="en-US" altLang="ko-KR" sz="1425" spc="-75" dirty="0"/>
              <a:t>. </a:t>
            </a:r>
            <a:r>
              <a:rPr lang="ko-KR" altLang="en-US" sz="1425" spc="-75" dirty="0"/>
              <a:t>마이크로 컴퓨터보다 대용량 기억장치와 고속의 주변 장치들로 구성되어 있어서 다수의 사용자가 동시에 한 미니 컴퓨터를 사용할 수 있었다</a:t>
            </a:r>
            <a:r>
              <a:rPr lang="en-US" altLang="ko-KR" sz="1425" spc="-75" dirty="0"/>
              <a:t>.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최근에는 컴퓨팅 서버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파일 서버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네트워크 서버</a:t>
            </a:r>
            <a:r>
              <a:rPr lang="en-US" altLang="ko-KR" sz="1425" spc="-75" dirty="0"/>
              <a:t> </a:t>
            </a:r>
            <a:r>
              <a:rPr lang="ko-KR" altLang="en-US" sz="1425" spc="-75" dirty="0"/>
              <a:t>등과 같은 각종 서버의 등장으로 인해 그 자취를 감추게 되었다</a:t>
            </a:r>
            <a:r>
              <a:rPr lang="en-US" altLang="ko-KR" sz="1425" spc="-75" dirty="0"/>
              <a:t>.</a:t>
            </a:r>
          </a:p>
          <a:p>
            <a:pPr marL="335756" lvl="1" indent="-214313">
              <a:lnSpc>
                <a:spcPct val="12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메인 프레임 컴퓨터</a:t>
            </a:r>
            <a:r>
              <a:rPr lang="en-US" altLang="ko-KR" sz="1800" b="1" spc="-75" dirty="0"/>
              <a:t>(main frame computer)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대형 컴퓨터라고도 부르는데</a:t>
            </a:r>
            <a:r>
              <a:rPr lang="en-US" altLang="ko-KR" sz="1425" spc="-75" dirty="0"/>
              <a:t>, 1</a:t>
            </a:r>
            <a:r>
              <a:rPr lang="ko-KR" altLang="en-US" sz="1425" spc="-75" dirty="0"/>
              <a:t>초에 수십억 개의 명령어를 처리할 수 있는 고속의 컴퓨터다</a:t>
            </a:r>
            <a:r>
              <a:rPr lang="en-US" altLang="ko-KR" sz="1425" spc="-75" dirty="0"/>
              <a:t>. 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대기업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관공서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대학 등에서 다수의 사용자가 공유하여 사용한다</a:t>
            </a:r>
            <a:r>
              <a:rPr lang="en-US" altLang="ko-KR" sz="1425" spc="-75" dirty="0"/>
              <a:t>. </a:t>
            </a:r>
            <a:r>
              <a:rPr lang="ko-KR" altLang="en-US" sz="1425" spc="-75" dirty="0"/>
              <a:t>메인 프레임에는 단말기 </a:t>
            </a:r>
            <a:r>
              <a:rPr lang="en-US" altLang="ko-KR" sz="1425" spc="-75" dirty="0"/>
              <a:t>terminal</a:t>
            </a:r>
            <a:r>
              <a:rPr lang="ko-KR" altLang="en-US" sz="1425" spc="-75" dirty="0"/>
              <a:t>를 통해 접근할 수 있는데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단말기는 키보드와 모니터가 통합된 장치를 말한다</a:t>
            </a:r>
            <a:r>
              <a:rPr lang="en-US" altLang="ko-KR" sz="1425" spc="-75" dirty="0"/>
              <a:t>. 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응용 분야는 은행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보험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병원 업무 등에 널리 사용되고 있다</a:t>
            </a:r>
            <a:r>
              <a:rPr lang="en-US" altLang="ko-KR" sz="1425" spc="-75" dirty="0"/>
              <a:t>.</a:t>
            </a:r>
          </a:p>
          <a:p>
            <a:pPr marL="335756" lvl="1" indent="-214313">
              <a:lnSpc>
                <a:spcPct val="12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800" b="1" spc="-75" dirty="0"/>
              <a:t> 슈퍼 컴퓨터</a:t>
            </a:r>
            <a:r>
              <a:rPr lang="en-US" altLang="ko-KR" sz="1800" b="1" spc="-75" dirty="0"/>
              <a:t>(super computer)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고속의 연산 처리를 위한 중앙 처리 장치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대규모의 용량을 가진 주기억장치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강력한 병렬 처리를 지원하는 소프트웨어로 이루어진 컴퓨터다</a:t>
            </a:r>
            <a:r>
              <a:rPr lang="en-US" altLang="ko-KR" sz="1425" spc="-75" dirty="0"/>
              <a:t>. 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고성능 마이크로프로세서를 수십만 개까지 사용하여 작업을 병렬로 처리하기 때문에 초당 수조 개의 명령어들을 처리할 수 있도록 매우 빠르다</a:t>
            </a:r>
            <a:r>
              <a:rPr lang="en-US" altLang="ko-KR" sz="1425" spc="-75" dirty="0"/>
              <a:t>. </a:t>
            </a:r>
          </a:p>
          <a:p>
            <a:pPr marL="407194" lvl="1" indent="-121444">
              <a:lnSpc>
                <a:spcPct val="12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25" spc="-75" dirty="0"/>
              <a:t>슈퍼 컴퓨터는 기상예측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석유탐사</a:t>
            </a:r>
            <a:r>
              <a:rPr lang="en-US" altLang="ko-KR" sz="1425" spc="-75" dirty="0"/>
              <a:t>, </a:t>
            </a:r>
            <a:r>
              <a:rPr lang="ko-KR" altLang="en-US" sz="1425" spc="-75" dirty="0"/>
              <a:t>원자력 개발 등의 분야에서 사용되고 있다</a:t>
            </a:r>
            <a:r>
              <a:rPr lang="en-US" altLang="ko-KR" sz="1425" spc="-75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6786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 </a:t>
            </a:r>
            <a:r>
              <a:rPr lang="ko-KR" altLang="en-US" dirty="0"/>
              <a:t>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비 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하버드 구조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83378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폰 </a:t>
            </a:r>
            <a:r>
              <a:rPr lang="ko-KR" altLang="en-US" spc="-75" dirty="0" err="1">
                <a:solidFill>
                  <a:srgbClr val="2B6278"/>
                </a:solidFill>
              </a:rPr>
              <a:t>노이만</a:t>
            </a:r>
            <a:r>
              <a:rPr lang="ko-KR" altLang="en-US" spc="-75" dirty="0">
                <a:solidFill>
                  <a:srgbClr val="2B6278"/>
                </a:solidFill>
              </a:rPr>
              <a:t> 구조와 비 폰 </a:t>
            </a:r>
            <a:r>
              <a:rPr lang="ko-KR" altLang="en-US" spc="-75" dirty="0" err="1">
                <a:solidFill>
                  <a:srgbClr val="2B6278"/>
                </a:solidFill>
              </a:rPr>
              <a:t>노이만</a:t>
            </a:r>
            <a:r>
              <a:rPr lang="ko-KR" altLang="en-US" spc="-75" dirty="0">
                <a:solidFill>
                  <a:srgbClr val="2B6278"/>
                </a:solidFill>
              </a:rPr>
              <a:t> 구조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사실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 개념을 처음으로 생각한 사람은 </a:t>
            </a:r>
            <a:r>
              <a:rPr lang="ko-KR" altLang="en-US" spc="-75" dirty="0" err="1"/>
              <a:t>모클리와</a:t>
            </a:r>
            <a:r>
              <a:rPr lang="ko-KR" altLang="en-US" spc="-75" dirty="0"/>
              <a:t> </a:t>
            </a:r>
            <a:r>
              <a:rPr lang="ko-KR" altLang="en-US" spc="-75" dirty="0" err="1"/>
              <a:t>에커트였다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구조의 프로그램 처리 과정</a:t>
            </a:r>
            <a:endParaRPr lang="en-US" altLang="ko-KR" spc="-75" dirty="0"/>
          </a:p>
          <a:p>
            <a:pPr marL="407194" lvl="1" indent="0">
              <a:lnSpc>
                <a:spcPct val="100000"/>
              </a:lnSpc>
              <a:spcBef>
                <a:spcPts val="150"/>
              </a:spcBef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70C0"/>
                </a:solidFill>
              </a:rPr>
              <a:t>➊ 프로그램 카운터를 이용해 메모리에서 실행할 명령어를 인출한다</a:t>
            </a:r>
            <a:r>
              <a:rPr lang="en-US" altLang="ko-KR" spc="-75" dirty="0">
                <a:solidFill>
                  <a:srgbClr val="0070C0"/>
                </a:solidFill>
              </a:rPr>
              <a:t>.</a:t>
            </a:r>
          </a:p>
          <a:p>
            <a:pPr marL="407194" lvl="1" indent="0">
              <a:lnSpc>
                <a:spcPct val="100000"/>
              </a:lnSpc>
              <a:spcBef>
                <a:spcPts val="150"/>
              </a:spcBef>
              <a:buClr>
                <a:srgbClr val="00B0F0"/>
              </a:buClr>
              <a:buNone/>
            </a:pPr>
            <a:r>
              <a:rPr lang="en-US" altLang="ko-KR" spc="-75" dirty="0">
                <a:solidFill>
                  <a:srgbClr val="0070C0"/>
                </a:solidFill>
              </a:rPr>
              <a:t>➋ </a:t>
            </a:r>
            <a:r>
              <a:rPr lang="ko-KR" altLang="en-US" spc="-75" dirty="0">
                <a:solidFill>
                  <a:srgbClr val="0070C0"/>
                </a:solidFill>
              </a:rPr>
              <a:t>제어 장치는 이 명령어를 해독한다</a:t>
            </a:r>
            <a:r>
              <a:rPr lang="en-US" altLang="ko-KR" spc="-75" dirty="0">
                <a:solidFill>
                  <a:srgbClr val="0070C0"/>
                </a:solidFill>
              </a:rPr>
              <a:t>.</a:t>
            </a:r>
          </a:p>
          <a:p>
            <a:pPr marL="407194" lvl="1" indent="0">
              <a:lnSpc>
                <a:spcPct val="100000"/>
              </a:lnSpc>
              <a:spcBef>
                <a:spcPts val="150"/>
              </a:spcBef>
              <a:buClr>
                <a:srgbClr val="00B0F0"/>
              </a:buClr>
              <a:buNone/>
            </a:pPr>
            <a:r>
              <a:rPr lang="en-US" altLang="ko-KR" spc="-75" dirty="0">
                <a:solidFill>
                  <a:srgbClr val="0070C0"/>
                </a:solidFill>
              </a:rPr>
              <a:t>➌ </a:t>
            </a:r>
            <a:r>
              <a:rPr lang="ko-KR" altLang="en-US" spc="-75" dirty="0">
                <a:solidFill>
                  <a:srgbClr val="0070C0"/>
                </a:solidFill>
              </a:rPr>
              <a:t>명령을 실행하는 데 필요한 데이터를 메모리에서 인출하여 레지스터에 저장한다</a:t>
            </a:r>
            <a:r>
              <a:rPr lang="en-US" altLang="ko-KR" spc="-75" dirty="0">
                <a:solidFill>
                  <a:srgbClr val="0070C0"/>
                </a:solidFill>
              </a:rPr>
              <a:t>.</a:t>
            </a:r>
          </a:p>
          <a:p>
            <a:pPr marL="407194" lvl="1" indent="0">
              <a:lnSpc>
                <a:spcPct val="100000"/>
              </a:lnSpc>
              <a:spcBef>
                <a:spcPts val="150"/>
              </a:spcBef>
              <a:buClr>
                <a:srgbClr val="00B0F0"/>
              </a:buClr>
              <a:buNone/>
            </a:pPr>
            <a:r>
              <a:rPr lang="en-US" altLang="ko-KR" spc="-75" dirty="0">
                <a:solidFill>
                  <a:srgbClr val="0070C0"/>
                </a:solidFill>
              </a:rPr>
              <a:t>➍ </a:t>
            </a:r>
            <a:r>
              <a:rPr lang="ko-KR" altLang="en-US" spc="-75" dirty="0">
                <a:solidFill>
                  <a:srgbClr val="0070C0"/>
                </a:solidFill>
              </a:rPr>
              <a:t>산술 논리 연산 장치는 명령을 실행하고</a:t>
            </a:r>
            <a:r>
              <a:rPr lang="en-US" altLang="ko-KR" spc="-75" dirty="0">
                <a:solidFill>
                  <a:srgbClr val="0070C0"/>
                </a:solidFill>
              </a:rPr>
              <a:t>, </a:t>
            </a:r>
            <a:r>
              <a:rPr lang="ko-KR" altLang="en-US" spc="-75" dirty="0">
                <a:solidFill>
                  <a:srgbClr val="0070C0"/>
                </a:solidFill>
              </a:rPr>
              <a:t>레지스터나 메모리에 결과를 저장한다</a:t>
            </a:r>
            <a:r>
              <a:rPr lang="en-US" altLang="ko-KR" spc="-75" dirty="0">
                <a:solidFill>
                  <a:srgbClr val="0070C0"/>
                </a:solidFill>
              </a:rPr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96033" y="766881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6A6EE-2395-B353-7C91-25278526B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140968"/>
            <a:ext cx="4858428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71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 </a:t>
            </a:r>
            <a:r>
              <a:rPr lang="ko-KR" altLang="en-US" dirty="0"/>
              <a:t>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비 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하버드 구조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병목 현상</a:t>
            </a:r>
            <a:r>
              <a:rPr lang="en-US" altLang="ko-KR" spc="-75" dirty="0"/>
              <a:t>(Von-Neumann Bottleneck)</a:t>
            </a:r>
            <a:endParaRPr lang="ko-KR" altLang="en-US" spc="-75" dirty="0"/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구조의 컴퓨터는 중앙 처리 장치에서 명령어나 데이터를 메모리에서 가져와 처리한 후</a:t>
            </a:r>
            <a:r>
              <a:rPr lang="en-US" altLang="ko-KR" spc="-75" dirty="0"/>
              <a:t>, </a:t>
            </a:r>
            <a:r>
              <a:rPr lang="ko-KR" altLang="en-US" spc="-75" dirty="0"/>
              <a:t>결과 데이터를 메모리에 다시 보내 저장한다</a:t>
            </a:r>
            <a:r>
              <a:rPr lang="en-US" altLang="ko-KR" spc="-75" dirty="0"/>
              <a:t>. </a:t>
            </a:r>
            <a:r>
              <a:rPr lang="ko-KR" altLang="en-US" spc="-75" dirty="0"/>
              <a:t>또한 저장된 데이터가 필요할 땐 다시 메모리에서 중앙 처리 장치로 불려오는 방식으로 순차적으로 프로그램을 처리하므로 메모리나 시스템 버스에 병목 현상이 생겨 속도가 느려질 수밖에 없다</a:t>
            </a:r>
            <a:r>
              <a:rPr lang="en-US" altLang="ko-KR" spc="-75" dirty="0"/>
              <a:t>.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이것을 데이터 경로의 병목 현상 또는 기억 장소의 지연 현상이라고도 한다</a:t>
            </a:r>
            <a:r>
              <a:rPr lang="en-US" altLang="ko-KR" spc="-75" dirty="0"/>
              <a:t>.</a:t>
            </a:r>
          </a:p>
          <a:p>
            <a:pPr marL="338138">
              <a:lnSpc>
                <a:spcPct val="110000"/>
              </a:lnSpc>
              <a:spcBef>
                <a:spcPts val="135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pc="-75" dirty="0"/>
              <a:t>비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구조가 아닌 컴퓨터를 통틀어 이르는 말로 데이터 처리의 고속화와 고도화를 위하여 프로그램 일부를 하드웨어화하거나</a:t>
            </a:r>
            <a:r>
              <a:rPr lang="en-US" altLang="ko-KR" spc="-75" dirty="0"/>
              <a:t>, </a:t>
            </a:r>
            <a:r>
              <a:rPr lang="ko-KR" altLang="en-US" spc="-75" dirty="0"/>
              <a:t>병렬 처리 기능</a:t>
            </a:r>
            <a:r>
              <a:rPr lang="en-US" altLang="ko-KR" spc="-75" dirty="0"/>
              <a:t>, </a:t>
            </a:r>
            <a:r>
              <a:rPr lang="ko-KR" altLang="en-US" spc="-75" dirty="0"/>
              <a:t>추론 기구를 채택한 컴퓨터를 가리킨다</a:t>
            </a:r>
            <a:r>
              <a:rPr lang="en-US" altLang="ko-KR" spc="-75" dirty="0"/>
              <a:t>. 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연구되고 있는 분야로는 신경망</a:t>
            </a:r>
            <a:r>
              <a:rPr lang="en-US" altLang="ko-KR" spc="-75" dirty="0"/>
              <a:t>, </a:t>
            </a:r>
            <a:r>
              <a:rPr lang="ko-KR" altLang="en-US" spc="-75" dirty="0"/>
              <a:t>유전 알고리즘</a:t>
            </a:r>
            <a:r>
              <a:rPr lang="en-US" altLang="ko-KR" spc="-75" dirty="0"/>
              <a:t>, </a:t>
            </a:r>
            <a:r>
              <a:rPr lang="ko-KR" altLang="en-US" spc="-75" dirty="0"/>
              <a:t>양자 컴퓨터</a:t>
            </a:r>
            <a:r>
              <a:rPr lang="en-US" altLang="ko-KR" spc="-75" dirty="0"/>
              <a:t>, </a:t>
            </a:r>
            <a:r>
              <a:rPr lang="ko-KR" altLang="en-US" spc="-75" dirty="0"/>
              <a:t>병렬 컴퓨터를 비롯한 여러 분야들이 비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범주에 속한다</a:t>
            </a:r>
            <a:r>
              <a:rPr lang="en-US" altLang="ko-KR" spc="-75" dirty="0"/>
              <a:t>. </a:t>
            </a:r>
            <a:r>
              <a:rPr lang="ko-KR" altLang="en-US" spc="-75" dirty="0"/>
              <a:t>이 중에서 병렬 컴퓨팅이 현재 가장 많이 사용된다</a:t>
            </a:r>
            <a:r>
              <a:rPr lang="en-US" altLang="ko-KR" spc="-75" dirty="0"/>
              <a:t>.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</p:txBody>
      </p:sp>
    </p:spTree>
    <p:extLst>
      <p:ext uri="{BB962C8B-B14F-4D97-AF65-F5344CB8AC3E}">
        <p14:creationId xmlns:p14="http://schemas.microsoft.com/office/powerpoint/2010/main" val="4107776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 </a:t>
            </a:r>
            <a:r>
              <a:rPr lang="ko-KR" altLang="en-US" dirty="0"/>
              <a:t>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비 폰 </a:t>
            </a:r>
            <a:r>
              <a:rPr lang="ko-KR" altLang="en-US" dirty="0" err="1"/>
              <a:t>노이만</a:t>
            </a:r>
            <a:r>
              <a:rPr lang="en-US" altLang="ko-KR" dirty="0"/>
              <a:t>, </a:t>
            </a:r>
            <a:r>
              <a:rPr lang="ko-KR" altLang="en-US" dirty="0"/>
              <a:t>하버드 구조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72502" y="773705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폰 </a:t>
            </a:r>
            <a:r>
              <a:rPr lang="ko-KR" altLang="en-US" spc="-75" dirty="0" err="1">
                <a:solidFill>
                  <a:srgbClr val="2B6278"/>
                </a:solidFill>
              </a:rPr>
              <a:t>노이만</a:t>
            </a:r>
            <a:r>
              <a:rPr lang="ko-KR" altLang="en-US" spc="-75" dirty="0">
                <a:solidFill>
                  <a:srgbClr val="2B6278"/>
                </a:solidFill>
              </a:rPr>
              <a:t> 구조와 하버드 구조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구조는 구조적으로 시스템 버스에 병목 현상이 발생한다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하버드 구조는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구조의 단점을 보완한 개념이다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명령어 메모리 영역과 데이터 메모리 영역을 물리적으로 분리시키고</a:t>
            </a:r>
            <a:r>
              <a:rPr lang="en-US" altLang="ko-KR" spc="-75" dirty="0"/>
              <a:t>, </a:t>
            </a:r>
            <a:r>
              <a:rPr lang="ko-KR" altLang="en-US" spc="-75" dirty="0"/>
              <a:t>각각을 다른 시스템 버스로 중앙 처리 장치에 연결함으로써 명령과 데이터를 메모리로부터 읽는 것을 동시에 처리할 수 있다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그러나 하버드 구조는 비싸고</a:t>
            </a:r>
            <a:r>
              <a:rPr lang="en-US" altLang="ko-KR" spc="-75" dirty="0"/>
              <a:t>, </a:t>
            </a:r>
            <a:r>
              <a:rPr lang="ko-KR" altLang="en-US" spc="-75" dirty="0"/>
              <a:t>공간도 많이 차지하며</a:t>
            </a:r>
            <a:r>
              <a:rPr lang="en-US" altLang="ko-KR" spc="-75" dirty="0"/>
              <a:t>, </a:t>
            </a:r>
            <a:r>
              <a:rPr lang="ko-KR" altLang="en-US" spc="-75" dirty="0"/>
              <a:t>설계가 복잡하다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최근 </a:t>
            </a:r>
            <a:r>
              <a:rPr lang="en-US" altLang="ko-KR" spc="-75" dirty="0"/>
              <a:t>CPU </a:t>
            </a:r>
            <a:r>
              <a:rPr lang="ko-KR" altLang="en-US" spc="-75" dirty="0"/>
              <a:t>설계에서는 폰 </a:t>
            </a:r>
            <a:r>
              <a:rPr lang="ko-KR" altLang="en-US" spc="-75" dirty="0" err="1"/>
              <a:t>노이만</a:t>
            </a:r>
            <a:r>
              <a:rPr lang="ko-KR" altLang="en-US" spc="-75" dirty="0"/>
              <a:t> 구조와 하버드 구조 양자의 구조를 도입하고 있다</a:t>
            </a:r>
            <a:r>
              <a:rPr lang="en-US" altLang="ko-KR" spc="-75" dirty="0"/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5984" y="773705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18A348-FC43-9186-EC7C-D755B482D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82"/>
          <a:stretch>
            <a:fillRect/>
          </a:stretch>
        </p:blipFill>
        <p:spPr>
          <a:xfrm>
            <a:off x="152613" y="3415772"/>
            <a:ext cx="4279703" cy="2668523"/>
          </a:xfrm>
          <a:prstGeom prst="rect">
            <a:avLst/>
          </a:prstGeom>
        </p:spPr>
      </p:pic>
      <p:pic>
        <p:nvPicPr>
          <p:cNvPr id="4" name="그림 3" descr="텍스트, 스크린샷, 도표, 폰트이(가) 표시된 사진">
            <a:extLst>
              <a:ext uri="{FF2B5EF4-FFF2-40B4-BE49-F238E27FC236}">
                <a16:creationId xmlns:a16="http://schemas.microsoft.com/office/drawing/2014/main" id="{E0E5B567-DF8B-9975-50C5-468299ECB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5029"/>
          <a:stretch>
            <a:fillRect/>
          </a:stretch>
        </p:blipFill>
        <p:spPr>
          <a:xfrm>
            <a:off x="4564442" y="3409828"/>
            <a:ext cx="4279703" cy="25415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AFAC6A-8EB5-9328-4220-72DE6358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6084295"/>
            <a:ext cx="1917933" cy="1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68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4141</TotalTime>
  <Words>3313</Words>
  <Application>Microsoft Office PowerPoint</Application>
  <PresentationFormat>화면 슬라이드 쇼(4:3)</PresentationFormat>
  <Paragraphs>327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HY견고딕</vt:lpstr>
      <vt:lpstr>HY견명조</vt:lpstr>
      <vt:lpstr>HY헤드라인M</vt:lpstr>
      <vt:lpstr>MS Gothic</vt:lpstr>
      <vt:lpstr>돋움</vt:lpstr>
      <vt:lpstr>맑은 고딕</vt:lpstr>
      <vt:lpstr>휴먼모음T</vt:lpstr>
      <vt:lpstr>Arial</vt:lpstr>
      <vt:lpstr>Verdana</vt:lpstr>
      <vt:lpstr>Wingdings</vt:lpstr>
      <vt:lpstr>1_Office 테마</vt:lpstr>
      <vt:lpstr>Chapter 01.  컴퓨터 시스템 개론</vt:lpstr>
      <vt:lpstr>Contents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1.1  컴퓨터 시스템의 구성</vt:lpstr>
      <vt:lpstr>1.2  컴퓨터의 역사</vt:lpstr>
      <vt:lpstr>1.2  컴퓨터의 역사</vt:lpstr>
      <vt:lpstr>1.2  컴퓨터의 역사</vt:lpstr>
      <vt:lpstr>02  컴퓨터의 역사</vt:lpstr>
      <vt:lpstr>1.2  컴퓨터의 역사</vt:lpstr>
      <vt:lpstr>1.2  컴퓨터의 역사</vt:lpstr>
      <vt:lpstr>1.2  컴퓨터의 역사</vt:lpstr>
      <vt:lpstr>1.2  컴퓨터의 역사</vt:lpstr>
      <vt:lpstr>1.2  컴퓨터의 역사</vt:lpstr>
      <vt:lpstr>1.3  컴퓨터의 분류</vt:lpstr>
      <vt:lpstr>1.3  컴퓨터의 분류</vt:lpstr>
      <vt:lpstr>1.3  컴퓨터의 분류</vt:lpstr>
      <vt:lpstr>1.3  컴퓨터의 분류</vt:lpstr>
      <vt:lpstr>1.3  컴퓨터의 분류</vt:lpstr>
      <vt:lpstr>1.3  컴퓨터의 분류</vt:lpstr>
      <vt:lpstr>1.4  폰 노이만, 비 폰 노이만, 하버드 구조</vt:lpstr>
      <vt:lpstr>1.4  폰 노이만, 비 폰 노이만, 하버드 구조</vt:lpstr>
      <vt:lpstr>1.4  폰 노이만, 비 폰 노이만, 하버드 구조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Seungan Woo</cp:lastModifiedBy>
  <cp:revision>335</cp:revision>
  <dcterms:created xsi:type="dcterms:W3CDTF">2011-01-05T15:14:06Z</dcterms:created>
  <dcterms:modified xsi:type="dcterms:W3CDTF">2026-09-02T13:34:43Z</dcterms:modified>
</cp:coreProperties>
</file>