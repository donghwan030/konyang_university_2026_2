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5" r:id="rId1"/>
  </p:sldMasterIdLst>
  <p:notesMasterIdLst>
    <p:notesMasterId r:id="rId59"/>
  </p:notesMasterIdLst>
  <p:handoutMasterIdLst>
    <p:handoutMasterId r:id="rId60"/>
  </p:handoutMasterIdLst>
  <p:sldIdLst>
    <p:sldId id="909" r:id="rId2"/>
    <p:sldId id="877" r:id="rId3"/>
    <p:sldId id="910" r:id="rId4"/>
    <p:sldId id="911" r:id="rId5"/>
    <p:sldId id="942" r:id="rId6"/>
    <p:sldId id="943" r:id="rId7"/>
    <p:sldId id="944" r:id="rId8"/>
    <p:sldId id="945" r:id="rId9"/>
    <p:sldId id="946" r:id="rId10"/>
    <p:sldId id="947" r:id="rId11"/>
    <p:sldId id="948" r:id="rId12"/>
    <p:sldId id="949" r:id="rId13"/>
    <p:sldId id="912" r:id="rId14"/>
    <p:sldId id="950" r:id="rId15"/>
    <p:sldId id="951" r:id="rId16"/>
    <p:sldId id="913" r:id="rId17"/>
    <p:sldId id="963" r:id="rId18"/>
    <p:sldId id="914" r:id="rId19"/>
    <p:sldId id="915" r:id="rId20"/>
    <p:sldId id="916" r:id="rId21"/>
    <p:sldId id="917" r:id="rId22"/>
    <p:sldId id="952" r:id="rId23"/>
    <p:sldId id="953" r:id="rId24"/>
    <p:sldId id="918" r:id="rId25"/>
    <p:sldId id="954" r:id="rId26"/>
    <p:sldId id="955" r:id="rId27"/>
    <p:sldId id="919" r:id="rId28"/>
    <p:sldId id="920" r:id="rId29"/>
    <p:sldId id="921" r:id="rId30"/>
    <p:sldId id="922" r:id="rId31"/>
    <p:sldId id="923" r:id="rId32"/>
    <p:sldId id="924" r:id="rId33"/>
    <p:sldId id="925" r:id="rId34"/>
    <p:sldId id="926" r:id="rId35"/>
    <p:sldId id="927" r:id="rId36"/>
    <p:sldId id="928" r:id="rId37"/>
    <p:sldId id="956" r:id="rId38"/>
    <p:sldId id="929" r:id="rId39"/>
    <p:sldId id="930" r:id="rId40"/>
    <p:sldId id="931" r:id="rId41"/>
    <p:sldId id="932" r:id="rId42"/>
    <p:sldId id="933" r:id="rId43"/>
    <p:sldId id="934" r:id="rId44"/>
    <p:sldId id="935" r:id="rId45"/>
    <p:sldId id="936" r:id="rId46"/>
    <p:sldId id="937" r:id="rId47"/>
    <p:sldId id="939" r:id="rId48"/>
    <p:sldId id="938" r:id="rId49"/>
    <p:sldId id="940" r:id="rId50"/>
    <p:sldId id="941" r:id="rId51"/>
    <p:sldId id="957" r:id="rId52"/>
    <p:sldId id="958" r:id="rId53"/>
    <p:sldId id="959" r:id="rId54"/>
    <p:sldId id="960" r:id="rId55"/>
    <p:sldId id="961" r:id="rId56"/>
    <p:sldId id="962" r:id="rId57"/>
    <p:sldId id="275" r:id="rId58"/>
  </p:sldIdLst>
  <p:sldSz cx="9144000" cy="6858000" type="screen4x3"/>
  <p:notesSz cx="7104063" cy="10234613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1E1B"/>
    <a:srgbClr val="404040"/>
    <a:srgbClr val="66FFFF"/>
    <a:srgbClr val="009999"/>
    <a:srgbClr val="339933"/>
    <a:srgbClr val="2B6278"/>
    <a:srgbClr val="948A88"/>
    <a:srgbClr val="2A2C50"/>
    <a:srgbClr val="717152"/>
    <a:srgbClr val="864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2" autoAdjust="0"/>
    <p:restoredTop sz="94362" autoAdjust="0"/>
  </p:normalViewPr>
  <p:slideViewPr>
    <p:cSldViewPr>
      <p:cViewPr varScale="1">
        <p:scale>
          <a:sx n="86" d="100"/>
          <a:sy n="86" d="100"/>
        </p:scale>
        <p:origin x="84" y="1794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-7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79201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4" y="2"/>
            <a:ext cx="3079201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2026-09-16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239"/>
            <a:ext cx="3079201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4" y="9721239"/>
            <a:ext cx="3079201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1" cy="511731"/>
          </a:xfrm>
          <a:prstGeom prst="rect">
            <a:avLst/>
          </a:prstGeom>
        </p:spPr>
        <p:txBody>
          <a:bodyPr vert="horz" lIns="95070" tIns="47535" rIns="95070" bIns="47535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4" y="2"/>
            <a:ext cx="3079201" cy="511731"/>
          </a:xfrm>
          <a:prstGeom prst="rect">
            <a:avLst/>
          </a:prstGeom>
        </p:spPr>
        <p:txBody>
          <a:bodyPr vert="horz" lIns="95070" tIns="47535" rIns="95070" bIns="47535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2026-09-16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0" tIns="47535" rIns="95070" bIns="4753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6" y="4862266"/>
            <a:ext cx="5683914" cy="4605575"/>
          </a:xfrm>
          <a:prstGeom prst="rect">
            <a:avLst/>
          </a:prstGeom>
        </p:spPr>
        <p:txBody>
          <a:bodyPr vert="horz" lIns="95070" tIns="47535" rIns="95070" bIns="4753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239"/>
            <a:ext cx="3079201" cy="511731"/>
          </a:xfrm>
          <a:prstGeom prst="rect">
            <a:avLst/>
          </a:prstGeom>
        </p:spPr>
        <p:txBody>
          <a:bodyPr vert="horz" lIns="95070" tIns="47535" rIns="95070" bIns="47535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4" y="9721239"/>
            <a:ext cx="3079201" cy="511731"/>
          </a:xfrm>
          <a:prstGeom prst="rect">
            <a:avLst/>
          </a:prstGeom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8350"/>
            <a:ext cx="5116513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82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3775" y="768350"/>
            <a:ext cx="5116513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5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8"/>
          <p:cNvSpPr/>
          <p:nvPr userDrawn="1"/>
        </p:nvSpPr>
        <p:spPr>
          <a:xfrm>
            <a:off x="323528" y="404815"/>
            <a:ext cx="8497887" cy="6048375"/>
          </a:xfrm>
          <a:prstGeom prst="roundRect">
            <a:avLst>
              <a:gd name="adj" fmla="val 2066"/>
            </a:avLst>
          </a:prstGeom>
          <a:noFill/>
          <a:ln w="53975">
            <a:solidFill>
              <a:srgbClr val="99AD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00" dirty="0">
              <a:solidFill>
                <a:srgbClr val="9A5F3A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625748" y="1156682"/>
            <a:ext cx="7186612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 dirty="0">
                <a:latin typeface="HY견고딕" pitchFamily="18" charset="-127"/>
                <a:ea typeface="HY견고딕" pitchFamily="18" charset="-127"/>
              </a:rPr>
              <a:t>최신 컴퓨터 구조</a:t>
            </a:r>
            <a:endParaRPr kumimoji="0" lang="de-DE" altLang="ko-KR" sz="2000" b="0" dirty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211922-674B-5DBE-8717-5D1C8ED188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808" y="1259840"/>
            <a:ext cx="381053" cy="238158"/>
          </a:xfrm>
          <a:prstGeom prst="rect">
            <a:avLst/>
          </a:prstGeom>
        </p:spPr>
      </p:pic>
      <p:sp>
        <p:nvSpPr>
          <p:cNvPr id="9" name="TextBox 7"/>
          <p:cNvSpPr txBox="1"/>
          <p:nvPr userDrawn="1"/>
        </p:nvSpPr>
        <p:spPr>
          <a:xfrm>
            <a:off x="611560" y="1628800"/>
            <a:ext cx="7991475" cy="11248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>
              <a:defRPr/>
            </a:pPr>
            <a:endParaRPr lang="en-US" altLang="ko-KR" sz="1200" dirty="0">
              <a:solidFill>
                <a:srgbClr val="222222"/>
              </a:solidFill>
            </a:endParaRPr>
          </a:p>
          <a:p>
            <a:pPr>
              <a:defRPr/>
            </a:pPr>
            <a:r>
              <a:rPr lang="en-US" altLang="ko-KR" sz="1200" b="1" dirty="0">
                <a:solidFill>
                  <a:srgbClr val="FF0000"/>
                </a:solidFill>
                <a:latin typeface="+mn-ea"/>
                <a:ea typeface="+mn-ea"/>
              </a:rPr>
              <a:t>[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강의교안 이용 안내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ea typeface="+mn-ea"/>
              </a:rPr>
              <a:t>]</a:t>
            </a:r>
          </a:p>
          <a:p>
            <a:pPr>
              <a:defRPr/>
            </a:pPr>
            <a:endParaRPr lang="en-US" altLang="ko-KR" sz="12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108000" indent="-108000" latinLnBrk="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ko-KR" altLang="en-US" sz="1200" spc="-100" dirty="0">
                <a:solidFill>
                  <a:prstClr val="black"/>
                </a:solidFill>
                <a:latin typeface="+mn-ea"/>
                <a:ea typeface="+mn-ea"/>
              </a:rPr>
              <a:t>본 강의교안의 저작권은 </a:t>
            </a:r>
            <a:r>
              <a:rPr lang="ko-KR" altLang="en-US" sz="1200" b="1" spc="-100" dirty="0">
                <a:solidFill>
                  <a:prstClr val="black"/>
                </a:solidFill>
                <a:latin typeface="+mn-ea"/>
                <a:ea typeface="+mn-ea"/>
              </a:rPr>
              <a:t>임석구 </a:t>
            </a:r>
            <a:r>
              <a:rPr lang="en-US" altLang="ko-KR" sz="1200" b="1" spc="-100" baseline="0" dirty="0">
                <a:solidFill>
                  <a:prstClr val="black"/>
                </a:solidFill>
                <a:latin typeface="+mn-ea"/>
                <a:ea typeface="+mn-ea"/>
              </a:rPr>
              <a:t>· </a:t>
            </a:r>
            <a:r>
              <a:rPr lang="ko-KR" altLang="en-US" sz="1200" b="1" spc="-100" dirty="0">
                <a:solidFill>
                  <a:prstClr val="black"/>
                </a:solidFill>
                <a:latin typeface="+mn-ea"/>
                <a:ea typeface="+mn-ea"/>
              </a:rPr>
              <a:t>홍경호</a:t>
            </a:r>
            <a:r>
              <a:rPr lang="ko-KR" altLang="en-US" sz="1200" spc="-100" dirty="0">
                <a:solidFill>
                  <a:prstClr val="black"/>
                </a:solidFill>
                <a:latin typeface="+mn-ea"/>
                <a:ea typeface="+mn-ea"/>
              </a:rPr>
              <a:t>와 </a:t>
            </a:r>
            <a:r>
              <a:rPr lang="ko-KR" altLang="en-US" sz="1200" b="1" spc="-100" dirty="0">
                <a:solidFill>
                  <a:prstClr val="black"/>
                </a:solidFill>
                <a:latin typeface="+mn-ea"/>
                <a:ea typeface="+mn-ea"/>
              </a:rPr>
              <a:t>한빛아카데미㈜</a:t>
            </a:r>
            <a:r>
              <a:rPr lang="ko-KR" altLang="en-US" sz="1200" spc="-100" dirty="0">
                <a:solidFill>
                  <a:prstClr val="black"/>
                </a:solidFill>
                <a:latin typeface="+mn-ea"/>
                <a:ea typeface="+mn-ea"/>
              </a:rPr>
              <a:t>에 있습니다</a:t>
            </a:r>
            <a:r>
              <a:rPr lang="en-US" altLang="ko-KR" sz="1200" spc="-100" dirty="0">
                <a:solidFill>
                  <a:prstClr val="black"/>
                </a:solidFill>
                <a:latin typeface="+mn-ea"/>
                <a:ea typeface="+mn-ea"/>
              </a:rPr>
              <a:t>.</a:t>
            </a:r>
            <a:r>
              <a:rPr lang="ko-KR" altLang="en-US" sz="1200" spc="-100" dirty="0">
                <a:solidFill>
                  <a:srgbClr val="222222"/>
                </a:solidFill>
                <a:latin typeface="+mn-ea"/>
                <a:ea typeface="+mn-ea"/>
              </a:rPr>
              <a:t> </a:t>
            </a:r>
            <a:endParaRPr lang="en-US" altLang="ko-KR" sz="1200" spc="-100" dirty="0">
              <a:solidFill>
                <a:srgbClr val="222222"/>
              </a:solidFill>
              <a:latin typeface="+mn-ea"/>
              <a:ea typeface="+mn-ea"/>
            </a:endParaRPr>
          </a:p>
          <a:p>
            <a:pPr marL="128588" indent="-128588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sz="1200" u="sng" spc="-100" dirty="0">
                <a:solidFill>
                  <a:srgbClr val="222222"/>
                </a:solidFill>
                <a:latin typeface="+mn-ea"/>
                <a:ea typeface="+mn-ea"/>
              </a:rPr>
              <a:t>이 자료는 강의 보조자료로 제공되는 것으로 무단으로 전재하거나 배포하는 것을 금합니다</a:t>
            </a:r>
            <a:r>
              <a:rPr lang="en-US" altLang="ko-KR" sz="1200" u="sng" spc="-100" dirty="0">
                <a:solidFill>
                  <a:srgbClr val="222222"/>
                </a:solidFill>
                <a:latin typeface="+mn-ea"/>
                <a:ea typeface="+mn-ea"/>
              </a:rPr>
              <a:t>. </a:t>
            </a:r>
            <a:endParaRPr kumimoji="0" lang="ko-KR" altLang="en-US" sz="1200" dirty="0">
              <a:ea typeface="맑은 고딕" pitchFamily="50" charset="-127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08720"/>
            <a:ext cx="1008112" cy="19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72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장제목">
    <p:bg>
      <p:bgPr>
        <a:solidFill>
          <a:srgbClr val="22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3"/>
          <p:cNvSpPr>
            <a:spLocks noGrp="1"/>
          </p:cNvSpPr>
          <p:nvPr>
            <p:ph type="title" hasCustomPrompt="1"/>
          </p:nvPr>
        </p:nvSpPr>
        <p:spPr>
          <a:xfrm>
            <a:off x="5148063" y="4797152"/>
            <a:ext cx="3816425" cy="1824936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en-US" altLang="ko-KR" dirty="0"/>
              <a:t>Click to edit</a:t>
            </a:r>
            <a:br>
              <a:rPr lang="en-US" altLang="ko-KR" dirty="0"/>
            </a:br>
            <a:r>
              <a:rPr lang="en-US" altLang="ko-KR" dirty="0"/>
              <a:t>Master title style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486786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677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이 장에서 만들 프로그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rgbClr val="948A88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2400" dirty="0">
              <a:solidFill>
                <a:srgbClr val="8B33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225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/58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1" y="51786"/>
            <a:ext cx="7785100" cy="474662"/>
          </a:xfrm>
        </p:spPr>
        <p:txBody>
          <a:bodyPr>
            <a:noAutofit/>
          </a:bodyPr>
          <a:lstStyle>
            <a:lvl1pPr algn="l">
              <a:defRPr sz="1800" b="1" spc="-75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266700" indent="-196454">
              <a:lnSpc>
                <a:spcPct val="120000"/>
              </a:lnSpc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1800" b="1"/>
            </a:lvl1pPr>
            <a:lvl2pPr marL="401241" indent="-133350">
              <a:lnSpc>
                <a:spcPct val="120000"/>
              </a:lnSpc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540544" indent="-139304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200"/>
            </a:lvl3pPr>
            <a:lvl4pPr marL="673894" indent="-133350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050"/>
            </a:lvl4pPr>
            <a:lvl5pPr marL="808435" indent="-134541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5612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기본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rgbClr val="32738C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2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225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/58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1" y="51786"/>
            <a:ext cx="7785100" cy="474662"/>
          </a:xfrm>
        </p:spPr>
        <p:txBody>
          <a:bodyPr>
            <a:noAutofit/>
          </a:bodyPr>
          <a:lstStyle>
            <a:lvl1pPr algn="l">
              <a:defRPr sz="1800" b="1" spc="-75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266700" indent="-196454">
              <a:lnSpc>
                <a:spcPct val="120000"/>
              </a:lnSpc>
              <a:buClr>
                <a:schemeClr val="accent5">
                  <a:lumMod val="50000"/>
                </a:schemeClr>
              </a:buClr>
              <a:buSzPct val="130000"/>
              <a:buFont typeface="Wingdings" panose="05000000000000000000" pitchFamily="2" charset="2"/>
              <a:buChar char="§"/>
              <a:defRPr sz="1800" b="1"/>
            </a:lvl1pPr>
            <a:lvl2pPr marL="401241" indent="-133350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540544" indent="-139304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200"/>
            </a:lvl3pPr>
            <a:lvl4pPr marL="673894" indent="-133350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050"/>
            </a:lvl4pPr>
            <a:lvl5pPr marL="808435" indent="-134541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2312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139701" y="6525345"/>
            <a:ext cx="8756650" cy="280046"/>
          </a:xfrm>
          <a:prstGeom prst="rect">
            <a:avLst/>
          </a:prstGeom>
        </p:spPr>
        <p:txBody>
          <a:bodyPr/>
          <a:lstStyle>
            <a:lvl1pPr>
              <a:defRPr b="1" i="1"/>
            </a:lvl1pPr>
          </a:lstStyle>
          <a:p>
            <a:pPr latinLnBrk="0"/>
            <a:fld id="{926EA8F1-C76B-4BC6-98C4-C2D2384EDDB7}" type="slidenum">
              <a:rPr lang="en-US" altLang="ko-KR" kern="0" smtClean="0">
                <a:latin typeface="Verdana"/>
              </a:rPr>
              <a:pPr latinLnBrk="0"/>
              <a:t>‹#›</a:t>
            </a:fld>
            <a:endParaRPr lang="en-US" altLang="ko-KR" kern="0" dirty="0">
              <a:latin typeface="Verdana"/>
            </a:endParaRPr>
          </a:p>
        </p:txBody>
      </p:sp>
      <p:sp>
        <p:nvSpPr>
          <p:cNvPr id="9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1500"/>
          </a:p>
        </p:txBody>
      </p:sp>
      <p:sp>
        <p:nvSpPr>
          <p:cNvPr id="1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 sz="1500"/>
          </a:p>
        </p:txBody>
      </p:sp>
      <p:sp>
        <p:nvSpPr>
          <p:cNvPr id="6" name="AutoShape 3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1500"/>
          </a:p>
        </p:txBody>
      </p:sp>
      <p:sp>
        <p:nvSpPr>
          <p:cNvPr id="8" name="Line 5"/>
          <p:cNvSpPr>
            <a:spLocks noChangeShapeType="1"/>
          </p:cNvSpPr>
          <p:nvPr userDrawn="1">
            <p:custDataLst>
              <p:tags r:id="rId5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 sz="1500"/>
          </a:p>
        </p:txBody>
      </p:sp>
      <p:sp>
        <p:nvSpPr>
          <p:cNvPr id="10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5263" y="3048001"/>
            <a:ext cx="36576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33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33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33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528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백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225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/58</a:t>
            </a:r>
          </a:p>
        </p:txBody>
      </p:sp>
    </p:spTree>
    <p:extLst>
      <p:ext uri="{BB962C8B-B14F-4D97-AF65-F5344CB8AC3E}">
        <p14:creationId xmlns:p14="http://schemas.microsoft.com/office/powerpoint/2010/main" val="287563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FD9B6-DC5A-4644-B01F-335E6DD2CDD1}" type="datetimeFigureOut">
              <a:rPr lang="ko-KR" altLang="en-US" smtClean="0"/>
              <a:pPr/>
              <a:t>2026-09-16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BC740F2-65F4-46F1-8462-F5CEAE10BBF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66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77" r:id="rId2"/>
    <p:sldLayoutId id="2147484678" r:id="rId3"/>
    <p:sldLayoutId id="2147484679" r:id="rId4"/>
    <p:sldLayoutId id="2147484680" r:id="rId5"/>
    <p:sldLayoutId id="2147484681" r:id="rId6"/>
  </p:sldLayoutIdLst>
  <p:txStyles>
    <p:titleStyle>
      <a:lvl1pPr algn="ctr" defTabSz="685800" rtl="0" eaLnBrk="1" latinLnBrk="1" hangingPunct="1">
        <a:spcBef>
          <a:spcPct val="0"/>
        </a:spcBef>
        <a:buNone/>
        <a:defRPr sz="33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54.wmf"/><Relationship Id="rId10" Type="http://schemas.openxmlformats.org/officeDocument/2006/relationships/image" Target="../media/image57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56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8.wmf"/><Relationship Id="rId4" Type="http://schemas.openxmlformats.org/officeDocument/2006/relationships/oleObject" Target="../embeddings/oleObject13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Chapter 02.</a:t>
            </a:r>
            <a:br>
              <a:rPr lang="en-US" altLang="ko-KR" dirty="0"/>
            </a:br>
            <a:r>
              <a:rPr lang="ko-KR" altLang="en-US" dirty="0">
                <a:solidFill>
                  <a:schemeClr val="bg1"/>
                </a:solidFill>
              </a:rPr>
              <a:t>데이터의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표현</a:t>
            </a:r>
          </a:p>
        </p:txBody>
      </p:sp>
    </p:spTree>
    <p:extLst>
      <p:ext uri="{BB962C8B-B14F-4D97-AF65-F5344CB8AC3E}">
        <p14:creationId xmlns:p14="http://schemas.microsoft.com/office/powerpoint/2010/main" val="70426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5" name="내용 개체 틀 2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70247" indent="0">
              <a:buNone/>
            </a:pPr>
            <a:r>
              <a:rPr lang="ko-KR" altLang="en-US" sz="1650" dirty="0"/>
              <a:t>학습목표</a:t>
            </a:r>
            <a:endParaRPr lang="en-US" altLang="ko-KR" sz="1650" dirty="0"/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2·8·10·16</a:t>
            </a:r>
            <a:r>
              <a:rPr lang="ko-KR" altLang="en-US" sz="1350" spc="-75" dirty="0"/>
              <a:t>진수 등의 표현 방법을 이해하고 상호 변환할 수 있다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2</a:t>
            </a:r>
            <a:r>
              <a:rPr lang="ko-KR" altLang="en-US" sz="1350" spc="-75" dirty="0"/>
              <a:t>진수의 연산과 </a:t>
            </a:r>
            <a:r>
              <a:rPr lang="en-US" altLang="ko-KR" sz="1350" spc="-75" dirty="0"/>
              <a:t>2</a:t>
            </a:r>
            <a:r>
              <a:rPr lang="ko-KR" altLang="en-US" sz="1350" spc="-75" dirty="0"/>
              <a:t>진수 음수의 표현 방법을 이해하고 이를 활용할 수 있다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부동 소수점 </a:t>
            </a:r>
            <a:r>
              <a:rPr lang="en-US" altLang="ko-KR" sz="1350" spc="-75" dirty="0"/>
              <a:t>2</a:t>
            </a:r>
            <a:r>
              <a:rPr lang="ko-KR" altLang="en-US" sz="1350" spc="-75" dirty="0"/>
              <a:t>진수를 </a:t>
            </a:r>
            <a:r>
              <a:rPr lang="en-US" altLang="ko-KR" sz="1350" spc="-75" dirty="0"/>
              <a:t>IEEE 754 </a:t>
            </a:r>
            <a:r>
              <a:rPr lang="ko-KR" altLang="en-US" sz="1350" spc="-75" dirty="0"/>
              <a:t>표준 방식으로 표현할 수 있다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가중치 코드와 비가중치 코드를 이해하고 이를 활용할 수 있다</a:t>
            </a:r>
            <a:r>
              <a:rPr lang="en-US" altLang="ko-KR" sz="1350" spc="-75" dirty="0"/>
              <a:t>.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•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에러 검출 코드를 이해하고 이를 활용할 수 있다</a:t>
            </a:r>
            <a:r>
              <a:rPr lang="en-US" altLang="ko-KR" sz="1350" spc="-75" dirty="0"/>
              <a:t>.</a:t>
            </a:r>
          </a:p>
          <a:p>
            <a:pPr lvl="1"/>
            <a:endParaRPr lang="en-US" altLang="ko-KR" dirty="0"/>
          </a:p>
          <a:p>
            <a:pPr marL="70247" indent="0">
              <a:buNone/>
            </a:pPr>
            <a:endParaRPr lang="en-US" altLang="ko-KR" sz="1650" dirty="0"/>
          </a:p>
          <a:p>
            <a:pPr marL="70247" indent="0">
              <a:buNone/>
            </a:pPr>
            <a:r>
              <a:rPr lang="ko-KR" altLang="en-US" sz="1650" dirty="0"/>
              <a:t>내용 </a:t>
            </a:r>
            <a:endParaRPr lang="en-US" altLang="ko-KR" sz="1650" dirty="0"/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2.1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진법과 진법 변환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2.2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정수 표현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2.3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실수 표현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2.4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디지털 코드</a:t>
            </a:r>
          </a:p>
          <a:p>
            <a:pPr marL="267891" lvl="1" indent="0">
              <a:buNone/>
            </a:pPr>
            <a:r>
              <a:rPr lang="en-US" altLang="ko-KR" sz="1350" spc="-75" dirty="0">
                <a:solidFill>
                  <a:srgbClr val="00B0F0"/>
                </a:solidFill>
              </a:rPr>
              <a:t>2.5</a:t>
            </a:r>
            <a:r>
              <a:rPr lang="en-US" altLang="ko-KR" sz="1350" spc="-75" dirty="0"/>
              <a:t> </a:t>
            </a:r>
            <a:r>
              <a:rPr lang="ko-KR" altLang="en-US" sz="1350" spc="-75" dirty="0"/>
              <a:t>에러 검출 코드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FF525A4-0BA5-48E4-AD75-3E069AFC97B4}"/>
              </a:ext>
            </a:extLst>
          </p:cNvPr>
          <p:cNvGrpSpPr/>
          <p:nvPr/>
        </p:nvGrpSpPr>
        <p:grpSpPr>
          <a:xfrm>
            <a:off x="179512" y="2564904"/>
            <a:ext cx="6800850" cy="400050"/>
            <a:chOff x="1173528" y="2942946"/>
            <a:chExt cx="6800850" cy="400050"/>
          </a:xfrm>
        </p:grpSpPr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1173528" y="3342996"/>
              <a:ext cx="6572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 sz="1500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 flipH="1">
              <a:off x="7745778" y="2942946"/>
              <a:ext cx="228600" cy="400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15551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83378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디지털 정보의 단위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1nibble = 4bit</a:t>
            </a: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1byte = 8bit = 1</a:t>
            </a:r>
            <a:r>
              <a:rPr lang="ko-KR" altLang="en-US" sz="1275" spc="-75" dirty="0"/>
              <a:t>문자</a:t>
            </a:r>
            <a:r>
              <a:rPr lang="en-US" altLang="ko-KR" sz="1275" spc="-75" dirty="0"/>
              <a:t>(character)</a:t>
            </a: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75" spc="-75" dirty="0"/>
              <a:t>영어는 </a:t>
            </a:r>
            <a:r>
              <a:rPr lang="en-US" altLang="ko-KR" sz="1275" spc="-75" dirty="0"/>
              <a:t>1byte</a:t>
            </a:r>
            <a:r>
              <a:rPr lang="ko-KR" altLang="en-US" sz="1275" spc="-75" dirty="0"/>
              <a:t>로 </a:t>
            </a:r>
            <a:r>
              <a:rPr lang="en-US" altLang="ko-KR" sz="1275" spc="-75" dirty="0"/>
              <a:t>1</a:t>
            </a:r>
            <a:r>
              <a:rPr lang="ko-KR" altLang="en-US" sz="1275" spc="-75" dirty="0"/>
              <a:t>문자 표현</a:t>
            </a:r>
            <a:r>
              <a:rPr lang="en-US" altLang="ko-KR" sz="1275" spc="-75" dirty="0"/>
              <a:t>, </a:t>
            </a:r>
            <a:r>
              <a:rPr lang="ko-KR" altLang="en-US" sz="1275" spc="-75" dirty="0"/>
              <a:t>한글은 </a:t>
            </a:r>
            <a:r>
              <a:rPr lang="en-US" altLang="ko-KR" sz="1275" spc="-75" dirty="0"/>
              <a:t>2byte</a:t>
            </a:r>
            <a:r>
              <a:rPr lang="ko-KR" altLang="en-US" sz="1275" spc="-75" dirty="0"/>
              <a:t>로 </a:t>
            </a:r>
            <a:r>
              <a:rPr lang="en-US" altLang="ko-KR" sz="1275" spc="-75" dirty="0"/>
              <a:t>1</a:t>
            </a:r>
            <a:r>
              <a:rPr lang="ko-KR" altLang="en-US" sz="1275" spc="-75" dirty="0"/>
              <a:t>문자 표현</a:t>
            </a:r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1</a:t>
            </a:r>
            <a:r>
              <a:rPr lang="ko-KR" altLang="en-US" sz="1275" spc="-75" dirty="0"/>
              <a:t>워드</a:t>
            </a:r>
            <a:r>
              <a:rPr lang="en-US" altLang="ko-KR" sz="1275" spc="-75" dirty="0"/>
              <a:t> : </a:t>
            </a:r>
            <a:r>
              <a:rPr lang="ko-KR" altLang="en-US" sz="1275" spc="-75" dirty="0"/>
              <a:t>특정 </a:t>
            </a:r>
            <a:r>
              <a:rPr lang="en-US" altLang="ko-KR" sz="1275" spc="-75" dirty="0"/>
              <a:t>CPU</a:t>
            </a:r>
            <a:r>
              <a:rPr lang="ko-KR" altLang="en-US" sz="1275" spc="-75" dirty="0"/>
              <a:t>에서 취급하는 명령어나 데이터의 길이에 해당하는 비트 수</a:t>
            </a:r>
            <a:endParaRPr lang="en-US" altLang="ko-KR" sz="1275" spc="-75" dirty="0"/>
          </a:p>
          <a:p>
            <a:pPr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75" spc="-75" dirty="0"/>
              <a:t>워드 길이</a:t>
            </a:r>
            <a:r>
              <a:rPr lang="en-US" altLang="ko-KR" sz="1275" spc="-75" dirty="0"/>
              <a:t>: 8·16·32·64</a:t>
            </a:r>
            <a:r>
              <a:rPr lang="ko-KR" altLang="en-US" sz="1275" spc="-75" dirty="0"/>
              <a:t>비트 등 </a:t>
            </a:r>
            <a:r>
              <a:rPr lang="en-US" altLang="ko-KR" sz="1275" spc="-75" dirty="0"/>
              <a:t>8</a:t>
            </a:r>
            <a:r>
              <a:rPr lang="ko-KR" altLang="en-US" sz="1275" spc="-75" dirty="0"/>
              <a:t>의 배수</a:t>
            </a:r>
          </a:p>
        </p:txBody>
      </p:sp>
      <p:pic>
        <p:nvPicPr>
          <p:cNvPr id="3" name="그림 2" descr="텍스트, 스크린샷, 라인, 평행이(가) 표시된 사진">
            <a:extLst>
              <a:ext uri="{FF2B5EF4-FFF2-40B4-BE49-F238E27FC236}">
                <a16:creationId xmlns:a16="http://schemas.microsoft.com/office/drawing/2014/main" id="{B6D9CA06-2738-F7DE-AAEA-800FAE537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985185"/>
            <a:ext cx="5198518" cy="1246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A06559-598E-9E21-C972-915E653DADF7}"/>
              </a:ext>
            </a:extLst>
          </p:cNvPr>
          <p:cNvSpPr txBox="1"/>
          <p:nvPr/>
        </p:nvSpPr>
        <p:spPr>
          <a:xfrm>
            <a:off x="5490103" y="4307283"/>
            <a:ext cx="2813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B0F0"/>
                </a:solidFill>
                <a:latin typeface="+mn-lt"/>
              </a:rPr>
              <a:t>MSB</a:t>
            </a:r>
            <a:r>
              <a:rPr lang="en-US" altLang="ko-KR" sz="1200" dirty="0">
                <a:latin typeface="+mn-lt"/>
              </a:rPr>
              <a:t>: Most Significant Bit, </a:t>
            </a:r>
            <a:r>
              <a:rPr lang="ko-KR" altLang="en-US" sz="1200" dirty="0">
                <a:latin typeface="+mn-lt"/>
              </a:rPr>
              <a:t>최상위비트</a:t>
            </a:r>
            <a:endParaRPr lang="en-US" altLang="ko-KR" sz="1200" dirty="0">
              <a:latin typeface="+mn-lt"/>
            </a:endParaRPr>
          </a:p>
          <a:p>
            <a:r>
              <a:rPr lang="en-US" altLang="ko-KR" sz="1200" dirty="0">
                <a:solidFill>
                  <a:srgbClr val="00B0F0"/>
                </a:solidFill>
                <a:latin typeface="+mn-lt"/>
              </a:rPr>
              <a:t>LSB</a:t>
            </a:r>
            <a:r>
              <a:rPr lang="en-US" altLang="ko-KR" sz="1200" dirty="0">
                <a:latin typeface="+mn-lt"/>
              </a:rPr>
              <a:t>: Least Significant Bit, </a:t>
            </a:r>
            <a:r>
              <a:rPr lang="ko-KR" altLang="en-US" sz="1200" dirty="0">
                <a:latin typeface="+mn-lt"/>
              </a:rPr>
              <a:t>최하위비트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914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13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altLang="ko-KR" sz="1350" spc="-75" dirty="0"/>
              <a:t>SI </a:t>
            </a:r>
            <a:r>
              <a:rPr lang="ko-KR" altLang="en-US" sz="1350" spc="-75" dirty="0"/>
              <a:t>단위와 </a:t>
            </a:r>
            <a:r>
              <a:rPr lang="en-US" altLang="ko-KR" sz="1350" spc="-75" dirty="0"/>
              <a:t>IEC </a:t>
            </a:r>
            <a:r>
              <a:rPr lang="ko-KR" altLang="en-US" sz="1350" spc="-75" dirty="0"/>
              <a:t>단위 비교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endParaRPr lang="ko-KR" altLang="en-US" spc="-75" dirty="0"/>
          </a:p>
        </p:txBody>
      </p:sp>
      <p:pic>
        <p:nvPicPr>
          <p:cNvPr id="4" name="그림 3" descr="텍스트, 스크린샷, 번호, 폰트이(가) 표시된 사진">
            <a:extLst>
              <a:ext uri="{FF2B5EF4-FFF2-40B4-BE49-F238E27FC236}">
                <a16:creationId xmlns:a16="http://schemas.microsoft.com/office/drawing/2014/main" id="{C9909462-9C62-5FBF-D71C-0285DF4D6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46" y="1213743"/>
            <a:ext cx="7481979" cy="34737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0A193E3-7A19-9BE9-F297-163A581F6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80" y="4731561"/>
            <a:ext cx="7279545" cy="83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60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진법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336947" lvl="1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 10</a:t>
            </a:r>
            <a:r>
              <a:rPr lang="ko-KR" altLang="en-US" sz="1350" b="1" spc="-75" dirty="0"/>
              <a:t>진법</a:t>
            </a:r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10</a:t>
            </a:r>
            <a:r>
              <a:rPr lang="ko-KR" altLang="en-US" sz="1275" spc="-75" dirty="0"/>
              <a:t>진수</a:t>
            </a:r>
            <a:r>
              <a:rPr lang="en-US" altLang="ko-KR" sz="1275" spc="-75" dirty="0"/>
              <a:t>: </a:t>
            </a:r>
            <a:r>
              <a:rPr lang="ko-KR" altLang="en-US" sz="1275" spc="-75" dirty="0"/>
              <a:t>기수가 </a:t>
            </a:r>
            <a:r>
              <a:rPr lang="en-US" altLang="ko-KR" sz="1275" spc="-75" dirty="0"/>
              <a:t>10</a:t>
            </a:r>
            <a:r>
              <a:rPr lang="ko-KR" altLang="en-US" sz="1275" spc="-75" dirty="0"/>
              <a:t>인 수</a:t>
            </a:r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0, 1, 2, 3, 4, 5, 6, 7, 8, 9</a:t>
            </a:r>
            <a:r>
              <a:rPr lang="ko-KR" altLang="en-US" sz="1275" spc="-75" dirty="0"/>
              <a:t>의 </a:t>
            </a:r>
            <a:r>
              <a:rPr lang="en-US" altLang="ko-KR" sz="1275" spc="-75" dirty="0"/>
              <a:t>10</a:t>
            </a:r>
            <a:r>
              <a:rPr lang="ko-KR" altLang="en-US" sz="1275" spc="-75" dirty="0"/>
              <a:t>개 수로 표현</a:t>
            </a:r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275" spc="-75" dirty="0"/>
          </a:p>
          <a:p>
            <a:pPr marL="336947" lvl="1">
              <a:lnSpc>
                <a:spcPct val="110000"/>
              </a:lnSpc>
              <a:spcBef>
                <a:spcPts val="135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 2</a:t>
            </a:r>
            <a:r>
              <a:rPr lang="ko-KR" altLang="en-US" sz="1350" b="1" spc="-75" dirty="0"/>
              <a:t>진법</a:t>
            </a:r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75" spc="-75" dirty="0"/>
              <a:t>기수가 </a:t>
            </a:r>
            <a:r>
              <a:rPr lang="en-US" altLang="ko-KR" sz="1275" spc="-75" dirty="0"/>
              <a:t>2</a:t>
            </a:r>
            <a:r>
              <a:rPr lang="ko-KR" altLang="en-US" sz="1275" spc="-75" dirty="0"/>
              <a:t>인 수</a:t>
            </a:r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0, 1 </a:t>
            </a:r>
            <a:r>
              <a:rPr lang="ko-KR" altLang="en-US" sz="1275" spc="-75" dirty="0"/>
              <a:t>두 개의 수로 표현</a:t>
            </a:r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7BE056-D477-1128-6502-16E6D2AA6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355" y="2132856"/>
            <a:ext cx="5651971" cy="6477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15768C6-01DE-BA04-FAA0-6544278C1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55" y="4128832"/>
            <a:ext cx="6534586" cy="10445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7782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6947" lvl="1">
              <a:lnSpc>
                <a:spcPct val="110000"/>
              </a:lnSpc>
              <a:spcBef>
                <a:spcPts val="135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 8</a:t>
            </a:r>
            <a:r>
              <a:rPr lang="ko-KR" altLang="en-US" sz="1350" b="1" spc="-75" dirty="0"/>
              <a:t>진법</a:t>
            </a:r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0~7</a:t>
            </a:r>
            <a:r>
              <a:rPr lang="ko-KR" altLang="en-US" sz="1275" spc="-75" dirty="0"/>
              <a:t>까지 </a:t>
            </a:r>
            <a:r>
              <a:rPr lang="en-US" altLang="ko-KR" sz="1275" spc="-75" dirty="0"/>
              <a:t>8</a:t>
            </a:r>
            <a:r>
              <a:rPr lang="ko-KR" altLang="en-US" sz="1275" spc="-75" dirty="0"/>
              <a:t>개의 수로 표현</a:t>
            </a:r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275" spc="-75" dirty="0"/>
          </a:p>
          <a:p>
            <a:pPr marL="336947" lvl="1">
              <a:lnSpc>
                <a:spcPct val="110000"/>
              </a:lnSpc>
              <a:spcBef>
                <a:spcPts val="135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 16</a:t>
            </a:r>
            <a:r>
              <a:rPr lang="ko-KR" altLang="en-US" sz="1350" b="1" spc="-75" dirty="0"/>
              <a:t>진법</a:t>
            </a:r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0~9, A~F</a:t>
            </a:r>
            <a:r>
              <a:rPr lang="ko-KR" altLang="en-US" sz="1275" spc="-75" dirty="0"/>
              <a:t>까지 </a:t>
            </a:r>
            <a:r>
              <a:rPr lang="en-US" altLang="ko-KR" sz="1275" spc="-75" dirty="0"/>
              <a:t>16</a:t>
            </a:r>
            <a:r>
              <a:rPr lang="ko-KR" altLang="en-US" sz="1275" spc="-75" dirty="0"/>
              <a:t>개의 기호로 표현</a:t>
            </a:r>
            <a:endParaRPr lang="en-US" altLang="ko-KR" sz="1275" spc="-75" dirty="0"/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275" spc="-75" dirty="0"/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275" spc="-75" dirty="0"/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275" spc="-75" dirty="0"/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275" spc="-75" dirty="0"/>
          </a:p>
          <a:p>
            <a:pPr marL="472679" lvl="1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spc="-75" dirty="0"/>
              <a:t>8</a:t>
            </a:r>
            <a:r>
              <a:rPr lang="ko-KR" altLang="en-US" sz="1275" spc="-75" dirty="0"/>
              <a:t>진수보다는 </a:t>
            </a:r>
            <a:r>
              <a:rPr lang="en-US" altLang="ko-KR" sz="1275" spc="-75" dirty="0"/>
              <a:t>16</a:t>
            </a:r>
            <a:r>
              <a:rPr lang="ko-KR" altLang="en-US" sz="1275" spc="-75" dirty="0"/>
              <a:t>진수를 사용하는 경우가 더 많은데 실제로 컴퓨터 구조나 어셈블리어에서는 </a:t>
            </a:r>
            <a:r>
              <a:rPr lang="en-US" altLang="ko-KR" sz="1275" spc="-75" dirty="0"/>
              <a:t>16</a:t>
            </a:r>
            <a:r>
              <a:rPr lang="ko-KR" altLang="en-US" sz="1275" spc="-75" dirty="0"/>
              <a:t>진수를 많이 쓴다</a:t>
            </a:r>
            <a:r>
              <a:rPr lang="en-US" altLang="ko-KR" sz="1275" spc="-75" dirty="0"/>
              <a:t>. </a:t>
            </a:r>
            <a:r>
              <a:rPr lang="ko-KR" altLang="en-US" sz="1275" spc="-75" dirty="0"/>
              <a:t>자릿수를 더 짧게 표현할 수 있기 때문이다</a:t>
            </a:r>
            <a:r>
              <a:rPr lang="en-US" altLang="ko-KR" sz="1275" spc="-75" dirty="0"/>
              <a:t>.</a:t>
            </a:r>
            <a:endParaRPr lang="ko-KR" altLang="en-US" sz="1275" spc="-75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8E6D45E-9557-A255-B8F8-7515629F1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45503"/>
            <a:ext cx="5158031" cy="6882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5948CB7-AF15-0391-B6C1-B22D7400F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70" y="2996952"/>
            <a:ext cx="5579095" cy="6882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2791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6947" lvl="1">
              <a:lnSpc>
                <a:spcPct val="110000"/>
              </a:lnSpc>
              <a:spcBef>
                <a:spcPts val="135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 2</a:t>
            </a:r>
            <a:r>
              <a:rPr lang="ko-KR" altLang="en-US" sz="1350" b="1" spc="-75" dirty="0"/>
              <a:t>진수에 해당하는 </a:t>
            </a:r>
            <a:r>
              <a:rPr lang="en-US" altLang="ko-KR" sz="1350" b="1" spc="-75" dirty="0"/>
              <a:t>8</a:t>
            </a:r>
            <a:r>
              <a:rPr lang="ko-KR" altLang="en-US" sz="1350" b="1" spc="-75" dirty="0"/>
              <a:t>진수</a:t>
            </a:r>
            <a:r>
              <a:rPr lang="en-US" altLang="ko-KR" sz="1350" b="1" spc="-75" dirty="0"/>
              <a:t>, 16</a:t>
            </a:r>
            <a:r>
              <a:rPr lang="ko-KR" altLang="en-US" sz="1350" b="1" spc="-75" dirty="0"/>
              <a:t>진수</a:t>
            </a:r>
            <a:r>
              <a:rPr lang="en-US" altLang="ko-KR" sz="1350" b="1" spc="-75" dirty="0"/>
              <a:t>, 10</a:t>
            </a:r>
            <a:r>
              <a:rPr lang="ko-KR" altLang="en-US" sz="1350" b="1" spc="-75" dirty="0"/>
              <a:t>진수 표현</a:t>
            </a:r>
            <a:endParaRPr lang="ko-KR" altLang="en-US" sz="1275" spc="-75" dirty="0"/>
          </a:p>
        </p:txBody>
      </p:sp>
      <p:pic>
        <p:nvPicPr>
          <p:cNvPr id="3" name="그림 2" descr="텍스트, 스크린샷, 번호, 폰트이(가) 표시된 사진">
            <a:extLst>
              <a:ext uri="{FF2B5EF4-FFF2-40B4-BE49-F238E27FC236}">
                <a16:creationId xmlns:a16="http://schemas.microsoft.com/office/drawing/2014/main" id="{26687646-DBAE-F51F-87A6-7EB8D2E28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12776"/>
            <a:ext cx="6518391" cy="31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8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진법 변환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332185" lvl="1" indent="-214313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 2</a:t>
            </a:r>
            <a:r>
              <a:rPr lang="ko-KR" altLang="en-US" sz="1500" b="1" spc="-75" dirty="0"/>
              <a:t>진수</a:t>
            </a:r>
            <a:r>
              <a:rPr lang="en-US" altLang="ko-KR" sz="1500" b="1" spc="-75" dirty="0"/>
              <a:t>, 8</a:t>
            </a:r>
            <a:r>
              <a:rPr lang="ko-KR" altLang="en-US" sz="1500" b="1" spc="-75" dirty="0"/>
              <a:t>진수</a:t>
            </a:r>
            <a:r>
              <a:rPr lang="en-US" altLang="ko-KR" sz="1500" b="1" spc="-75" dirty="0"/>
              <a:t>, 16</a:t>
            </a:r>
            <a:r>
              <a:rPr lang="ko-KR" altLang="en-US" sz="1500" b="1" spc="-75" dirty="0"/>
              <a:t>진수를 </a:t>
            </a:r>
            <a:r>
              <a:rPr lang="en-US" altLang="ko-KR" sz="1500" b="1" spc="-75" dirty="0"/>
              <a:t>10</a:t>
            </a:r>
            <a:r>
              <a:rPr lang="ko-KR" altLang="en-US" sz="1500" b="1" spc="-75" dirty="0"/>
              <a:t>진수로 변환</a:t>
            </a:r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pc="-75" dirty="0">
                <a:solidFill>
                  <a:srgbClr val="009999"/>
                </a:solidFill>
              </a:rPr>
              <a:t>➊</a:t>
            </a:r>
            <a:r>
              <a:rPr lang="ko-KR" altLang="en-US" spc="-75" dirty="0"/>
              <a:t> </a:t>
            </a:r>
            <a:r>
              <a:rPr lang="en-US" altLang="ko-KR" spc="-75" dirty="0"/>
              <a:t>2</a:t>
            </a:r>
            <a:r>
              <a:rPr lang="ko-KR" altLang="en-US" spc="-75" dirty="0"/>
              <a:t>진수를 </a:t>
            </a:r>
            <a:r>
              <a:rPr lang="en-US" altLang="ko-KR" spc="-75" dirty="0"/>
              <a:t>10</a:t>
            </a:r>
            <a:r>
              <a:rPr lang="ko-KR" altLang="en-US" spc="-75" dirty="0"/>
              <a:t>진수로 변환한 예</a:t>
            </a:r>
            <a:endParaRPr lang="en-US" altLang="ko-KR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350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350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350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en-US" altLang="ko-KR" spc="-75" dirty="0">
                <a:solidFill>
                  <a:srgbClr val="009999"/>
                </a:solidFill>
              </a:rPr>
              <a:t>➋</a:t>
            </a:r>
            <a:r>
              <a:rPr lang="ko-KR" altLang="en-US" spc="-75" dirty="0"/>
              <a:t> </a:t>
            </a:r>
            <a:r>
              <a:rPr lang="en-US" altLang="ko-KR" spc="-75" dirty="0"/>
              <a:t>8</a:t>
            </a:r>
            <a:r>
              <a:rPr lang="ko-KR" altLang="en-US" spc="-75" dirty="0"/>
              <a:t>진수를 </a:t>
            </a:r>
            <a:r>
              <a:rPr lang="en-US" altLang="ko-KR" spc="-75" dirty="0"/>
              <a:t>10</a:t>
            </a:r>
            <a:r>
              <a:rPr lang="ko-KR" altLang="en-US" spc="-75" dirty="0"/>
              <a:t>진수로 변환한 예</a:t>
            </a:r>
            <a:endParaRPr lang="en-US" altLang="ko-KR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350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350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pc="-75" dirty="0">
                <a:solidFill>
                  <a:srgbClr val="009999"/>
                </a:solidFill>
              </a:rPr>
              <a:t>➌</a:t>
            </a:r>
            <a:r>
              <a:rPr lang="ko-KR" altLang="en-US" spc="-75" dirty="0"/>
              <a:t> </a:t>
            </a:r>
            <a:r>
              <a:rPr lang="en-US" altLang="ko-KR" spc="-75" dirty="0"/>
              <a:t>16</a:t>
            </a:r>
            <a:r>
              <a:rPr lang="ko-KR" altLang="en-US" spc="-75" dirty="0"/>
              <a:t>진수를 </a:t>
            </a:r>
            <a:r>
              <a:rPr lang="en-US" altLang="ko-KR" spc="-75" dirty="0"/>
              <a:t>10</a:t>
            </a:r>
            <a:r>
              <a:rPr lang="ko-KR" altLang="en-US" spc="-75" dirty="0"/>
              <a:t>진수로 변환한 예</a:t>
            </a:r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2F5F24F-AEFA-CFD7-6620-5001D1FFF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34623"/>
            <a:ext cx="7441492" cy="10202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60F7DC4-F841-9959-A31A-5F3A9FB49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50" y="3532001"/>
            <a:ext cx="5044668" cy="13765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9021523-5148-B63B-5D02-71C6DAC71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5160514"/>
            <a:ext cx="4963694" cy="13765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3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86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2185" lvl="1" indent="-214313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10</a:t>
            </a:r>
            <a:r>
              <a:rPr lang="ko-KR" altLang="en-US" sz="1500" b="1" spc="-75" dirty="0"/>
              <a:t>진수 </a:t>
            </a:r>
            <a:r>
              <a:rPr lang="en-US" altLang="ko-KR" sz="1500" b="1" spc="-75" dirty="0"/>
              <a:t>- 2</a:t>
            </a:r>
            <a:r>
              <a:rPr lang="ko-KR" altLang="en-US" sz="1500" b="1" spc="-75" dirty="0"/>
              <a:t>진수 변환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정수부분과 소수부분으로 나누어 변환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정수부분은 </a:t>
            </a:r>
            <a:r>
              <a:rPr lang="en-US" altLang="ko-KR" spc="-75" dirty="0"/>
              <a:t>2</a:t>
            </a:r>
            <a:r>
              <a:rPr lang="ko-KR" altLang="en-US" spc="-75" dirty="0"/>
              <a:t>로 나누고</a:t>
            </a:r>
            <a:r>
              <a:rPr lang="en-US" altLang="ko-KR" spc="-75" dirty="0"/>
              <a:t>, </a:t>
            </a:r>
            <a:r>
              <a:rPr lang="ko-KR" altLang="en-US" spc="-75" dirty="0"/>
              <a:t>소수부분은 </a:t>
            </a:r>
            <a:r>
              <a:rPr lang="en-US" altLang="ko-KR" spc="-75" dirty="0"/>
              <a:t>2</a:t>
            </a:r>
            <a:r>
              <a:rPr lang="ko-KR" altLang="en-US" spc="-75" dirty="0"/>
              <a:t>를 곱한다</a:t>
            </a:r>
            <a:r>
              <a:rPr lang="en-US" altLang="ko-KR" spc="-75" dirty="0"/>
              <a:t>.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10</a:t>
            </a:r>
            <a:r>
              <a:rPr lang="ko-KR" altLang="en-US" spc="-75" dirty="0"/>
              <a:t>진수 </a:t>
            </a:r>
            <a:r>
              <a:rPr lang="en-US" altLang="ko-KR" spc="-75" dirty="0"/>
              <a:t>75.6875</a:t>
            </a:r>
            <a:r>
              <a:rPr lang="ko-KR" altLang="en-US" spc="-75" dirty="0"/>
              <a:t>를 </a:t>
            </a:r>
            <a:r>
              <a:rPr lang="en-US" altLang="ko-KR" spc="-75" dirty="0"/>
              <a:t>2</a:t>
            </a:r>
            <a:r>
              <a:rPr lang="ko-KR" altLang="en-US" spc="-75" dirty="0"/>
              <a:t>진수로 변환한 예</a:t>
            </a:r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787363"/>
              </p:ext>
            </p:extLst>
          </p:nvPr>
        </p:nvGraphicFramePr>
        <p:xfrm>
          <a:off x="3059832" y="5445224"/>
          <a:ext cx="2418159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215640" progId="Equation.DSMT4">
                  <p:embed/>
                </p:oleObj>
              </mc:Choice>
              <mc:Fallback>
                <p:oleObj name="Equation" r:id="rId2" imgW="1612800" imgH="21564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5445224"/>
                        <a:ext cx="2418159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D7473A97-8A7C-8BED-7C55-DC9C572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62" y="2276872"/>
            <a:ext cx="7805875" cy="284218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9592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2185" lvl="1" indent="-214313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10</a:t>
            </a:r>
            <a:r>
              <a:rPr lang="ko-KR" altLang="en-US" sz="1500" b="1" spc="-75" dirty="0"/>
              <a:t>진수 </a:t>
            </a:r>
            <a:r>
              <a:rPr lang="en-US" altLang="ko-KR" sz="1500" b="1" spc="-75" dirty="0"/>
              <a:t>- 8</a:t>
            </a:r>
            <a:r>
              <a:rPr lang="ko-KR" altLang="en-US" sz="1500" b="1" spc="-75" dirty="0"/>
              <a:t>진수 변환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10</a:t>
            </a:r>
            <a:r>
              <a:rPr lang="ko-KR" altLang="en-US" spc="-75" dirty="0"/>
              <a:t>진수 </a:t>
            </a:r>
            <a:r>
              <a:rPr lang="en-US" altLang="ko-KR" spc="-75" dirty="0"/>
              <a:t>75.6875</a:t>
            </a:r>
            <a:r>
              <a:rPr lang="ko-KR" altLang="en-US" spc="-75" dirty="0"/>
              <a:t>를 </a:t>
            </a:r>
            <a:r>
              <a:rPr lang="en-US" altLang="ko-KR" spc="-75" dirty="0"/>
              <a:t>8</a:t>
            </a:r>
            <a:r>
              <a:rPr lang="ko-KR" altLang="en-US" spc="-75" dirty="0"/>
              <a:t>진수로 변환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8</a:t>
            </a:r>
            <a:r>
              <a:rPr lang="ko-KR" altLang="en-US" spc="-75" dirty="0"/>
              <a:t>로 나누고</a:t>
            </a:r>
            <a:r>
              <a:rPr lang="en-US" altLang="ko-KR" spc="-75" dirty="0"/>
              <a:t>, </a:t>
            </a:r>
            <a:r>
              <a:rPr lang="ko-KR" altLang="en-US" spc="-75" dirty="0"/>
              <a:t>곱한다</a:t>
            </a:r>
            <a:r>
              <a:rPr lang="en-US" altLang="ko-KR" spc="-75" dirty="0"/>
              <a:t>.</a:t>
            </a:r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861695"/>
              </p:ext>
            </p:extLst>
          </p:nvPr>
        </p:nvGraphicFramePr>
        <p:xfrm>
          <a:off x="2915816" y="3642249"/>
          <a:ext cx="1866900" cy="32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215640" progId="Equation.DSMT4">
                  <p:embed/>
                </p:oleObj>
              </mc:Choice>
              <mc:Fallback>
                <p:oleObj name="Equation" r:id="rId2" imgW="1244520" imgH="215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642249"/>
                        <a:ext cx="1866900" cy="322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83127881-A11B-1E48-DB0A-A271A76EF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7" y="1800983"/>
            <a:ext cx="7773485" cy="16761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16502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2185" lvl="1" indent="-214313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10</a:t>
            </a:r>
            <a:r>
              <a:rPr lang="ko-KR" altLang="en-US" sz="1500" b="1" spc="-75" dirty="0"/>
              <a:t>진수 </a:t>
            </a:r>
            <a:r>
              <a:rPr lang="en-US" altLang="ko-KR" sz="1500" b="1" spc="-75" dirty="0"/>
              <a:t>- 16</a:t>
            </a:r>
            <a:r>
              <a:rPr lang="ko-KR" altLang="en-US" sz="1500" b="1" spc="-75" dirty="0"/>
              <a:t>진수 변환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10</a:t>
            </a:r>
            <a:r>
              <a:rPr lang="ko-KR" altLang="en-US" spc="-75" dirty="0"/>
              <a:t>진수 </a:t>
            </a:r>
            <a:r>
              <a:rPr lang="en-US" altLang="ko-KR" spc="-75" dirty="0"/>
              <a:t>75.6875</a:t>
            </a:r>
            <a:r>
              <a:rPr lang="ko-KR" altLang="en-US" spc="-75" dirty="0"/>
              <a:t>를 </a:t>
            </a:r>
            <a:r>
              <a:rPr lang="en-US" altLang="ko-KR" spc="-75" dirty="0"/>
              <a:t>16</a:t>
            </a:r>
            <a:r>
              <a:rPr lang="ko-KR" altLang="en-US" spc="-75" dirty="0"/>
              <a:t>진수로 변환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16</a:t>
            </a:r>
            <a:r>
              <a:rPr lang="ko-KR" altLang="en-US" spc="-75" dirty="0"/>
              <a:t>으로 나누고</a:t>
            </a:r>
            <a:r>
              <a:rPr lang="en-US" altLang="ko-KR" spc="-75" dirty="0"/>
              <a:t>, </a:t>
            </a:r>
            <a:r>
              <a:rPr lang="ko-KR" altLang="en-US" spc="-75" dirty="0"/>
              <a:t>곱한다</a:t>
            </a:r>
            <a:r>
              <a:rPr lang="en-US" altLang="ko-KR" spc="-75" dirty="0"/>
              <a:t>.</a:t>
            </a:r>
          </a:p>
          <a:p>
            <a:pPr marL="33932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836739"/>
              </p:ext>
            </p:extLst>
          </p:nvPr>
        </p:nvGraphicFramePr>
        <p:xfrm>
          <a:off x="3437874" y="3374994"/>
          <a:ext cx="18097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6360" imgH="215640" progId="Equation.DSMT4">
                  <p:embed/>
                </p:oleObj>
              </mc:Choice>
              <mc:Fallback>
                <p:oleObj name="Equation" r:id="rId2" imgW="1206360" imgH="215640" progId="Equation.DSMT4">
                  <p:embed/>
                  <p:pic>
                    <p:nvPicPr>
                      <p:cNvPr id="0" name="Object 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7874" y="3374994"/>
                        <a:ext cx="180975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1DB1526-8AC9-2509-88E4-2D91EDEC8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844824"/>
            <a:ext cx="7894945" cy="137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1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2185" lvl="1" indent="-214313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2</a:t>
            </a:r>
            <a:r>
              <a:rPr lang="ko-KR" altLang="en-US" sz="1500" b="1" spc="-75" dirty="0"/>
              <a:t>진수 </a:t>
            </a:r>
            <a:r>
              <a:rPr lang="en-US" altLang="ko-KR" sz="1500" b="1" spc="-75" dirty="0"/>
              <a:t>- 8</a:t>
            </a:r>
            <a:r>
              <a:rPr lang="ko-KR" altLang="en-US" sz="1500" b="1" spc="-75" dirty="0"/>
              <a:t>진수 </a:t>
            </a:r>
            <a:r>
              <a:rPr lang="en-US" altLang="ko-KR" sz="1500" b="1" spc="-75" dirty="0"/>
              <a:t>- 10</a:t>
            </a:r>
            <a:r>
              <a:rPr lang="ko-KR" altLang="en-US" sz="1500" b="1" spc="-75" dirty="0"/>
              <a:t>진수 </a:t>
            </a:r>
            <a:r>
              <a:rPr lang="en-US" altLang="ko-KR" sz="1500" b="1" spc="-75" dirty="0"/>
              <a:t>- 16</a:t>
            </a:r>
            <a:r>
              <a:rPr lang="ko-KR" altLang="en-US" sz="1500" b="1" spc="-75" dirty="0"/>
              <a:t>진수 상호 변환</a:t>
            </a:r>
            <a:endParaRPr lang="ko-KR" altLang="en-US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graphicFrame>
        <p:nvGraphicFramePr>
          <p:cNvPr id="7" name="Group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782697"/>
              </p:ext>
            </p:extLst>
          </p:nvPr>
        </p:nvGraphicFramePr>
        <p:xfrm>
          <a:off x="6012160" y="1628800"/>
          <a:ext cx="2520280" cy="3574056"/>
        </p:xfrm>
        <a:graphic>
          <a:graphicData uri="http://schemas.openxmlformats.org/drawingml/2006/table">
            <a:tbl>
              <a:tblPr/>
              <a:tblGrid>
                <a:gridCol w="63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itchFamily="18" charset="0"/>
                        </a:rPr>
                        <a:t>10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진수 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68580" marR="6858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itchFamily="18" charset="0"/>
                        </a:rPr>
                        <a:t>2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진수</a:t>
                      </a:r>
                    </a:p>
                  </a:txBody>
                  <a:tcPr marL="68580" marR="6858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itchFamily="18" charset="0"/>
                        </a:rPr>
                        <a:t>8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진수</a:t>
                      </a:r>
                    </a:p>
                  </a:txBody>
                  <a:tcPr marL="68580" marR="6858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itchFamily="18" charset="0"/>
                        </a:rPr>
                        <a:t>16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진수</a:t>
                      </a:r>
                    </a:p>
                  </a:txBody>
                  <a:tcPr marL="68580" marR="6858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7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0000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7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0001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0010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0011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0100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0101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05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0110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06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0111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07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1001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1010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1011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1101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1110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7500" marR="67500" marT="13500" marB="1350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1111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spc="10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spc="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7500" marR="67500" marT="13500" marB="1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번호이(가) 표시된 사진">
            <a:extLst>
              <a:ext uri="{FF2B5EF4-FFF2-40B4-BE49-F238E27FC236}">
                <a16:creationId xmlns:a16="http://schemas.microsoft.com/office/drawing/2014/main" id="{4B9CBA6D-CCF3-CB5F-D112-ED0DE0959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28800"/>
            <a:ext cx="4890818" cy="306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68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en-US" altLang="ko-KR" sz="1275" spc="-75" dirty="0"/>
              <a:t>10</a:t>
            </a:r>
            <a:r>
              <a:rPr lang="ko-KR" altLang="en-US" sz="1275" spc="-75" dirty="0"/>
              <a:t>진수를 </a:t>
            </a:r>
            <a:r>
              <a:rPr lang="en-US" altLang="ko-KR" sz="1275" spc="-75" dirty="0"/>
              <a:t>8</a:t>
            </a:r>
            <a:r>
              <a:rPr lang="ko-KR" altLang="en-US" sz="1275" spc="-75" dirty="0"/>
              <a:t>진수</a:t>
            </a:r>
            <a:r>
              <a:rPr lang="en-US" altLang="ko-KR" sz="1275" spc="-75" dirty="0"/>
              <a:t>, 16</a:t>
            </a:r>
            <a:r>
              <a:rPr lang="ko-KR" altLang="en-US" sz="1275" spc="-75" dirty="0"/>
              <a:t>진수로 변환한 예</a:t>
            </a:r>
            <a:endParaRPr lang="en-US" altLang="ko-KR" sz="1275" spc="-75" dirty="0"/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endParaRPr lang="en-US" altLang="ko-KR" spc="-75" dirty="0"/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endParaRPr lang="en-US" altLang="ko-KR" spc="-75" dirty="0"/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endParaRPr lang="en-US" altLang="ko-KR" spc="-75" dirty="0"/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endParaRPr lang="en-US" altLang="ko-KR" spc="-75" dirty="0"/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endParaRPr lang="en-US" altLang="ko-KR" spc="-75" dirty="0"/>
          </a:p>
          <a:p>
            <a:pPr marL="335756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en-US" altLang="ko-KR" sz="1275" dirty="0"/>
              <a:t>8</a:t>
            </a:r>
            <a:r>
              <a:rPr lang="ko-KR" altLang="en-US" sz="1275" dirty="0"/>
              <a:t>진수와 </a:t>
            </a:r>
            <a:r>
              <a:rPr lang="en-US" altLang="ko-KR" sz="1275" dirty="0"/>
              <a:t>16</a:t>
            </a:r>
            <a:r>
              <a:rPr lang="ko-KR" altLang="en-US" sz="1275" dirty="0"/>
              <a:t>진수를 </a:t>
            </a:r>
            <a:r>
              <a:rPr lang="en-US" altLang="ko-KR" sz="1275" dirty="0"/>
              <a:t>2</a:t>
            </a:r>
            <a:r>
              <a:rPr lang="ko-KR" altLang="en-US" sz="1275" dirty="0"/>
              <a:t>진수로</a:t>
            </a:r>
            <a:r>
              <a:rPr lang="ko-KR" altLang="en-US" sz="1275" spc="-75" dirty="0"/>
              <a:t> 변환한 예</a:t>
            </a:r>
            <a:endParaRPr lang="en-US" altLang="ko-KR" sz="1275" spc="-75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8E96D1-405C-CDBF-1E02-703E138DF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1124743"/>
            <a:ext cx="6162106" cy="10769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3EEE90D-60FA-2BE3-8874-1CDF3488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1" y="3319321"/>
            <a:ext cx="7481979" cy="7287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08753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 </a:t>
            </a:r>
            <a:r>
              <a:rPr lang="ko-KR" altLang="en-US" dirty="0"/>
              <a:t>진법과 진법 변환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519772" y="3988766"/>
            <a:ext cx="4604421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110000.1101</a:t>
            </a:r>
            <a:r>
              <a:rPr lang="en-US" altLang="ko-KR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110 000. 110 100</a:t>
            </a:r>
            <a:r>
              <a:rPr lang="en-US" altLang="ko-KR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60.64</a:t>
            </a:r>
            <a:r>
              <a:rPr lang="en-US" altLang="ko-KR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ko-K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07905" y="4367408"/>
            <a:ext cx="294889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0011 0000.1101</a:t>
            </a:r>
            <a:r>
              <a:rPr lang="en-US" altLang="ko-KR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30.D</a:t>
            </a:r>
            <a:r>
              <a:rPr lang="en-US" altLang="ko-KR" sz="1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(16)</a:t>
            </a:r>
            <a:endParaRPr lang="ko-KR" altLang="ko-K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515099" y="1453442"/>
            <a:ext cx="588623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350" dirty="0">
                <a:solidFill>
                  <a:srgbClr val="00B0F0"/>
                </a:solidFill>
                <a:latin typeface="HY헤드라인M" pitchFamily="18" charset="-127"/>
                <a:ea typeface="HY헤드라인M" pitchFamily="18" charset="-127"/>
              </a:rPr>
              <a:t>풀이 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26530"/>
              </p:ext>
            </p:extLst>
          </p:nvPr>
        </p:nvGraphicFramePr>
        <p:xfrm>
          <a:off x="1375803" y="1040020"/>
          <a:ext cx="631870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예제 </a:t>
                      </a:r>
                      <a:r>
                        <a:rPr kumimoji="0" lang="en-US" altLang="ko-KR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2-1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진수 </a:t>
                      </a: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48.8125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를 </a:t>
                      </a: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진수</a:t>
                      </a: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, 8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진수</a:t>
                      </a: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, 16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진수로 변환하여라</a:t>
                      </a: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직선 연결선 12"/>
          <p:cNvCxnSpPr/>
          <p:nvPr/>
        </p:nvCxnSpPr>
        <p:spPr>
          <a:xfrm>
            <a:off x="1519707" y="4941167"/>
            <a:ext cx="613063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37805" y="4941168"/>
            <a:ext cx="1056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Example</a:t>
            </a:r>
            <a:endParaRPr lang="ko-KR" altLang="en-US" sz="10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AA9573-FC00-A6AC-74BE-4706BF6F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74" y="1514610"/>
            <a:ext cx="5004181" cy="22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04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보수의 개념과 음수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403622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ko-KR" altLang="en-US" sz="1350" spc="-75" dirty="0"/>
              <a:t>최상위비트</a:t>
            </a:r>
            <a:r>
              <a:rPr lang="en-US" altLang="ko-KR" sz="1350" spc="-75" dirty="0"/>
              <a:t>(MSB)</a:t>
            </a:r>
            <a:r>
              <a:rPr lang="ko-KR" altLang="en-US" sz="1350" spc="-75" dirty="0"/>
              <a:t>를 부호비트로 사용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양수</a:t>
            </a:r>
            <a:r>
              <a:rPr lang="en-US" altLang="ko-KR" spc="-75" dirty="0"/>
              <a:t>(+) : 0     </a:t>
            </a:r>
            <a:r>
              <a:rPr lang="ko-KR" altLang="en-US" spc="-75" dirty="0"/>
              <a:t>음수</a:t>
            </a:r>
            <a:r>
              <a:rPr lang="en-US" altLang="ko-KR" spc="-75" dirty="0"/>
              <a:t>(-) : 1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3622" lvl="1" indent="-214313">
              <a:lnSpc>
                <a:spcPct val="110000"/>
              </a:lnSpc>
              <a:spcBef>
                <a:spcPts val="45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spc="-75" dirty="0"/>
              <a:t> 2</a:t>
            </a:r>
            <a:r>
              <a:rPr lang="ko-KR" altLang="en-US" sz="1350" spc="-75" dirty="0"/>
              <a:t>진수 음수를 표시하는 방법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부호와 절댓값</a:t>
            </a:r>
            <a:r>
              <a:rPr lang="en-US" altLang="ko-KR" spc="-75" dirty="0"/>
              <a:t>(sign-magnitude)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</a:t>
            </a:r>
            <a:r>
              <a:rPr lang="ko-KR" altLang="en-US" spc="-75" dirty="0"/>
              <a:t>의 보수</a:t>
            </a:r>
            <a:r>
              <a:rPr lang="en-US" altLang="ko-KR" spc="-75" dirty="0"/>
              <a:t>(1's complement)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2</a:t>
            </a:r>
            <a:r>
              <a:rPr lang="ko-KR" altLang="en-US" spc="-75" dirty="0"/>
              <a:t>의 보수</a:t>
            </a:r>
            <a:r>
              <a:rPr lang="en-US" altLang="ko-KR" spc="-75" dirty="0"/>
              <a:t>(2’s complement)</a:t>
            </a:r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16505" y="773705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174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09575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z="1600" spc="-75" dirty="0"/>
              <a:t>부호와 절댓값</a:t>
            </a:r>
          </a:p>
          <a:p>
            <a:pPr marL="471488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부호비트만 양수와 음수를 나타내고 나머지 비트들은 같다</a:t>
            </a:r>
            <a:r>
              <a:rPr lang="en-US" altLang="ko-KR" spc="-75" dirty="0"/>
              <a:t>.</a:t>
            </a:r>
          </a:p>
          <a:p>
            <a:pPr marL="336947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r>
              <a:rPr lang="en-US" altLang="ko-KR" spc="-75" dirty="0"/>
              <a:t> </a:t>
            </a:r>
          </a:p>
          <a:p>
            <a:pPr marL="336947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336947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409575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altLang="ko-KR" sz="1600" spc="-75" dirty="0"/>
              <a:t>1</a:t>
            </a:r>
            <a:r>
              <a:rPr lang="ko-KR" altLang="en-US" sz="1600" spc="-75" dirty="0"/>
              <a:t>의 보수 방식</a:t>
            </a:r>
          </a:p>
          <a:p>
            <a:pPr marL="471488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en-US" altLang="ko-KR" spc="-75" dirty="0"/>
              <a:t>0 → 1, 1 → 0</a:t>
            </a:r>
            <a:r>
              <a:rPr lang="ko-KR" altLang="en-US" spc="-75" dirty="0"/>
              <a:t>으로 변환</a:t>
            </a:r>
            <a:endParaRPr lang="en-US" altLang="ko-KR" spc="-75" dirty="0"/>
          </a:p>
          <a:p>
            <a:pPr marL="336947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336947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409575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altLang="ko-KR" sz="1600" spc="-75" dirty="0"/>
              <a:t>2</a:t>
            </a:r>
            <a:r>
              <a:rPr lang="ko-KR" altLang="en-US" sz="1600" spc="-75" dirty="0"/>
              <a:t>의 보수 방식</a:t>
            </a:r>
          </a:p>
          <a:p>
            <a:pPr marL="471488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en-US" altLang="ko-KR" spc="-75" dirty="0"/>
              <a:t>1</a:t>
            </a:r>
            <a:r>
              <a:rPr lang="ko-KR" altLang="en-US" spc="-75" dirty="0"/>
              <a:t>의 보수 </a:t>
            </a:r>
            <a:r>
              <a:rPr lang="en-US" altLang="ko-KR" spc="-75" dirty="0"/>
              <a:t>+ 1 = 2</a:t>
            </a:r>
            <a:r>
              <a:rPr lang="ko-KR" altLang="en-US" spc="-75" dirty="0"/>
              <a:t>의 보수</a:t>
            </a:r>
            <a:endParaRPr lang="en-US" altLang="ko-KR" spc="-75" dirty="0"/>
          </a:p>
          <a:p>
            <a:pPr marL="336947" lvl="1" indent="0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None/>
            </a:pPr>
            <a:endParaRPr lang="en-US" altLang="ko-KR" spc="-75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8B88BE-F150-4C98-F341-CE009A110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84783"/>
            <a:ext cx="5781529" cy="92310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5876A53-22F1-D9CB-A4F9-D79251FBE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2798946"/>
            <a:ext cx="3263244" cy="8097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776E16B-701F-22EE-297B-4408B6CF4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50" y="4677759"/>
            <a:ext cx="8162159" cy="144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6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5F1C-86BC-8AF4-B46B-8E567A7B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3D445-7E4B-792E-7AE7-1C1426F3B96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Tip: 1</a:t>
            </a:r>
            <a:r>
              <a:rPr lang="ko-KR" altLang="en-US" dirty="0"/>
              <a:t>의 보수를 사용하지 않고 </a:t>
            </a:r>
            <a:r>
              <a:rPr lang="en-US" altLang="ko-KR" dirty="0"/>
              <a:t>2</a:t>
            </a:r>
            <a:r>
              <a:rPr lang="ko-KR" altLang="en-US" dirty="0"/>
              <a:t>의 보수로 한번에 바꾸는 방법</a:t>
            </a:r>
            <a:endParaRPr lang="en-US" altLang="ko-KR" dirty="0"/>
          </a:p>
          <a:p>
            <a:pPr lvl="1"/>
            <a:r>
              <a:rPr lang="ko-KR" altLang="en-US" dirty="0"/>
              <a:t>최하위 비트부터 </a:t>
            </a:r>
            <a:r>
              <a:rPr lang="en-US" altLang="ko-KR" dirty="0"/>
              <a:t>1</a:t>
            </a:r>
            <a:r>
              <a:rPr lang="ko-KR" altLang="en-US" dirty="0"/>
              <a:t>을 처음 만날 때까지 그대로 쓰고 나머지는 반대</a:t>
            </a:r>
            <a:r>
              <a:rPr lang="en-US" altLang="ko-KR" dirty="0"/>
              <a:t>(0→1, 1→  0)</a:t>
            </a:r>
            <a:r>
              <a:rPr lang="ko-KR" altLang="en-US" dirty="0"/>
              <a:t>로 바꾼다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00110000</a:t>
            </a:r>
            <a:r>
              <a:rPr lang="en-US" altLang="ko-KR" baseline="-25000" dirty="0"/>
              <a:t>(2)</a:t>
            </a:r>
            <a:r>
              <a:rPr lang="en-US" altLang="ko-KR" dirty="0"/>
              <a:t>(48)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의 보수는 오른쪽부터 최초 </a:t>
            </a:r>
            <a:r>
              <a:rPr lang="en-US" altLang="ko-KR" dirty="0"/>
              <a:t>1</a:t>
            </a:r>
            <a:r>
              <a:rPr lang="ko-KR" altLang="en-US" dirty="0"/>
              <a:t>이 있는 </a:t>
            </a:r>
            <a:r>
              <a:rPr lang="en-US" altLang="ko-KR" dirty="0"/>
              <a:t>5</a:t>
            </a:r>
            <a:r>
              <a:rPr lang="ko-KR" altLang="en-US" dirty="0"/>
              <a:t>번째 비트</a:t>
            </a:r>
            <a:r>
              <a:rPr lang="en-US" altLang="ko-KR" dirty="0"/>
              <a:t>(10000</a:t>
            </a:r>
            <a:r>
              <a:rPr lang="en-US" altLang="ko-KR" baseline="-25000" dirty="0"/>
              <a:t>(2)</a:t>
            </a:r>
            <a:r>
              <a:rPr lang="en-US" altLang="ko-KR" dirty="0"/>
              <a:t>)</a:t>
            </a:r>
            <a:r>
              <a:rPr lang="ko-KR" altLang="en-US" dirty="0"/>
              <a:t>까지는 그대로 쓰고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나머지 상위 </a:t>
            </a:r>
            <a:r>
              <a:rPr lang="en-US" altLang="ko-KR" dirty="0"/>
              <a:t>001</a:t>
            </a:r>
            <a:r>
              <a:rPr lang="en-US" altLang="ko-KR" baseline="-25000" dirty="0"/>
              <a:t>(2)</a:t>
            </a:r>
            <a:r>
              <a:rPr lang="ko-KR" altLang="en-US" dirty="0"/>
              <a:t>을 </a:t>
            </a:r>
            <a:r>
              <a:rPr lang="en-US" altLang="ko-KR" dirty="0"/>
              <a:t>110</a:t>
            </a:r>
            <a:r>
              <a:rPr lang="en-US" altLang="ko-KR" baseline="-25000" dirty="0"/>
              <a:t>(2)</a:t>
            </a:r>
            <a:r>
              <a:rPr lang="ko-KR" altLang="en-US" dirty="0"/>
              <a:t>으로 바꾼 </a:t>
            </a:r>
            <a:r>
              <a:rPr lang="en-US" altLang="ko-KR" dirty="0"/>
              <a:t>11010000</a:t>
            </a:r>
            <a:r>
              <a:rPr lang="en-US" altLang="ko-KR" baseline="-25000" dirty="0"/>
              <a:t>(2)</a:t>
            </a:r>
            <a:r>
              <a:rPr lang="en-US" altLang="ko-KR" dirty="0"/>
              <a:t>(-48)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11001101</a:t>
            </a:r>
            <a:r>
              <a:rPr lang="en-US" altLang="ko-KR" baseline="-25000" dirty="0"/>
              <a:t>(2)</a:t>
            </a:r>
            <a:r>
              <a:rPr lang="en-US" altLang="ko-KR" dirty="0"/>
              <a:t>(-51)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의 보수는 </a:t>
            </a:r>
            <a:r>
              <a:rPr lang="en-US" altLang="ko-KR" dirty="0"/>
              <a:t>LSB</a:t>
            </a:r>
            <a:r>
              <a:rPr lang="ko-KR" altLang="en-US" dirty="0"/>
              <a:t>가  </a:t>
            </a:r>
            <a:r>
              <a:rPr lang="en-US" altLang="ko-KR" dirty="0"/>
              <a:t>1</a:t>
            </a:r>
            <a:r>
              <a:rPr lang="en-US" altLang="ko-KR" baseline="-25000" dirty="0"/>
              <a:t>(2)</a:t>
            </a:r>
            <a:r>
              <a:rPr lang="ko-KR" altLang="en-US" dirty="0"/>
              <a:t>이므로 이 비트만 그대로 두고 </a:t>
            </a:r>
            <a:br>
              <a:rPr lang="en-US" altLang="ko-KR" dirty="0"/>
            </a:br>
            <a:r>
              <a:rPr lang="ko-KR" altLang="en-US" dirty="0"/>
              <a:t>나머지는 반대로 바꾼 </a:t>
            </a:r>
            <a:r>
              <a:rPr lang="en-US" altLang="ko-KR" dirty="0"/>
              <a:t>00110011</a:t>
            </a:r>
            <a:r>
              <a:rPr lang="en-US" altLang="ko-KR" baseline="-25000" dirty="0"/>
              <a:t>(2)</a:t>
            </a:r>
            <a:r>
              <a:rPr lang="en-US" altLang="ko-KR" dirty="0"/>
              <a:t>(51)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49CAA8-65CC-ABA3-AFCC-DE40EADA8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646" y="3451112"/>
            <a:ext cx="1371791" cy="6382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371CC1-16EE-B4FD-FE0C-342BF0E5D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3427081"/>
            <a:ext cx="1409897" cy="714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4844EF-B857-5537-606D-02BB09F39CFA}"/>
              </a:ext>
            </a:extLst>
          </p:cNvPr>
          <p:cNvSpPr txBox="1"/>
          <p:nvPr/>
        </p:nvSpPr>
        <p:spPr>
          <a:xfrm>
            <a:off x="1383943" y="3430333"/>
            <a:ext cx="575012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350" spc="225" dirty="0"/>
              <a:t>001</a:t>
            </a:r>
            <a:endParaRPr lang="ko-KR" altLang="en-US" sz="1350" spc="225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3836858-B35B-003D-9AE2-13AC440B0EF1}"/>
              </a:ext>
            </a:extLst>
          </p:cNvPr>
          <p:cNvCxnSpPr/>
          <p:nvPr/>
        </p:nvCxnSpPr>
        <p:spPr>
          <a:xfrm>
            <a:off x="1817694" y="3645024"/>
            <a:ext cx="897883" cy="1350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EEEF2F-6466-FF79-50CA-B5F75FCA9501}"/>
              </a:ext>
            </a:extLst>
          </p:cNvPr>
          <p:cNvSpPr txBox="1"/>
          <p:nvPr/>
        </p:nvSpPr>
        <p:spPr>
          <a:xfrm>
            <a:off x="2573779" y="4995174"/>
            <a:ext cx="21387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교재</a:t>
            </a:r>
            <a:r>
              <a:rPr lang="en-US" altLang="ko-KR" sz="1500" dirty="0"/>
              <a:t> </a:t>
            </a:r>
            <a:r>
              <a:rPr lang="ko-KR" altLang="en-US" sz="1500" dirty="0"/>
              <a:t>오타</a:t>
            </a:r>
            <a:r>
              <a:rPr lang="en-US" altLang="ko-KR" sz="1500" dirty="0"/>
              <a:t>: 000 </a:t>
            </a:r>
            <a:r>
              <a:rPr lang="en-US" altLang="ko-KR" sz="1500" dirty="0">
                <a:sym typeface="Wingdings" panose="05000000000000000000" pitchFamily="2" charset="2"/>
              </a:rPr>
              <a:t> 001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144002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409575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z="1600" spc="-75" dirty="0"/>
              <a:t>수의 표현 방법에 따른 </a:t>
            </a:r>
            <a:r>
              <a:rPr lang="en-US" altLang="ko-KR" sz="1600" spc="-75" dirty="0"/>
              <a:t>10</a:t>
            </a:r>
            <a:r>
              <a:rPr lang="ko-KR" altLang="en-US" sz="1600" spc="-75" dirty="0"/>
              <a:t>진수 대응 값</a:t>
            </a:r>
          </a:p>
        </p:txBody>
      </p:sp>
      <p:pic>
        <p:nvPicPr>
          <p:cNvPr id="4" name="그림 3" descr="텍스트, 스크린샷, 번호, 폰트이(가) 표시된 사진">
            <a:extLst>
              <a:ext uri="{FF2B5EF4-FFF2-40B4-BE49-F238E27FC236}">
                <a16:creationId xmlns:a16="http://schemas.microsoft.com/office/drawing/2014/main" id="{50B8008B-5F76-B8F7-C95E-DE0478D74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340768"/>
            <a:ext cx="5085155" cy="467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88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C2608B-1B7C-1FC4-29A1-79B6755D06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Aft>
                <a:spcPct val="40000"/>
              </a:spcAft>
              <a:buClr>
                <a:srgbClr val="2B6278"/>
              </a:buClr>
              <a:buFont typeface="Wingdings" pitchFamily="2" charset="2"/>
              <a:buChar char="v"/>
            </a:pPr>
            <a:r>
              <a:rPr lang="en-US" altLang="ko-KR" sz="1600" i="1" dirty="0">
                <a:solidFill>
                  <a:srgbClr val="000000"/>
                </a:solidFill>
                <a:latin typeface="Times New Roman" pitchFamily="18" charset="0"/>
                <a:ea typeface="휴먼명조" charset="-127"/>
              </a:rPr>
              <a:t> </a:t>
            </a:r>
            <a:r>
              <a:rPr lang="en-US" altLang="ko-KR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ko-KR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진수에는 </a:t>
            </a:r>
            <a:r>
              <a:rPr lang="en-US" altLang="ko-KR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ko-KR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보수와 </a:t>
            </a:r>
            <a:r>
              <a:rPr lang="en-US" altLang="ko-KR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ko-KR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보수가 있다</a:t>
            </a:r>
            <a:r>
              <a:rPr lang="en-US" altLang="ko-K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35756" indent="-144066">
              <a:spcAft>
                <a:spcPct val="4000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진수에는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보수와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보수가 있고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8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진수에는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보수와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보수가 있으며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진수에는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보수와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보수가 있다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5756" indent="-144066"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567의 9의 보수 </a:t>
            </a:r>
            <a:r>
              <a:rPr lang="en-US" altLang="ko-KR" sz="1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999</a:t>
            </a:r>
            <a:r>
              <a:rPr lang="en-US" altLang="ko-KR" sz="1275" dirty="0">
                <a:solidFill>
                  <a:srgbClr val="000000"/>
                </a:solidFill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ko-KR" sz="1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567=432</a:t>
            </a:r>
          </a:p>
          <a:p>
            <a:pPr marL="335756" indent="-144066"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567의 </a:t>
            </a:r>
            <a:r>
              <a:rPr lang="en-US" altLang="ko-KR" sz="1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보수 </a:t>
            </a:r>
            <a:r>
              <a:rPr lang="en-US" altLang="ko-KR" sz="1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999</a:t>
            </a:r>
            <a:r>
              <a:rPr lang="en-US" altLang="ko-KR" sz="1275" dirty="0">
                <a:solidFill>
                  <a:srgbClr val="000000"/>
                </a:solidFill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ko-KR" sz="1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567+1=433</a:t>
            </a:r>
          </a:p>
          <a:p>
            <a:pPr marL="335756" indent="-144066"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00000011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1의 보수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11111111</a:t>
            </a:r>
            <a:r>
              <a:rPr lang="en-US" altLang="ko-KR" sz="1275" dirty="0">
                <a:solidFill>
                  <a:srgbClr val="000000"/>
                </a:solidFill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00000011=11111100</a:t>
            </a:r>
          </a:p>
          <a:p>
            <a:pPr marL="335756" indent="-144066"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00000011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2의 보수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11111100+1=11111101</a:t>
            </a:r>
          </a:p>
          <a:p>
            <a:pPr marL="142875" lvl="1" algn="just" fontAlgn="ctr">
              <a:spcAft>
                <a:spcPct val="20000"/>
              </a:spcAft>
            </a:pPr>
            <a:endParaRPr lang="ko-KR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spcAft>
                <a:spcPct val="40000"/>
              </a:spcAft>
              <a:buClr>
                <a:srgbClr val="2B6278"/>
              </a:buClr>
              <a:buFont typeface="Wingdings" pitchFamily="2" charset="2"/>
              <a:buChar char="v"/>
            </a:pPr>
            <a:r>
              <a:rPr lang="ko-KR" alt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양수를 보수로 바꾸면 음수</a:t>
            </a:r>
          </a:p>
          <a:p>
            <a:pPr marL="0" lvl="1">
              <a:buClr>
                <a:srgbClr val="2B6278"/>
              </a:buClr>
              <a:buFont typeface="Wingdings" pitchFamily="2" charset="2"/>
              <a:buChar char="v"/>
            </a:pPr>
            <a:r>
              <a:rPr lang="ko-KR" alt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음수를 보수로 바꾸면 양수</a:t>
            </a:r>
            <a:endParaRPr lang="en-US" altLang="ko-KR" sz="1275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" lvl="1">
              <a:buClr>
                <a:srgbClr val="0099CC"/>
              </a:buClr>
              <a:buFont typeface="Wingdings" pitchFamily="2" charset="2"/>
              <a:buChar char="v"/>
            </a:pPr>
            <a:endParaRPr lang="en-US" altLang="ko-KR" sz="135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" lvl="1">
              <a:buClr>
                <a:srgbClr val="0099CC"/>
              </a:buClr>
              <a:buFont typeface="Wingdings" pitchFamily="2" charset="2"/>
              <a:buChar char="v"/>
            </a:pPr>
            <a:endParaRPr lang="en-US" altLang="ko-KR" sz="135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spcAft>
                <a:spcPts val="450"/>
              </a:spcAft>
              <a:buClr>
                <a:srgbClr val="2B6278"/>
              </a:buClr>
              <a:buFont typeface="Wingdings" pitchFamily="2" charset="2"/>
              <a:buChar char="v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진수와 그 수의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보수와의 합은 모든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된다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1">
              <a:buClr>
                <a:srgbClr val="2B6278"/>
              </a:buClr>
              <a:buFont typeface="Wingdings" pitchFamily="2" charset="2"/>
              <a:buChar char="v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진수와 그 수의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보수와의 합은 모든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 된다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42875" lvl="1">
              <a:buClr>
                <a:srgbClr val="0099CC"/>
              </a:buClr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자릿수를 벗어나는 비트는 제외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ko-KR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600553"/>
              </p:ext>
            </p:extLst>
          </p:nvPr>
        </p:nvGraphicFramePr>
        <p:xfrm>
          <a:off x="3131840" y="3501008"/>
          <a:ext cx="1546730" cy="465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317160" progId="Equation.DSMT4">
                  <p:embed/>
                </p:oleObj>
              </mc:Choice>
              <mc:Fallback>
                <p:oleObj name="Equation" r:id="rId2" imgW="105408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31840" y="3501008"/>
                        <a:ext cx="1546730" cy="465882"/>
                      </a:xfrm>
                      <a:prstGeom prst="rect">
                        <a:avLst/>
                      </a:prstGeom>
                      <a:ln w="12700">
                        <a:solidFill>
                          <a:srgbClr val="00B0F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6224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13147" indent="-214313">
              <a:lnSpc>
                <a:spcPct val="110000"/>
              </a:lnSpc>
              <a:spcAft>
                <a:spcPts val="15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altLang="ko-KR" sz="1350" spc="-75" dirty="0"/>
              <a:t>2</a:t>
            </a:r>
            <a:r>
              <a:rPr lang="ko-KR" altLang="en-US" sz="1350" spc="-75" dirty="0"/>
              <a:t>의 보수에 대한 </a:t>
            </a:r>
            <a:r>
              <a:rPr lang="en-US" altLang="ko-KR" sz="1350" spc="-75" dirty="0"/>
              <a:t>10</a:t>
            </a:r>
            <a:r>
              <a:rPr lang="ko-KR" altLang="en-US" sz="1350" spc="-75" dirty="0"/>
              <a:t>진수의 표현 범위</a:t>
            </a:r>
            <a:endParaRPr lang="en-US" altLang="ko-KR" sz="1350" spc="-75" dirty="0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AF601C-4E03-775F-0C54-5716BA5FD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28" y="1412776"/>
            <a:ext cx="6040646" cy="25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22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71463" lvl="1" indent="-192881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 </a:t>
            </a:r>
            <a:r>
              <a:rPr lang="en-US" altLang="ko-KR" sz="1500" b="1" spc="-75" dirty="0"/>
              <a:t>2</a:t>
            </a:r>
            <a:r>
              <a:rPr lang="ko-KR" altLang="en-US" sz="1500" b="1" spc="-75" dirty="0"/>
              <a:t>의 보수를 </a:t>
            </a:r>
            <a:r>
              <a:rPr lang="en-US" altLang="ko-KR" sz="1500" b="1" spc="-75" dirty="0"/>
              <a:t>10</a:t>
            </a:r>
            <a:r>
              <a:rPr lang="ko-KR" altLang="en-US" sz="1500" b="1" spc="-75" dirty="0"/>
              <a:t>진수로 변환</a:t>
            </a:r>
            <a:endParaRPr lang="en-US" altLang="ko-KR" sz="1500" b="1" spc="-75" dirty="0"/>
          </a:p>
          <a:p>
            <a:pPr marL="407194" lvl="1" indent="-192881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2</a:t>
            </a:r>
            <a:r>
              <a:rPr lang="ko-KR" altLang="en-US" sz="1350" b="1" spc="-75" dirty="0"/>
              <a:t>의 보수로 표현된 수 </a:t>
            </a:r>
            <a:r>
              <a:rPr lang="en-US" altLang="ko-KR" sz="1350" b="1" spc="-75" dirty="0"/>
              <a:t>00101101</a:t>
            </a:r>
            <a:r>
              <a:rPr lang="en-US" altLang="ko-KR" sz="1350" b="1" spc="-75" baseline="-25000" dirty="0"/>
              <a:t>(2)</a:t>
            </a:r>
            <a:r>
              <a:rPr lang="ko-KR" altLang="en-US" sz="1350" b="1" spc="-75" dirty="0"/>
              <a:t>을 </a:t>
            </a:r>
            <a:r>
              <a:rPr lang="en-US" altLang="ko-KR" sz="1350" b="1" spc="-75" dirty="0"/>
              <a:t>10</a:t>
            </a:r>
            <a:r>
              <a:rPr lang="ko-KR" altLang="en-US" sz="1350" b="1" spc="-75" dirty="0"/>
              <a:t>진수로 변환하는 방법</a:t>
            </a:r>
            <a:endParaRPr lang="en-US" altLang="ko-KR" sz="1350" b="1" spc="-75" dirty="0"/>
          </a:p>
          <a:p>
            <a:pPr marL="535781" lvl="1" indent="-142875">
              <a:lnSpc>
                <a:spcPct val="110000"/>
              </a:lnSpc>
              <a:spcBef>
                <a:spcPts val="45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최상위 비트가 </a:t>
            </a:r>
            <a:r>
              <a:rPr lang="en-US" altLang="ko-KR" spc="-75" dirty="0"/>
              <a:t>0</a:t>
            </a:r>
            <a:r>
              <a:rPr lang="ko-KR" altLang="en-US" spc="-75" dirty="0"/>
              <a:t>이므로 양수</a:t>
            </a:r>
            <a:r>
              <a:rPr lang="en-US" altLang="ko-KR" spc="-75" dirty="0"/>
              <a:t>. </a:t>
            </a:r>
            <a:r>
              <a:rPr lang="ko-KR" altLang="en-US" spc="-75" dirty="0"/>
              <a:t>따라서 </a:t>
            </a:r>
            <a:r>
              <a:rPr lang="en-US" altLang="ko-KR" spc="-75" dirty="0"/>
              <a:t>00101101</a:t>
            </a:r>
            <a:r>
              <a:rPr lang="en-US" altLang="ko-KR" spc="-75" baseline="-25000" dirty="0"/>
              <a:t>(2)</a:t>
            </a:r>
            <a:r>
              <a:rPr lang="ko-KR" altLang="en-US" spc="-75" dirty="0"/>
              <a:t>의 값을 </a:t>
            </a:r>
            <a:r>
              <a:rPr lang="en-US" altLang="ko-KR" spc="-75" dirty="0"/>
              <a:t>10</a:t>
            </a:r>
            <a:r>
              <a:rPr lang="ko-KR" altLang="en-US" spc="-75" dirty="0"/>
              <a:t>진수로 변환하여 </a:t>
            </a:r>
            <a:r>
              <a:rPr lang="en-US" altLang="ko-KR" spc="-75" dirty="0"/>
              <a:t>+</a:t>
            </a:r>
            <a:r>
              <a:rPr lang="ko-KR" altLang="en-US" spc="-75" dirty="0"/>
              <a:t>부호를 붙인다</a:t>
            </a:r>
            <a:r>
              <a:rPr lang="en-US" altLang="ko-KR" spc="-75" dirty="0"/>
              <a:t>.</a:t>
            </a:r>
          </a:p>
          <a:p>
            <a:pPr marL="535781" lvl="1" indent="-142875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535781" lvl="1" indent="-142875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535781" lvl="1" indent="-142875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92881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2</a:t>
            </a:r>
            <a:r>
              <a:rPr lang="ko-KR" altLang="en-US" sz="1350" b="1" spc="-75" dirty="0"/>
              <a:t>의 보수로 표현된 수 </a:t>
            </a:r>
            <a:r>
              <a:rPr lang="en-US" altLang="ko-KR" sz="1350" b="1" spc="-75" dirty="0"/>
              <a:t>10101100</a:t>
            </a:r>
            <a:r>
              <a:rPr lang="en-US" altLang="ko-KR" sz="1350" b="1" spc="-75" baseline="-25000" dirty="0"/>
              <a:t>(2)</a:t>
            </a:r>
            <a:r>
              <a:rPr lang="ko-KR" altLang="en-US" sz="1350" b="1" spc="-75" dirty="0"/>
              <a:t>을 </a:t>
            </a:r>
            <a:r>
              <a:rPr lang="en-US" altLang="ko-KR" sz="1350" b="1" spc="-75" dirty="0"/>
              <a:t>10</a:t>
            </a:r>
            <a:r>
              <a:rPr lang="ko-KR" altLang="en-US" sz="1350" b="1" spc="-75" dirty="0"/>
              <a:t>진수로 변환하는 방법</a:t>
            </a:r>
            <a:endParaRPr lang="en-US" altLang="ko-KR" sz="1350" b="1" spc="-75" dirty="0"/>
          </a:p>
          <a:p>
            <a:pPr marL="535781" lvl="1" indent="-142875">
              <a:lnSpc>
                <a:spcPct val="110000"/>
              </a:lnSpc>
              <a:spcBef>
                <a:spcPts val="45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최상위 비트가 </a:t>
            </a:r>
            <a:r>
              <a:rPr lang="en-US" altLang="ko-KR" spc="-75" dirty="0"/>
              <a:t>1</a:t>
            </a:r>
            <a:r>
              <a:rPr lang="ko-KR" altLang="en-US" spc="-75" dirty="0"/>
              <a:t>이므로 음수다</a:t>
            </a:r>
            <a:r>
              <a:rPr lang="en-US" altLang="ko-KR" spc="-75" dirty="0"/>
              <a:t>.</a:t>
            </a:r>
          </a:p>
          <a:p>
            <a:pPr marL="535781" lvl="1" indent="-142875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2</a:t>
            </a:r>
            <a:r>
              <a:rPr lang="ko-KR" altLang="en-US" spc="-75" dirty="0"/>
              <a:t>의 보수로 바꾼 후 </a:t>
            </a:r>
            <a:r>
              <a:rPr lang="en-US" altLang="ko-KR" spc="-75" dirty="0"/>
              <a:t>10</a:t>
            </a:r>
            <a:r>
              <a:rPr lang="ko-KR" altLang="en-US" spc="-75" dirty="0"/>
              <a:t>진수로 변환하여 </a:t>
            </a:r>
            <a:r>
              <a:rPr lang="en-US" altLang="ko-KR" spc="-75" dirty="0"/>
              <a:t>-</a:t>
            </a:r>
            <a:r>
              <a:rPr lang="ko-KR" altLang="en-US" spc="-75" dirty="0"/>
              <a:t>부호를 붙이면 </a:t>
            </a:r>
            <a:r>
              <a:rPr lang="en-US" altLang="ko-KR" spc="-75" dirty="0"/>
              <a:t>-84</a:t>
            </a:r>
            <a:r>
              <a:rPr lang="ko-KR" altLang="en-US" spc="-75" dirty="0"/>
              <a:t>가 된다</a:t>
            </a:r>
            <a:r>
              <a:rPr lang="en-US" altLang="ko-KR" spc="-75" dirty="0"/>
              <a:t>.</a:t>
            </a:r>
          </a:p>
          <a:p>
            <a:pPr marL="535781" lvl="1" indent="-142875">
              <a:lnSpc>
                <a:spcPct val="110000"/>
              </a:lnSpc>
              <a:spcBef>
                <a:spcPts val="90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AAC3E4C-477C-1CB6-E495-8F832364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95" y="1844824"/>
            <a:ext cx="6469806" cy="10688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EEDB782-B54B-1246-6088-BC38FADAA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595" y="4241175"/>
            <a:ext cx="6421222" cy="220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49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107504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부호 확장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275" spc="-75" dirty="0"/>
              <a:t>부호 확장이란 늘어난 비트 수 만큼 부호를 늘려주는 방법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39389" y="773705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5A12AA-42F5-7586-0B7C-9F2DA7512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772816"/>
            <a:ext cx="7506271" cy="25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80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44E09FA-0762-1119-4F02-CAD1BF525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240" y="3889413"/>
            <a:ext cx="2678208" cy="13299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8C5F3FC-EC6D-DA26-EA2E-F8AC174F1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645" y="3984048"/>
            <a:ext cx="2557820" cy="1086002"/>
          </a:xfrm>
          <a:prstGeom prst="rect">
            <a:avLst/>
          </a:prstGeom>
        </p:spPr>
      </p:pic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ko-KR" altLang="en-US" spc="-75" dirty="0">
                <a:solidFill>
                  <a:srgbClr val="2B6278"/>
                </a:solidFill>
              </a:rPr>
              <a:t>     </a:t>
            </a:r>
            <a:r>
              <a:rPr lang="en-US" altLang="ko-KR" spc="-75" dirty="0">
                <a:solidFill>
                  <a:srgbClr val="2B6278"/>
                </a:solidFill>
              </a:rPr>
              <a:t>2</a:t>
            </a:r>
            <a:r>
              <a:rPr lang="ko-KR" altLang="en-US" spc="-75" dirty="0">
                <a:solidFill>
                  <a:srgbClr val="2B6278"/>
                </a:solidFill>
              </a:rPr>
              <a:t>진 정수 연산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뺄셈의 원리를 보면</a:t>
            </a:r>
            <a:r>
              <a:rPr lang="en-US" altLang="ko-KR" spc="-75" dirty="0"/>
              <a:t>, A-B </a:t>
            </a:r>
            <a:r>
              <a:rPr lang="ko-KR" altLang="en-US" spc="-75" dirty="0"/>
              <a:t>대신에 </a:t>
            </a:r>
            <a:r>
              <a:rPr lang="en-US" altLang="ko-KR" spc="-75" dirty="0"/>
              <a:t>A+(B</a:t>
            </a:r>
            <a:r>
              <a:rPr lang="ko-KR" altLang="en-US" spc="-75" dirty="0"/>
              <a:t>의 </a:t>
            </a:r>
            <a:r>
              <a:rPr lang="en-US" altLang="ko-KR" spc="-75" dirty="0"/>
              <a:t>2</a:t>
            </a:r>
            <a:r>
              <a:rPr lang="ko-KR" altLang="en-US" spc="-75" dirty="0"/>
              <a:t>의 보수</a:t>
            </a:r>
            <a:r>
              <a:rPr lang="en-US" altLang="ko-KR" spc="-75" dirty="0"/>
              <a:t>)</a:t>
            </a:r>
            <a:r>
              <a:rPr lang="ko-KR" altLang="en-US" spc="-75" dirty="0"/>
              <a:t>를 계산하면 된다</a:t>
            </a:r>
            <a:r>
              <a:rPr lang="en-US" altLang="ko-KR" spc="-75" dirty="0"/>
              <a:t>. 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뺄셈에서 </a:t>
            </a:r>
            <a:r>
              <a:rPr lang="en-US" altLang="ko-KR" spc="-75" dirty="0"/>
              <a:t>2</a:t>
            </a:r>
            <a:r>
              <a:rPr lang="ko-KR" altLang="en-US" spc="-75" dirty="0"/>
              <a:t>의 보수 방식을 사용하는 이유는 뺄셈을 가산기를 사용하여 수행할 수 있다</a:t>
            </a:r>
            <a:r>
              <a:rPr lang="en-US" altLang="ko-KR" spc="-75" dirty="0"/>
              <a:t>.</a:t>
            </a:r>
            <a:endParaRPr lang="ko-KR" altLang="en-US" spc="-75" dirty="0"/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cxnSp>
        <p:nvCxnSpPr>
          <p:cNvPr id="14" name="직선 화살표 연결선 13"/>
          <p:cNvCxnSpPr>
            <a:cxnSpLocks/>
          </p:cNvCxnSpPr>
          <p:nvPr/>
        </p:nvCxnSpPr>
        <p:spPr>
          <a:xfrm flipV="1">
            <a:off x="4206350" y="4136110"/>
            <a:ext cx="550041" cy="108600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cxnSpLocks/>
          </p:cNvCxnSpPr>
          <p:nvPr/>
        </p:nvCxnSpPr>
        <p:spPr>
          <a:xfrm flipV="1">
            <a:off x="4206350" y="4977367"/>
            <a:ext cx="432048" cy="2447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22"/>
          <p:cNvSpPr txBox="1">
            <a:spLocks noChangeArrowheads="1"/>
          </p:cNvSpPr>
          <p:nvPr/>
        </p:nvSpPr>
        <p:spPr bwMode="auto">
          <a:xfrm>
            <a:off x="3862810" y="5114098"/>
            <a:ext cx="51554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0" lang="ko-KR" altLang="en-US" sz="1050" spc="-75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서로 다름</a:t>
            </a:r>
          </a:p>
        </p:txBody>
      </p:sp>
      <p:cxnSp>
        <p:nvCxnSpPr>
          <p:cNvPr id="19" name="직선 화살표 연결선 18"/>
          <p:cNvCxnSpPr>
            <a:cxnSpLocks/>
          </p:cNvCxnSpPr>
          <p:nvPr/>
        </p:nvCxnSpPr>
        <p:spPr>
          <a:xfrm flipV="1">
            <a:off x="6970182" y="4077072"/>
            <a:ext cx="623275" cy="13553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cxnSpLocks/>
          </p:cNvCxnSpPr>
          <p:nvPr/>
        </p:nvCxnSpPr>
        <p:spPr>
          <a:xfrm flipV="1">
            <a:off x="6970182" y="5137200"/>
            <a:ext cx="464137" cy="29518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2"/>
          <p:cNvSpPr txBox="1">
            <a:spLocks noChangeArrowheads="1"/>
          </p:cNvSpPr>
          <p:nvPr/>
        </p:nvSpPr>
        <p:spPr bwMode="auto">
          <a:xfrm>
            <a:off x="6592141" y="5271015"/>
            <a:ext cx="51554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0" lang="ko-KR" altLang="en-US" sz="1050" spc="-75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서로 다름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3B251AA-0E5D-7234-A242-5259E4BB1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28" y="2467714"/>
            <a:ext cx="2052686" cy="89880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2021374-0F5F-5D8F-C0B8-DE803DF73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697" y="2450235"/>
            <a:ext cx="2666063" cy="129355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55D50F9-BC34-A5BA-167B-9991F2BFD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345" y="2402185"/>
            <a:ext cx="2678208" cy="13421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652C30D-FDBE-7DCF-AE91-2635130581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595" y="3784857"/>
            <a:ext cx="2696428" cy="134214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5639A8-3186-49BF-889D-C4E9D463AAD6}"/>
              </a:ext>
            </a:extLst>
          </p:cNvPr>
          <p:cNvSpPr/>
          <p:nvPr/>
        </p:nvSpPr>
        <p:spPr>
          <a:xfrm>
            <a:off x="3101791" y="3861049"/>
            <a:ext cx="5948659" cy="18001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3"/>
          <p:cNvSpPr txBox="1">
            <a:spLocks noChangeArrowheads="1"/>
          </p:cNvSpPr>
          <p:nvPr/>
        </p:nvSpPr>
        <p:spPr bwMode="auto">
          <a:xfrm>
            <a:off x="5728341" y="5521410"/>
            <a:ext cx="756047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kumimoji="0" lang="en-US" altLang="ko-KR" sz="1200" dirty="0">
                <a:solidFill>
                  <a:srgbClr val="FF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overflow</a:t>
            </a:r>
            <a:endParaRPr kumimoji="0" lang="ko-KR" altLang="en-US" sz="1200" dirty="0">
              <a:solidFill>
                <a:srgbClr val="FF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22" name="TextBox 21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3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2223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9742" y="2510898"/>
            <a:ext cx="496855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ko-KR" altLang="ko-KR" sz="1350" dirty="0">
                <a:latin typeface="휴먼모음T" panose="02030504000101010101" pitchFamily="18" charset="-127"/>
                <a:ea typeface="휴먼모음T" panose="02030504000101010101" pitchFamily="18" charset="-127"/>
                <a:cs typeface="Times New Roman" panose="02020603050405020304" pitchFamily="18" charset="0"/>
              </a:rPr>
              <a:t>부호를 확장하여 연산하는 과정은 다음과 같다</a:t>
            </a:r>
            <a:r>
              <a:rPr kumimoji="0" lang="en-US" altLang="ko-KR" sz="1350" dirty="0">
                <a:latin typeface="휴먼모음T" panose="02030504000101010101" pitchFamily="18" charset="-127"/>
                <a:ea typeface="휴먼모음T" panose="02030504000101010101" pitchFamily="18" charset="-127"/>
                <a:cs typeface="Times New Roman" panose="02020603050405020304" pitchFamily="18" charset="0"/>
              </a:rPr>
              <a:t>.</a:t>
            </a:r>
            <a:endParaRPr kumimoji="0" lang="ko-KR" altLang="ko-KR" sz="1350" dirty="0">
              <a:latin typeface="휴먼모음T" panose="02030504000101010101" pitchFamily="18" charset="-127"/>
              <a:ea typeface="휴먼모음T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269443" y="4048111"/>
            <a:ext cx="570493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0" lang="ko-KR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직전 </a:t>
            </a:r>
            <a:r>
              <a:rPr kumimoji="0" lang="ko-KR" altLang="ko-KR" sz="1350" dirty="0" err="1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캐리와</a:t>
            </a:r>
            <a:r>
              <a:rPr kumimoji="0" lang="ko-KR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 최종 캐리</a:t>
            </a:r>
            <a:r>
              <a:rPr kumimoji="0" lang="en-US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(</a:t>
            </a:r>
            <a:r>
              <a:rPr kumimoji="0" lang="ko-KR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밑줄 친 부분</a:t>
            </a:r>
            <a:r>
              <a:rPr kumimoji="0" lang="en-US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kumimoji="0" lang="ko-KR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가 같으므로 정상적으로 계산된 것임을 알 수 있고</a:t>
            </a:r>
            <a:r>
              <a:rPr kumimoji="0" lang="en-US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,</a:t>
            </a:r>
          </a:p>
          <a:p>
            <a:pPr algn="l"/>
            <a:r>
              <a:rPr kumimoji="0" lang="ko-KR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그 결과는 </a:t>
            </a:r>
            <a:r>
              <a:rPr kumimoji="0" lang="en-US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10101100</a:t>
            </a:r>
            <a:r>
              <a:rPr kumimoji="0" lang="en-US" altLang="ko-KR" sz="1350" baseline="-2500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(2) </a:t>
            </a:r>
            <a:r>
              <a:rPr kumimoji="0" lang="en-US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= 128+32+8+4 = 172</a:t>
            </a:r>
            <a:r>
              <a:rPr kumimoji="0" lang="en-US" altLang="ko-KR" sz="1350" baseline="-2500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(10)</a:t>
            </a:r>
            <a:r>
              <a:rPr kumimoji="0" lang="ko-KR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이다</a:t>
            </a:r>
            <a:r>
              <a:rPr kumimoji="0" lang="en-US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.</a:t>
            </a:r>
            <a:endParaRPr kumimoji="0" lang="ko-KR" altLang="ko-KR" sz="1350" dirty="0">
              <a:latin typeface="Times New Roman" panose="02020603050405020304" pitchFamily="18" charset="0"/>
              <a:ea typeface="휴먼모음T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799798" y="2132857"/>
            <a:ext cx="588623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350" dirty="0">
                <a:solidFill>
                  <a:srgbClr val="00B0F0"/>
                </a:solidFill>
                <a:latin typeface="HY헤드라인M" pitchFamily="18" charset="-127"/>
                <a:ea typeface="HY헤드라인M" pitchFamily="18" charset="-127"/>
              </a:rPr>
              <a:t>풀이 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376395"/>
              </p:ext>
            </p:extLst>
          </p:nvPr>
        </p:nvGraphicFramePr>
        <p:xfrm>
          <a:off x="1331640" y="1538790"/>
          <a:ext cx="6318702" cy="49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예제 </a:t>
                      </a:r>
                      <a:r>
                        <a:rPr kumimoji="0" lang="en-US" altLang="ko-KR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2-2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비트 연산 </a:t>
                      </a: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98+74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ko-KR" altLang="en-US" sz="1400" b="0" spc="-50" baseline="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오버플로가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 발생하여 잘못 계산된 결과를 얻었다</a:t>
                      </a: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부호 확장으로 올바른 결과를 얻을 수 있음을 설명하여라</a:t>
                      </a:r>
                      <a:r>
                        <a:rPr lang="en-US" altLang="ko-KR" sz="1400" b="0" spc="-50" baseline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직선 연결선 11"/>
          <p:cNvCxnSpPr/>
          <p:nvPr/>
        </p:nvCxnSpPr>
        <p:spPr>
          <a:xfrm>
            <a:off x="1493659" y="4725144"/>
            <a:ext cx="613063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11756" y="4725145"/>
            <a:ext cx="1056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Example</a:t>
            </a:r>
            <a:endParaRPr lang="ko-KR" altLang="en-US" sz="10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72C966C-F3D6-5462-75D2-980C3D0E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787897"/>
            <a:ext cx="2985905" cy="112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en-US" altLang="ko-KR" spc="-75" dirty="0">
                <a:solidFill>
                  <a:srgbClr val="2B6278"/>
                </a:solidFill>
              </a:rPr>
              <a:t>10</a:t>
            </a:r>
            <a:r>
              <a:rPr lang="ko-KR" altLang="en-US" spc="-75" dirty="0">
                <a:solidFill>
                  <a:srgbClr val="2B6278"/>
                </a:solidFill>
              </a:rPr>
              <a:t>진 정수 표현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338138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팩 </a:t>
            </a:r>
            <a:r>
              <a:rPr lang="en-US" altLang="ko-KR" sz="1500" b="1" spc="-75" dirty="0"/>
              <a:t>10</a:t>
            </a:r>
            <a:r>
              <a:rPr lang="ko-KR" altLang="en-US" sz="1500" b="1" spc="-75" dirty="0"/>
              <a:t>진 형식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 err="1"/>
              <a:t>디지트</a:t>
            </a:r>
            <a:r>
              <a:rPr lang="en-US" altLang="ko-KR" spc="-75" dirty="0"/>
              <a:t>(digit) 2</a:t>
            </a:r>
            <a:r>
              <a:rPr lang="ko-KR" altLang="en-US" spc="-75" dirty="0"/>
              <a:t>개를 </a:t>
            </a:r>
            <a:r>
              <a:rPr lang="en-US" altLang="ko-KR" spc="-75" dirty="0"/>
              <a:t>8421 </a:t>
            </a:r>
            <a:r>
              <a:rPr lang="ko-KR" altLang="en-US" spc="-75" dirty="0"/>
              <a:t>코드로 나타내고 최하위 바이트의 존</a:t>
            </a:r>
            <a:r>
              <a:rPr lang="en-US" altLang="ko-KR" spc="-75" dirty="0"/>
              <a:t> </a:t>
            </a:r>
            <a:r>
              <a:rPr lang="ko-KR" altLang="en-US" spc="-75" dirty="0"/>
              <a:t>부분에 </a:t>
            </a:r>
            <a:r>
              <a:rPr lang="en-US" altLang="ko-KR" spc="-75" dirty="0"/>
              <a:t>4</a:t>
            </a:r>
            <a:r>
              <a:rPr lang="ko-KR" altLang="en-US" spc="-75" dirty="0"/>
              <a:t>비트의 부호를 표현한다</a:t>
            </a:r>
            <a:r>
              <a:rPr lang="en-US" altLang="ko-KR" spc="-75" dirty="0"/>
              <a:t>.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부호는 양수</a:t>
            </a:r>
            <a:r>
              <a:rPr lang="en-US" altLang="ko-KR" spc="-75" dirty="0"/>
              <a:t>(+)</a:t>
            </a:r>
            <a:r>
              <a:rPr lang="ko-KR" altLang="en-US" spc="-75" dirty="0"/>
              <a:t>는 </a:t>
            </a:r>
            <a:r>
              <a:rPr lang="en-US" altLang="ko-KR" spc="-75" dirty="0"/>
              <a:t>C(1100), </a:t>
            </a:r>
            <a:r>
              <a:rPr lang="ko-KR" altLang="en-US" spc="-75" dirty="0"/>
              <a:t>음수</a:t>
            </a:r>
            <a:r>
              <a:rPr lang="en-US" altLang="ko-KR" spc="-75" dirty="0"/>
              <a:t>(-)</a:t>
            </a:r>
            <a:r>
              <a:rPr lang="ko-KR" altLang="en-US" spc="-75" dirty="0"/>
              <a:t>는 </a:t>
            </a:r>
            <a:r>
              <a:rPr lang="en-US" altLang="ko-KR" spc="-75" dirty="0"/>
              <a:t>D(1101), </a:t>
            </a:r>
            <a:r>
              <a:rPr lang="ko-KR" altLang="en-US" spc="-75" dirty="0"/>
              <a:t>부호가 없는 양수는 </a:t>
            </a:r>
            <a:r>
              <a:rPr lang="en-US" altLang="ko-KR" spc="-75" dirty="0"/>
              <a:t>F(1111)</a:t>
            </a:r>
            <a:r>
              <a:rPr lang="ko-KR" altLang="en-US" spc="-75" dirty="0"/>
              <a:t>로 표현한다</a:t>
            </a:r>
            <a:r>
              <a:rPr lang="en-US" altLang="ko-KR" spc="-75" dirty="0"/>
              <a:t>.</a:t>
            </a:r>
            <a:endParaRPr lang="ko-KR" altLang="en-US" spc="-75" dirty="0"/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2E75BE-8AA7-CB7B-FBE9-A6F1382F6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44" y="2348880"/>
            <a:ext cx="6931357" cy="3660016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4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3603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 </a:t>
            </a:r>
            <a:r>
              <a:rPr lang="ko-KR" altLang="en-US" dirty="0"/>
              <a:t>정수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8138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 err="1"/>
              <a:t>언팩</a:t>
            </a:r>
            <a:r>
              <a:rPr lang="ko-KR" altLang="en-US" sz="1500" b="1" spc="-75" dirty="0"/>
              <a:t> </a:t>
            </a:r>
            <a:r>
              <a:rPr lang="en-US" altLang="ko-KR" sz="1500" b="1" spc="-75" dirty="0"/>
              <a:t>10</a:t>
            </a:r>
            <a:r>
              <a:rPr lang="ko-KR" altLang="en-US" sz="1500" b="1" spc="-75" dirty="0"/>
              <a:t>진 형식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</a:t>
            </a:r>
            <a:r>
              <a:rPr lang="ko-KR" altLang="en-US" spc="-75" dirty="0"/>
              <a:t>바이트가 존 부분과 </a:t>
            </a:r>
            <a:r>
              <a:rPr lang="ko-KR" altLang="en-US" spc="-75" dirty="0" err="1"/>
              <a:t>디지트</a:t>
            </a:r>
            <a:r>
              <a:rPr lang="ko-KR" altLang="en-US" spc="-75" dirty="0"/>
              <a:t> 부분으로 구성되어 있다</a:t>
            </a:r>
            <a:r>
              <a:rPr lang="en-US" altLang="ko-KR" spc="-75" dirty="0"/>
              <a:t>.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존 부분에는 </a:t>
            </a:r>
            <a:r>
              <a:rPr lang="en-US" altLang="ko-KR" spc="-75" dirty="0"/>
              <a:t>F(1111)</a:t>
            </a:r>
            <a:r>
              <a:rPr lang="ko-KR" altLang="en-US" spc="-75" dirty="0"/>
              <a:t>가 들어가고</a:t>
            </a:r>
            <a:r>
              <a:rPr lang="en-US" altLang="ko-KR" spc="-75" dirty="0"/>
              <a:t>, </a:t>
            </a:r>
            <a:r>
              <a:rPr lang="ko-KR" altLang="en-US" spc="-75" dirty="0" err="1"/>
              <a:t>디지트</a:t>
            </a:r>
            <a:r>
              <a:rPr lang="ko-KR" altLang="en-US" spc="-75" dirty="0"/>
              <a:t> 부분에는 </a:t>
            </a:r>
            <a:r>
              <a:rPr lang="en-US" altLang="ko-KR" spc="-75" dirty="0"/>
              <a:t>8421 </a:t>
            </a:r>
            <a:r>
              <a:rPr lang="ko-KR" altLang="en-US" spc="-75" dirty="0"/>
              <a:t>코드로 표현된 숫자가 들어간다</a:t>
            </a:r>
            <a:r>
              <a:rPr lang="en-US" altLang="ko-KR" spc="-75" dirty="0"/>
              <a:t>.</a:t>
            </a:r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하위 바이트의 존 부분에 부호가 들어가며</a:t>
            </a:r>
            <a:r>
              <a:rPr lang="en-US" altLang="ko-KR" spc="-75" dirty="0"/>
              <a:t>, </a:t>
            </a:r>
            <a:r>
              <a:rPr lang="ko-KR" altLang="en-US" spc="-75" dirty="0"/>
              <a:t>양수</a:t>
            </a:r>
            <a:r>
              <a:rPr lang="en-US" altLang="ko-KR" spc="-75" dirty="0"/>
              <a:t>(+)</a:t>
            </a:r>
            <a:r>
              <a:rPr lang="ko-KR" altLang="en-US" spc="-75" dirty="0"/>
              <a:t>는 </a:t>
            </a:r>
            <a:r>
              <a:rPr lang="en-US" altLang="ko-KR" spc="-75" dirty="0"/>
              <a:t>C(1100), </a:t>
            </a:r>
            <a:r>
              <a:rPr lang="ko-KR" altLang="en-US" spc="-75" dirty="0"/>
              <a:t>음수</a:t>
            </a:r>
            <a:r>
              <a:rPr lang="en-US" altLang="ko-KR" spc="-75" dirty="0"/>
              <a:t>(-)</a:t>
            </a:r>
            <a:r>
              <a:rPr lang="ko-KR" altLang="en-US" spc="-75" dirty="0"/>
              <a:t>는 </a:t>
            </a:r>
            <a:r>
              <a:rPr lang="en-US" altLang="ko-KR" spc="-75" dirty="0"/>
              <a:t>D(1101), </a:t>
            </a:r>
            <a:r>
              <a:rPr lang="ko-KR" altLang="en-US" spc="-75" dirty="0"/>
              <a:t>부호가 없는 양수는 </a:t>
            </a:r>
            <a:r>
              <a:rPr lang="en-US" altLang="ko-KR" spc="-75" dirty="0"/>
              <a:t>F(1111)</a:t>
            </a:r>
            <a:r>
              <a:rPr lang="ko-KR" altLang="en-US" spc="-75" dirty="0"/>
              <a:t>로 표현한다</a:t>
            </a:r>
            <a:r>
              <a:rPr lang="en-US" altLang="ko-KR" spc="-75" dirty="0"/>
              <a:t>.</a:t>
            </a:r>
            <a:endParaRPr lang="ko-KR" altLang="en-US" spc="-75" dirty="0"/>
          </a:p>
          <a:p>
            <a:pPr marL="471488" lvl="1" indent="-13216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ko-KR" altLang="en-US" sz="1275" spc="-75" dirty="0"/>
              <a:t> </a:t>
            </a:r>
            <a:endParaRPr lang="en-US" altLang="ko-KR" sz="1275" spc="-75" dirty="0"/>
          </a:p>
          <a:p>
            <a:pPr marL="267891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ko-KR" altLang="en-US" sz="1275" spc="-75" dirty="0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A84A60-8170-6F19-C635-E99F371A4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19" y="2636912"/>
            <a:ext cx="6915162" cy="361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43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A19D8F6-20AF-4463-6A5B-76A631EA9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427" y="5086947"/>
            <a:ext cx="2040540" cy="1109341"/>
          </a:xfrm>
          <a:prstGeom prst="rect">
            <a:avLst/>
          </a:prstGeom>
        </p:spPr>
      </p:pic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 </a:t>
            </a:r>
            <a:r>
              <a:rPr lang="ko-KR" altLang="en-US" dirty="0"/>
              <a:t>실수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00" spc="-75" dirty="0"/>
              <a:t>컴퓨터의 부동소수점수는 </a:t>
            </a:r>
            <a:r>
              <a:rPr lang="en-US" altLang="ko-KR" sz="1400" b="1" spc="-75" dirty="0">
                <a:solidFill>
                  <a:srgbClr val="00B0F0"/>
                </a:solidFill>
              </a:rPr>
              <a:t>IEEE 754</a:t>
            </a:r>
            <a:r>
              <a:rPr lang="ko-KR" altLang="en-US" sz="1400" b="1" spc="-75" dirty="0">
                <a:solidFill>
                  <a:srgbClr val="00B0F0"/>
                </a:solidFill>
              </a:rPr>
              <a:t>표준</a:t>
            </a:r>
            <a:r>
              <a:rPr lang="ko-KR" altLang="en-US" sz="1400" spc="-75" dirty="0"/>
              <a:t>을 따른다</a:t>
            </a:r>
            <a:r>
              <a:rPr lang="en-US" altLang="ko-KR" sz="1400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00" b="1" spc="-75" dirty="0">
                <a:solidFill>
                  <a:srgbClr val="00B0F0"/>
                </a:solidFill>
              </a:rPr>
              <a:t>부호</a:t>
            </a:r>
            <a:r>
              <a:rPr lang="en-US" altLang="ko-KR" sz="1400" spc="-75" dirty="0"/>
              <a:t>(sign), </a:t>
            </a:r>
            <a:r>
              <a:rPr lang="ko-KR" altLang="en-US" sz="1400" b="1" spc="-75" dirty="0">
                <a:solidFill>
                  <a:srgbClr val="00B0F0"/>
                </a:solidFill>
              </a:rPr>
              <a:t>지수</a:t>
            </a:r>
            <a:r>
              <a:rPr lang="en-US" altLang="ko-KR" sz="1400" spc="-75" dirty="0"/>
              <a:t>(exponent), </a:t>
            </a:r>
            <a:r>
              <a:rPr lang="ko-KR" altLang="en-US" sz="1400" b="1" spc="-75" dirty="0">
                <a:solidFill>
                  <a:srgbClr val="00B0F0"/>
                </a:solidFill>
              </a:rPr>
              <a:t>가수</a:t>
            </a:r>
            <a:r>
              <a:rPr lang="en-US" altLang="ko-KR" sz="1400" spc="-75" dirty="0"/>
              <a:t>(mantissa)</a:t>
            </a:r>
            <a:r>
              <a:rPr lang="ko-KR" altLang="en-US" sz="1400" spc="-75" dirty="0"/>
              <a:t>의 세 영역으로 표시</a:t>
            </a:r>
            <a:endParaRPr lang="en-US" altLang="ko-KR" sz="1400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00" spc="-75" dirty="0"/>
              <a:t>부호</a:t>
            </a:r>
            <a:r>
              <a:rPr lang="en-US" altLang="ko-KR" sz="1400" spc="-75" dirty="0"/>
              <a:t>(S)</a:t>
            </a:r>
            <a:r>
              <a:rPr lang="ko-KR" altLang="en-US" sz="1400" spc="-75" dirty="0"/>
              <a:t>가 </a:t>
            </a:r>
            <a:r>
              <a:rPr lang="en-US" altLang="ko-KR" sz="1400" spc="-75" dirty="0"/>
              <a:t>0</a:t>
            </a:r>
            <a:r>
              <a:rPr lang="ko-KR" altLang="en-US" sz="1400" spc="-75" dirty="0"/>
              <a:t>일 때는 양수를 나타내고</a:t>
            </a:r>
            <a:r>
              <a:rPr lang="en-US" altLang="ko-KR" sz="1400" spc="-75" dirty="0"/>
              <a:t>, 1</a:t>
            </a:r>
            <a:r>
              <a:rPr lang="ko-KR" altLang="en-US" sz="1400" spc="-75" dirty="0"/>
              <a:t>일 때는 음수를 나타낸다</a:t>
            </a:r>
            <a:r>
              <a:rPr lang="en-US" altLang="ko-KR" sz="1400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z="1400" spc="-75" dirty="0"/>
              <a:t>단정도</a:t>
            </a:r>
            <a:r>
              <a:rPr lang="en-US" altLang="ko-KR" sz="1400" spc="-75" dirty="0"/>
              <a:t>(single precision) </a:t>
            </a:r>
            <a:r>
              <a:rPr lang="ko-KR" altLang="en-US" sz="1400" spc="-75" dirty="0"/>
              <a:t>부동소수점수와 배정도</a:t>
            </a:r>
            <a:r>
              <a:rPr lang="en-US" altLang="ko-KR" sz="1400" spc="-75" dirty="0"/>
              <a:t>(double precision) </a:t>
            </a:r>
            <a:r>
              <a:rPr lang="ko-KR" altLang="en-US" sz="1400" spc="-75" dirty="0"/>
              <a:t>부동소수점수의 두 가지 표현 방법이 있다</a:t>
            </a:r>
            <a:r>
              <a:rPr lang="en-US" altLang="ko-KR" sz="1400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ko-KR" altLang="en-US" sz="1400" spc="-75" dirty="0"/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4BF53C-2569-4EF9-B3BE-1B7E9C813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15" y="2268567"/>
            <a:ext cx="7514369" cy="268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1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 </a:t>
            </a:r>
            <a:r>
              <a:rPr lang="ko-KR" altLang="en-US" dirty="0"/>
              <a:t>실수 표현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71463" indent="-195263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q"/>
            </a:pPr>
            <a:r>
              <a:rPr lang="ko-KR" altLang="en-US" spc="-75" dirty="0"/>
              <a:t> 정규화</a:t>
            </a:r>
            <a:r>
              <a:rPr lang="en-US" altLang="ko-KR" spc="-75" dirty="0"/>
              <a:t>(normalization) : </a:t>
            </a:r>
            <a:r>
              <a:rPr lang="ko-KR" altLang="en-US" spc="-75" dirty="0"/>
              <a:t>과학적 표기방법</a:t>
            </a:r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z="1350" spc="-75" dirty="0"/>
              <a:t> </a:t>
            </a:r>
            <a:r>
              <a:rPr lang="en-US" altLang="ko-KR" sz="1350" spc="-75" dirty="0"/>
              <a:t>2</a:t>
            </a:r>
            <a:r>
              <a:rPr lang="ko-KR" altLang="en-US" sz="1350" spc="-75" dirty="0"/>
              <a:t>진수의 정규화 </a:t>
            </a:r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endParaRPr lang="ko-KR" altLang="en-US" spc="-75" dirty="0"/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endParaRPr lang="ko-KR" altLang="en-US" spc="-75" dirty="0"/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endParaRPr lang="ko-KR" altLang="en-US" sz="1350" spc="-75" dirty="0"/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ko-KR" altLang="en-US" sz="1350" spc="-75" dirty="0"/>
              <a:t>바이어스</a:t>
            </a:r>
            <a:r>
              <a:rPr lang="en-US" altLang="ko-KR" sz="1350" spc="-75" dirty="0"/>
              <a:t>(bias) : </a:t>
            </a:r>
            <a:r>
              <a:rPr lang="ko-KR" altLang="en-US" sz="1350" spc="-75" dirty="0"/>
              <a:t>지수의 양수</a:t>
            </a:r>
            <a:r>
              <a:rPr lang="en-US" altLang="ko-KR" sz="1350" spc="-75" dirty="0"/>
              <a:t>, </a:t>
            </a:r>
            <a:r>
              <a:rPr lang="ko-KR" altLang="en-US" sz="1350" spc="-75" dirty="0"/>
              <a:t>음수를 나타내기 위한 방법</a:t>
            </a:r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en-US" altLang="ko-KR" spc="-75" dirty="0"/>
              <a:t>IEEE 754 </a:t>
            </a:r>
            <a:r>
              <a:rPr lang="ko-KR" altLang="en-US" spc="-75" dirty="0"/>
              <a:t>표준에서는 바이어스 </a:t>
            </a:r>
            <a:r>
              <a:rPr lang="en-US" altLang="ko-KR" spc="-75" dirty="0"/>
              <a:t>127(</a:t>
            </a:r>
            <a:r>
              <a:rPr lang="ko-KR" altLang="en-US" spc="-75" dirty="0"/>
              <a:t>단정도</a:t>
            </a:r>
            <a:r>
              <a:rPr lang="en-US" altLang="ko-KR" spc="-75" dirty="0"/>
              <a:t>) </a:t>
            </a:r>
            <a:r>
              <a:rPr lang="ko-KR" altLang="en-US" spc="-75" dirty="0"/>
              <a:t>또는 </a:t>
            </a:r>
            <a:r>
              <a:rPr lang="en-US" altLang="ko-KR" spc="-75" dirty="0"/>
              <a:t>1023(</a:t>
            </a:r>
            <a:r>
              <a:rPr lang="ko-KR" altLang="en-US" spc="-75" dirty="0"/>
              <a:t>배정도</a:t>
            </a:r>
            <a:r>
              <a:rPr lang="en-US" altLang="ko-KR" spc="-75" dirty="0"/>
              <a:t>)</a:t>
            </a:r>
            <a:r>
              <a:rPr lang="ko-KR" altLang="en-US" spc="-75" dirty="0"/>
              <a:t>을 사용</a:t>
            </a:r>
          </a:p>
          <a:p>
            <a:pPr marL="407194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r>
              <a:rPr lang="ko-KR" altLang="en-US" spc="-75" dirty="0"/>
              <a:t>표현 지수 </a:t>
            </a:r>
            <a:r>
              <a:rPr lang="en-US" altLang="ko-KR" spc="-75" dirty="0"/>
              <a:t>= </a:t>
            </a:r>
            <a:r>
              <a:rPr lang="ko-KR" altLang="en-US" spc="-75" dirty="0"/>
              <a:t>바이어스 </a:t>
            </a:r>
            <a:r>
              <a:rPr lang="en-US" altLang="ko-KR" spc="-75" dirty="0"/>
              <a:t>+ 2</a:t>
            </a:r>
            <a:r>
              <a:rPr lang="ko-KR" altLang="en-US" spc="-75" dirty="0"/>
              <a:t>진 지수 값</a:t>
            </a:r>
          </a:p>
          <a:p>
            <a:pPr marL="535781" lvl="1" indent="-134541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Font typeface="맑은 고딕" panose="020B0503020000020004" pitchFamily="50" charset="-127"/>
              <a:buChar char="•"/>
            </a:pPr>
            <a:endParaRPr lang="en-US" altLang="ko-KR" spc="-75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766040"/>
              </p:ext>
            </p:extLst>
          </p:nvPr>
        </p:nvGraphicFramePr>
        <p:xfrm>
          <a:off x="2123728" y="1247887"/>
          <a:ext cx="2518172" cy="97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698400" progId="Equation.DSMT4">
                  <p:embed/>
                </p:oleObj>
              </mc:Choice>
              <mc:Fallback>
                <p:oleObj name="Equation" r:id="rId2" imgW="1803240" imgH="698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247887"/>
                        <a:ext cx="2518172" cy="97512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DF1950A1-F717-965D-7548-7FBDE11F8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3717032"/>
            <a:ext cx="7085207" cy="114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021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 </a:t>
            </a:r>
            <a:r>
              <a:rPr lang="ko-KR" altLang="en-US" dirty="0"/>
              <a:t>실수 표현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altLang="ko-KR" sz="1600" spc="-75" dirty="0"/>
              <a:t>10</a:t>
            </a:r>
            <a:r>
              <a:rPr lang="ko-KR" altLang="en-US" sz="1600" spc="-75" dirty="0"/>
              <a:t>진수 </a:t>
            </a:r>
            <a:r>
              <a:rPr lang="en-US" altLang="ko-KR" sz="1600" spc="-75" dirty="0"/>
              <a:t>-0.2</a:t>
            </a:r>
            <a:r>
              <a:rPr lang="ko-KR" altLang="en-US" sz="1600" spc="-75" dirty="0"/>
              <a:t>를 단정도 부동소수점으로 표현</a:t>
            </a:r>
          </a:p>
          <a:p>
            <a:pPr marL="404813" indent="-148829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0B0F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b="0" spc="-75" dirty="0"/>
              <a:t>2</a:t>
            </a:r>
            <a:r>
              <a:rPr lang="ko-KR" altLang="en-US" sz="1600" b="0" spc="-75" dirty="0"/>
              <a:t>진수로 변환하고 정규화한다</a:t>
            </a:r>
            <a:r>
              <a:rPr lang="en-US" altLang="ko-KR" sz="1600" b="0" spc="-75" dirty="0"/>
              <a:t>.</a:t>
            </a:r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endParaRPr lang="ko-KR" altLang="en-US" sz="1600" spc="-75" dirty="0"/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679836"/>
              </p:ext>
            </p:extLst>
          </p:nvPr>
        </p:nvGraphicFramePr>
        <p:xfrm>
          <a:off x="683568" y="1556792"/>
          <a:ext cx="3655188" cy="1012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647640" progId="Equation.DSMT4">
                  <p:embed/>
                </p:oleObj>
              </mc:Choice>
              <mc:Fallback>
                <p:oleObj name="Equation" r:id="rId2" imgW="2336760" imgH="647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556792"/>
                        <a:ext cx="3655188" cy="101288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1C0F6CBE-D060-AD5F-59B5-66A2B3E36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863550"/>
            <a:ext cx="5230908" cy="116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20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 </a:t>
            </a:r>
            <a:r>
              <a:rPr lang="ko-KR" altLang="en-US" dirty="0"/>
              <a:t>실수 표현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71463" indent="-192881">
              <a:lnSpc>
                <a:spcPct val="110000"/>
              </a:lnSpc>
              <a:spcAft>
                <a:spcPts val="150"/>
              </a:spcAft>
              <a:buSzPct val="100000"/>
              <a:buFont typeface="Wingdings" panose="05000000000000000000" pitchFamily="2" charset="2"/>
              <a:buChar char="q"/>
            </a:pPr>
            <a:r>
              <a:rPr lang="ko-KR" altLang="en-US" spc="-75" dirty="0"/>
              <a:t> 컴퓨터에서의 부동소수점수의 표현 범위</a:t>
            </a:r>
            <a:endParaRPr lang="en-US" altLang="ko-KR" spc="-75" dirty="0"/>
          </a:p>
        </p:txBody>
      </p:sp>
      <p:pic>
        <p:nvPicPr>
          <p:cNvPr id="3" name="그림 2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4C5740-5E9D-8925-C931-55515938A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288320"/>
            <a:ext cx="7538661" cy="1716645"/>
          </a:xfrm>
          <a:prstGeom prst="rect">
            <a:avLst/>
          </a:prstGeom>
        </p:spPr>
      </p:pic>
      <p:pic>
        <p:nvPicPr>
          <p:cNvPr id="5" name="그림 4" descr="라인, 도표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09E637-280E-610E-474F-FBD039416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379" y="3463009"/>
            <a:ext cx="6421222" cy="144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46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 </a:t>
            </a:r>
            <a:r>
              <a:rPr lang="ko-KR" altLang="en-US" dirty="0"/>
              <a:t>실수 표현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249742" y="2402887"/>
            <a:ext cx="5400600" cy="1428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900"/>
              </a:spcBef>
              <a:spcAft>
                <a:spcPts val="900"/>
              </a:spcAft>
            </a:pPr>
            <a:r>
              <a:rPr kumimoji="0" lang="ko-KR" altLang="en-US" sz="1350" dirty="0">
                <a:latin typeface="휴먼모음T" panose="02030504000101010101" pitchFamily="18" charset="-127"/>
                <a:ea typeface="휴먼모음T" panose="02030504000101010101" pitchFamily="18" charset="-127"/>
                <a:cs typeface="Times New Roman" panose="02020603050405020304" pitchFamily="18" charset="0"/>
              </a:rPr>
              <a:t>    을 정규화된 방법으로 표현하면                   이다</a:t>
            </a:r>
            <a:r>
              <a:rPr kumimoji="0" lang="en-US" altLang="ko-KR" sz="1350" dirty="0">
                <a:latin typeface="휴먼모음T" panose="02030504000101010101" pitchFamily="18" charset="-127"/>
                <a:ea typeface="휴먼모음T" panose="02030504000101010101" pitchFamily="18" charset="-127"/>
                <a:cs typeface="Times New Roman" panose="02020603050405020304" pitchFamily="18" charset="0"/>
              </a:rPr>
              <a:t>.  </a:t>
            </a:r>
          </a:p>
          <a:p>
            <a:pPr>
              <a:lnSpc>
                <a:spcPts val="3000"/>
              </a:lnSpc>
              <a:spcBef>
                <a:spcPts val="900"/>
              </a:spcBef>
              <a:spcAft>
                <a:spcPts val="900"/>
              </a:spcAft>
            </a:pPr>
            <a:r>
              <a:rPr kumimoji="0" lang="ko-KR" altLang="en-US" sz="1350" dirty="0">
                <a:latin typeface="휴먼모음T" panose="02030504000101010101" pitchFamily="18" charset="-127"/>
                <a:ea typeface="휴먼모음T" panose="02030504000101010101" pitchFamily="18" charset="-127"/>
                <a:cs typeface="Times New Roman" panose="02020603050405020304" pitchFamily="18" charset="0"/>
              </a:rPr>
              <a:t>그러므로               </a:t>
            </a:r>
            <a:r>
              <a:rPr kumimoji="0" lang="ko-KR" altLang="en-US" sz="1350" dirty="0" err="1">
                <a:latin typeface="휴먼모음T" panose="02030504000101010101" pitchFamily="18" charset="-127"/>
                <a:ea typeface="휴먼모음T" panose="02030504000101010101" pitchFamily="18" charset="-127"/>
                <a:cs typeface="Times New Roman" panose="02020603050405020304" pitchFamily="18" charset="0"/>
              </a:rPr>
              <a:t>를</a:t>
            </a:r>
            <a:r>
              <a:rPr kumimoji="0" lang="ko-KR" altLang="en-US" sz="1350" dirty="0">
                <a:latin typeface="휴먼모음T" panose="02030504000101010101" pitchFamily="18" charset="-127"/>
                <a:ea typeface="휴먼모음T" panose="02030504000101010101" pitchFamily="18" charset="-127"/>
                <a:cs typeface="Times New Roman" panose="02020603050405020304" pitchFamily="18" charset="0"/>
              </a:rPr>
              <a:t> 단정도 부동소수점수로 표현하면 다음과 같다</a:t>
            </a:r>
            <a:r>
              <a:rPr kumimoji="0" lang="en-US" altLang="ko-KR" sz="1350" dirty="0">
                <a:latin typeface="휴먼모음T" panose="02030504000101010101" pitchFamily="18" charset="-127"/>
                <a:ea typeface="휴먼모음T" panose="02030504000101010101" pitchFamily="18" charset="-127"/>
                <a:cs typeface="Times New Roman" panose="02020603050405020304" pitchFamily="18" charset="0"/>
              </a:rPr>
              <a:t>.</a:t>
            </a:r>
            <a:endParaRPr kumimoji="0" lang="ko-KR" altLang="en-US" sz="1350" dirty="0">
              <a:latin typeface="휴먼모음T" panose="02030504000101010101" pitchFamily="18" charset="-127"/>
              <a:ea typeface="휴먼모음T" panose="02030504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105590"/>
              </p:ext>
            </p:extLst>
          </p:nvPr>
        </p:nvGraphicFramePr>
        <p:xfrm>
          <a:off x="2357754" y="2403612"/>
          <a:ext cx="317313" cy="463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69" imgH="355292" progId="Equation.DSMT4">
                  <p:embed/>
                </p:oleObj>
              </mc:Choice>
              <mc:Fallback>
                <p:oleObj name="Equation" r:id="rId2" imgW="266469" imgH="3552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9457"/>
                      <a:stretch>
                        <a:fillRect/>
                      </a:stretch>
                    </p:blipFill>
                    <p:spPr bwMode="auto">
                      <a:xfrm>
                        <a:off x="2357754" y="2403612"/>
                        <a:ext cx="317313" cy="4637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17615"/>
              </p:ext>
            </p:extLst>
          </p:nvPr>
        </p:nvGraphicFramePr>
        <p:xfrm>
          <a:off x="4842030" y="2402887"/>
          <a:ext cx="1674186" cy="444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3699" imgH="355446" progId="Equation.DSMT4">
                  <p:embed/>
                </p:oleObj>
              </mc:Choice>
              <mc:Fallback>
                <p:oleObj name="Equation" r:id="rId4" imgW="1383699" imgH="3554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302"/>
                      <a:stretch>
                        <a:fillRect/>
                      </a:stretch>
                    </p:blipFill>
                    <p:spPr bwMode="auto">
                      <a:xfrm>
                        <a:off x="4842030" y="2402887"/>
                        <a:ext cx="1674186" cy="4448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04844"/>
              </p:ext>
            </p:extLst>
          </p:nvPr>
        </p:nvGraphicFramePr>
        <p:xfrm>
          <a:off x="3026406" y="3066143"/>
          <a:ext cx="1204276" cy="354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80" imgH="253800" progId="Equation.DSMT4">
                  <p:embed/>
                </p:oleObj>
              </mc:Choice>
              <mc:Fallback>
                <p:oleObj name="Equation" r:id="rId6" imgW="863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 r="2919"/>
                      <a:stretch>
                        <a:fillRect/>
                      </a:stretch>
                    </p:blipFill>
                    <p:spPr bwMode="auto">
                      <a:xfrm>
                        <a:off x="3026406" y="3066143"/>
                        <a:ext cx="1204276" cy="3540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853804" y="2132857"/>
            <a:ext cx="588623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350" dirty="0">
                <a:solidFill>
                  <a:srgbClr val="00B0F0"/>
                </a:solidFill>
                <a:latin typeface="HY헤드라인M" pitchFamily="18" charset="-127"/>
                <a:ea typeface="HY헤드라인M" pitchFamily="18" charset="-127"/>
              </a:rPr>
              <a:t>풀이 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633740"/>
              </p:ext>
            </p:extLst>
          </p:nvPr>
        </p:nvGraphicFramePr>
        <p:xfrm>
          <a:off x="1385646" y="1538790"/>
          <a:ext cx="6318702" cy="54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예제 </a:t>
                      </a:r>
                      <a:r>
                        <a:rPr kumimoji="0" lang="en-US" altLang="ko-KR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2-3</a:t>
                      </a:r>
                    </a:p>
                  </a:txBody>
                  <a:tcPr marL="68580" marR="68580" marT="108000" marB="3429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          을 단정도 부동소수점 방식으로 표현하여라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108000" marB="34290" anchor="ctr"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개체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279788"/>
              </p:ext>
            </p:extLst>
          </p:nvPr>
        </p:nvGraphicFramePr>
        <p:xfrm>
          <a:off x="2391428" y="1569667"/>
          <a:ext cx="316706" cy="463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355320" progId="Equation.DSMT4">
                  <p:embed/>
                </p:oleObj>
              </mc:Choice>
              <mc:Fallback>
                <p:oleObj name="Equation" r:id="rId8" imgW="2664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 r="9457"/>
                      <a:stretch>
                        <a:fillRect/>
                      </a:stretch>
                    </p:blipFill>
                    <p:spPr bwMode="auto">
                      <a:xfrm>
                        <a:off x="2391428" y="1569667"/>
                        <a:ext cx="316706" cy="463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직선 연결선 13"/>
          <p:cNvCxnSpPr/>
          <p:nvPr/>
        </p:nvCxnSpPr>
        <p:spPr>
          <a:xfrm>
            <a:off x="1519707" y="4833156"/>
            <a:ext cx="613063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9"/>
          <p:cNvSpPr txBox="1"/>
          <p:nvPr/>
        </p:nvSpPr>
        <p:spPr>
          <a:xfrm>
            <a:off x="6637805" y="4833157"/>
            <a:ext cx="1056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Example</a:t>
            </a:r>
            <a:endParaRPr lang="ko-KR" altLang="en-US" sz="10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C8B80C6-D85E-6287-A1EA-391311C54D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0844" y="3530633"/>
            <a:ext cx="4608362" cy="99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61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144510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en-US" altLang="ko-KR" spc="-75" dirty="0">
                <a:solidFill>
                  <a:srgbClr val="2B6278"/>
                </a:solidFill>
              </a:rPr>
              <a:t>BCD </a:t>
            </a:r>
            <a:r>
              <a:rPr lang="ko-KR" altLang="en-US" spc="-75" dirty="0">
                <a:solidFill>
                  <a:srgbClr val="2B6278"/>
                </a:solidFill>
              </a:rPr>
              <a:t>코드</a:t>
            </a:r>
            <a:r>
              <a:rPr lang="en-US" altLang="ko-KR" sz="1275" b="0" spc="-75" dirty="0"/>
              <a:t>(Binary Coded Decimal Code : 2</a:t>
            </a:r>
            <a:r>
              <a:rPr lang="ko-KR" altLang="en-US" sz="1275" b="0" spc="-75" dirty="0"/>
              <a:t>진화 </a:t>
            </a:r>
            <a:r>
              <a:rPr lang="en-US" altLang="ko-KR" sz="1275" b="0" spc="-75" dirty="0"/>
              <a:t>10</a:t>
            </a:r>
            <a:r>
              <a:rPr lang="ko-KR" altLang="en-US" sz="1275" b="0" spc="-75" dirty="0"/>
              <a:t>진 코드</a:t>
            </a:r>
            <a:r>
              <a:rPr lang="en-US" altLang="ko-KR" sz="1275" b="0" spc="-75" dirty="0"/>
              <a:t>, 8421 </a:t>
            </a:r>
            <a:r>
              <a:rPr lang="ko-KR" altLang="en-US" sz="1275" b="0" spc="-75" dirty="0"/>
              <a:t>코드</a:t>
            </a:r>
            <a:r>
              <a:rPr lang="en-US" altLang="ko-KR" sz="1275" b="0" spc="-75" dirty="0"/>
              <a:t>)</a:t>
            </a:r>
          </a:p>
          <a:p>
            <a:pPr marL="407194" lvl="1" indent="-121444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BCD</a:t>
            </a:r>
            <a:r>
              <a:rPr lang="ko-KR" altLang="en-US" spc="-75" dirty="0"/>
              <a:t>코드는 </a:t>
            </a:r>
            <a:r>
              <a:rPr lang="en-US" altLang="ko-KR" spc="-75" dirty="0"/>
              <a:t>10</a:t>
            </a:r>
            <a:r>
              <a:rPr lang="ko-KR" altLang="en-US" spc="-75" dirty="0"/>
              <a:t>진수 </a:t>
            </a:r>
            <a:r>
              <a:rPr lang="en-US" altLang="ko-KR" spc="-75" dirty="0"/>
              <a:t>0(0000)</a:t>
            </a:r>
            <a:r>
              <a:rPr lang="ko-KR" altLang="en-US" spc="-75" dirty="0"/>
              <a:t>부터 </a:t>
            </a:r>
            <a:r>
              <a:rPr lang="en-US" altLang="ko-KR" spc="-75" dirty="0"/>
              <a:t>9(1001)</a:t>
            </a:r>
            <a:r>
              <a:rPr lang="ko-KR" altLang="en-US" spc="-75" dirty="0"/>
              <a:t>까지를 </a:t>
            </a:r>
            <a:r>
              <a:rPr lang="en-US" altLang="ko-KR" spc="-75" dirty="0"/>
              <a:t>2</a:t>
            </a:r>
            <a:r>
              <a:rPr lang="ko-KR" altLang="en-US" spc="-75" dirty="0"/>
              <a:t>진화한 코드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표기는 </a:t>
            </a:r>
            <a:r>
              <a:rPr lang="en-US" altLang="ko-KR" spc="-75" dirty="0"/>
              <a:t>2</a:t>
            </a:r>
            <a:r>
              <a:rPr lang="ko-KR" altLang="en-US" spc="-75" dirty="0"/>
              <a:t>진수이지만 의미는 </a:t>
            </a:r>
            <a:r>
              <a:rPr lang="en-US" altLang="ko-KR" spc="-75" dirty="0"/>
              <a:t>10</a:t>
            </a:r>
            <a:r>
              <a:rPr lang="ko-KR" altLang="en-US" spc="-75" dirty="0"/>
              <a:t>진수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1010</a:t>
            </a:r>
            <a:r>
              <a:rPr lang="ko-KR" altLang="en-US" spc="-75" dirty="0"/>
              <a:t>부터 </a:t>
            </a:r>
            <a:r>
              <a:rPr lang="en-US" altLang="ko-KR" spc="-75" dirty="0"/>
              <a:t>1111</a:t>
            </a:r>
            <a:r>
              <a:rPr lang="ko-KR" altLang="en-US" spc="-75" dirty="0"/>
              <a:t>까지 </a:t>
            </a:r>
            <a:r>
              <a:rPr lang="en-US" altLang="ko-KR" spc="-75" dirty="0"/>
              <a:t>6</a:t>
            </a:r>
            <a:r>
              <a:rPr lang="ko-KR" altLang="en-US" spc="-75" dirty="0"/>
              <a:t>개는 사용하지 않음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17CB9F-AB4A-571C-B1AC-EECFC4E7A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276872"/>
            <a:ext cx="6162106" cy="4469754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5810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예를 들어 </a:t>
            </a:r>
            <a:r>
              <a:rPr lang="en-US" altLang="ko-KR" spc="-75" dirty="0"/>
              <a:t>10</a:t>
            </a:r>
            <a:r>
              <a:rPr lang="ko-KR" altLang="en-US" spc="-75" dirty="0"/>
              <a:t>진수 </a:t>
            </a:r>
            <a:r>
              <a:rPr lang="en-US" altLang="ko-KR" spc="-75" dirty="0"/>
              <a:t>237</a:t>
            </a:r>
            <a:r>
              <a:rPr lang="ko-KR" altLang="en-US" spc="-75" dirty="0"/>
              <a:t>을 </a:t>
            </a:r>
            <a:r>
              <a:rPr lang="en-US" altLang="ko-KR" spc="-75" dirty="0"/>
              <a:t>BCD </a:t>
            </a:r>
            <a:r>
              <a:rPr lang="ko-KR" altLang="en-US" spc="-75" dirty="0"/>
              <a:t>코드로 변환하면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BCD </a:t>
            </a:r>
            <a:r>
              <a:rPr lang="ko-KR" altLang="en-US" spc="-75" dirty="0"/>
              <a:t>코드의 연산은 다음 예에서 </a:t>
            </a:r>
            <a:r>
              <a:rPr lang="ko-KR" altLang="en-US" sz="1350" spc="-75" dirty="0">
                <a:solidFill>
                  <a:srgbClr val="00B0F0"/>
                </a:solidFill>
              </a:rPr>
              <a:t>➊</a:t>
            </a:r>
            <a:r>
              <a:rPr lang="ko-KR" altLang="en-US" sz="1350" spc="-75" dirty="0"/>
              <a:t> </a:t>
            </a:r>
            <a:r>
              <a:rPr lang="en-US" altLang="ko-KR" sz="1350" spc="-75" dirty="0"/>
              <a:t>~ </a:t>
            </a:r>
            <a:r>
              <a:rPr lang="en-US" altLang="ko-KR" sz="1350" spc="-75" dirty="0">
                <a:solidFill>
                  <a:srgbClr val="00B0F0"/>
                </a:solidFill>
              </a:rPr>
              <a:t>➋</a:t>
            </a:r>
            <a:r>
              <a:rPr lang="ko-KR" altLang="en-US" spc="-75" dirty="0"/>
              <a:t>와 같이 </a:t>
            </a:r>
            <a:r>
              <a:rPr lang="en-US" altLang="ko-KR" spc="-75" dirty="0"/>
              <a:t>10</a:t>
            </a:r>
            <a:r>
              <a:rPr lang="ko-KR" altLang="en-US" spc="-75" dirty="0"/>
              <a:t>진수처럼 연산한다</a:t>
            </a:r>
            <a:r>
              <a:rPr lang="en-US" altLang="ko-KR" spc="-75" dirty="0"/>
              <a:t>.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계산 결과가 </a:t>
            </a:r>
            <a:r>
              <a:rPr lang="ko-KR" altLang="en-US" sz="1350" spc="-75" dirty="0">
                <a:solidFill>
                  <a:srgbClr val="00B0F0"/>
                </a:solidFill>
              </a:rPr>
              <a:t>➌</a:t>
            </a:r>
            <a:r>
              <a:rPr lang="ko-KR" altLang="en-US" spc="-75" dirty="0"/>
              <a:t>과 같이 </a:t>
            </a:r>
            <a:r>
              <a:rPr lang="en-US" altLang="ko-KR" spc="-75" dirty="0"/>
              <a:t>9</a:t>
            </a:r>
            <a:r>
              <a:rPr lang="ko-KR" altLang="en-US" spc="-75" dirty="0"/>
              <a:t>를 초과하여 </a:t>
            </a:r>
            <a:r>
              <a:rPr lang="en-US" altLang="ko-KR" spc="-75" dirty="0"/>
              <a:t>BCD </a:t>
            </a:r>
            <a:r>
              <a:rPr lang="ko-KR" altLang="en-US" spc="-75" dirty="0"/>
              <a:t>코드를 벗어나는 경우에는 결과에 </a:t>
            </a:r>
            <a:r>
              <a:rPr lang="en-US" altLang="ko-KR" spc="-75" dirty="0"/>
              <a:t>6(0110)</a:t>
            </a:r>
            <a:r>
              <a:rPr lang="ko-KR" altLang="en-US" spc="-75" dirty="0"/>
              <a:t>을 더한다</a:t>
            </a:r>
            <a:r>
              <a:rPr lang="en-US" altLang="ko-KR" spc="-75" dirty="0"/>
              <a:t>.</a:t>
            </a:r>
            <a:endParaRPr lang="ko-KR" altLang="en-US" spc="-75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E6A6EAF-9759-70BB-ABAA-98AC80A60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87131"/>
            <a:ext cx="3198465" cy="8502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3499B6D-9187-E3B3-63B5-05C786D61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501008"/>
            <a:ext cx="7749192" cy="18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475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7" name="내용 개체 틀 4"/>
          <p:cNvSpPr>
            <a:spLocks noGrp="1"/>
          </p:cNvSpPr>
          <p:nvPr>
            <p:ph sz="quarter" idx="10"/>
          </p:nvPr>
        </p:nvSpPr>
        <p:spPr>
          <a:xfrm>
            <a:off x="144510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en-US" altLang="ko-KR" spc="-75" dirty="0">
                <a:solidFill>
                  <a:srgbClr val="2B6278"/>
                </a:solidFill>
              </a:rPr>
              <a:t>3</a:t>
            </a:r>
            <a:r>
              <a:rPr lang="ko-KR" altLang="en-US" spc="-75" dirty="0">
                <a:solidFill>
                  <a:srgbClr val="2B6278"/>
                </a:solidFill>
              </a:rPr>
              <a:t>초과 코드</a:t>
            </a:r>
            <a:r>
              <a:rPr lang="en-US" altLang="ko-KR" sz="1350" b="0" spc="-75" dirty="0">
                <a:solidFill>
                  <a:srgbClr val="2B6278"/>
                </a:solidFill>
              </a:rPr>
              <a:t>(excess-3 code)</a:t>
            </a:r>
            <a:endParaRPr lang="en-US" altLang="ko-KR" sz="1275" b="0" spc="-75" dirty="0"/>
          </a:p>
          <a:p>
            <a:pPr marL="407194" lvl="1" indent="-121444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BCD</a:t>
            </a:r>
            <a:r>
              <a:rPr lang="ko-KR" altLang="en-US" spc="-75" dirty="0"/>
              <a:t>코드</a:t>
            </a:r>
            <a:r>
              <a:rPr lang="en-US" altLang="ko-KR" spc="-75" dirty="0"/>
              <a:t>(8421</a:t>
            </a:r>
            <a:r>
              <a:rPr lang="ko-KR" altLang="en-US" spc="-75" dirty="0"/>
              <a:t>코드</a:t>
            </a:r>
            <a:r>
              <a:rPr lang="en-US" altLang="ko-KR" spc="-75" dirty="0"/>
              <a:t>)</a:t>
            </a:r>
            <a:r>
              <a:rPr lang="ko-KR" altLang="en-US" spc="-75" dirty="0"/>
              <a:t>로 표현된 값에 </a:t>
            </a:r>
            <a:r>
              <a:rPr lang="en-US" altLang="ko-KR" spc="-75" dirty="0"/>
              <a:t>3</a:t>
            </a:r>
            <a:r>
              <a:rPr lang="ko-KR" altLang="en-US" spc="-75" dirty="0"/>
              <a:t>을 더해 준 값으로 나타내는 코드 </a:t>
            </a:r>
          </a:p>
          <a:p>
            <a:pPr marL="407194" lvl="1" indent="-121444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자기 보수의 성질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4259856" y="4258003"/>
            <a:ext cx="215504" cy="416568"/>
            <a:chOff x="6953250" y="1095375"/>
            <a:chExt cx="287338" cy="733425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6953250" y="1095375"/>
              <a:ext cx="287338" cy="0"/>
            </a:xfrm>
            <a:prstGeom prst="line">
              <a:avLst/>
            </a:prstGeom>
            <a:ln w="28575">
              <a:solidFill>
                <a:srgbClr val="00FF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flipH="1">
              <a:off x="7239000" y="1095375"/>
              <a:ext cx="1588" cy="733425"/>
            </a:xfrm>
            <a:prstGeom prst="line">
              <a:avLst/>
            </a:prstGeom>
            <a:ln w="28575"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flipH="1">
              <a:off x="6953250" y="1828800"/>
              <a:ext cx="285750" cy="0"/>
            </a:xfrm>
            <a:prstGeom prst="line">
              <a:avLst/>
            </a:prstGeom>
            <a:ln w="28575">
              <a:solidFill>
                <a:srgbClr val="00FF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/>
          <p:cNvGrpSpPr/>
          <p:nvPr/>
        </p:nvGrpSpPr>
        <p:grpSpPr>
          <a:xfrm>
            <a:off x="4252263" y="3861048"/>
            <a:ext cx="322659" cy="1224138"/>
            <a:chOff x="6953250" y="1095375"/>
            <a:chExt cx="287338" cy="733425"/>
          </a:xfrm>
        </p:grpSpPr>
        <p:cxnSp>
          <p:nvCxnSpPr>
            <p:cNvPr id="17" name="직선 연결선 16"/>
            <p:cNvCxnSpPr/>
            <p:nvPr/>
          </p:nvCxnSpPr>
          <p:spPr>
            <a:xfrm>
              <a:off x="6953250" y="1095375"/>
              <a:ext cx="28733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 flipH="1">
              <a:off x="7239000" y="1095375"/>
              <a:ext cx="1588" cy="733425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H="1">
              <a:off x="6953250" y="1828800"/>
              <a:ext cx="28575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/>
          <p:cNvGrpSpPr/>
          <p:nvPr/>
        </p:nvGrpSpPr>
        <p:grpSpPr>
          <a:xfrm>
            <a:off x="4242817" y="3438334"/>
            <a:ext cx="444103" cy="2078898"/>
            <a:chOff x="6953250" y="1095375"/>
            <a:chExt cx="287338" cy="733425"/>
          </a:xfrm>
        </p:grpSpPr>
        <p:cxnSp>
          <p:nvCxnSpPr>
            <p:cNvPr id="21" name="직선 연결선 20"/>
            <p:cNvCxnSpPr/>
            <p:nvPr/>
          </p:nvCxnSpPr>
          <p:spPr>
            <a:xfrm>
              <a:off x="6953250" y="1095375"/>
              <a:ext cx="287338" cy="0"/>
            </a:xfrm>
            <a:prstGeom prst="line">
              <a:avLst/>
            </a:prstGeom>
            <a:ln w="28575">
              <a:solidFill>
                <a:srgbClr val="00FF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 flipH="1">
              <a:off x="7239000" y="1095375"/>
              <a:ext cx="1588" cy="733425"/>
            </a:xfrm>
            <a:prstGeom prst="line">
              <a:avLst/>
            </a:prstGeom>
            <a:ln w="28575"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 flipH="1">
              <a:off x="6953250" y="1828800"/>
              <a:ext cx="285750" cy="0"/>
            </a:xfrm>
            <a:prstGeom prst="line">
              <a:avLst/>
            </a:prstGeom>
            <a:ln w="28575">
              <a:solidFill>
                <a:srgbClr val="00FF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4233216" y="3049793"/>
            <a:ext cx="547682" cy="2817449"/>
            <a:chOff x="6953250" y="1095375"/>
            <a:chExt cx="287338" cy="733425"/>
          </a:xfrm>
        </p:grpSpPr>
        <p:cxnSp>
          <p:nvCxnSpPr>
            <p:cNvPr id="25" name="직선 연결선 24"/>
            <p:cNvCxnSpPr/>
            <p:nvPr/>
          </p:nvCxnSpPr>
          <p:spPr>
            <a:xfrm>
              <a:off x="6953250" y="1095375"/>
              <a:ext cx="28733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>
            <a:xfrm flipH="1">
              <a:off x="7239000" y="1095375"/>
              <a:ext cx="1588" cy="733425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 flipH="1">
              <a:off x="6953250" y="1828800"/>
              <a:ext cx="28575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/>
        </p:nvGrpSpPr>
        <p:grpSpPr>
          <a:xfrm>
            <a:off x="4247654" y="2685392"/>
            <a:ext cx="686991" cy="3600400"/>
            <a:chOff x="6953250" y="1095375"/>
            <a:chExt cx="287338" cy="733425"/>
          </a:xfrm>
        </p:grpSpPr>
        <p:cxnSp>
          <p:nvCxnSpPr>
            <p:cNvPr id="29" name="직선 연결선 28"/>
            <p:cNvCxnSpPr/>
            <p:nvPr/>
          </p:nvCxnSpPr>
          <p:spPr>
            <a:xfrm>
              <a:off x="6953250" y="1095375"/>
              <a:ext cx="287338" cy="0"/>
            </a:xfrm>
            <a:prstGeom prst="line">
              <a:avLst/>
            </a:prstGeom>
            <a:ln w="28575">
              <a:solidFill>
                <a:srgbClr val="00FF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>
            <a:xfrm flipH="1">
              <a:off x="7239000" y="1095375"/>
              <a:ext cx="1588" cy="733425"/>
            </a:xfrm>
            <a:prstGeom prst="line">
              <a:avLst/>
            </a:prstGeom>
            <a:ln w="28575">
              <a:solidFill>
                <a:srgbClr val="00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 flipH="1">
              <a:off x="6953250" y="1828800"/>
              <a:ext cx="285750" cy="0"/>
            </a:xfrm>
            <a:prstGeom prst="line">
              <a:avLst/>
            </a:prstGeom>
            <a:ln w="28575">
              <a:solidFill>
                <a:srgbClr val="00FF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 Box 70"/>
          <p:cNvSpPr txBox="1">
            <a:spLocks noChangeArrowheads="1"/>
          </p:cNvSpPr>
          <p:nvPr/>
        </p:nvSpPr>
        <p:spPr bwMode="auto">
          <a:xfrm>
            <a:off x="4986046" y="4241745"/>
            <a:ext cx="81009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200" b="1" spc="-75" dirty="0">
                <a:solidFill>
                  <a:srgbClr val="00B0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보수 관계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FA7A96C-C816-481E-E9A3-AACC634D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58" y="1747890"/>
            <a:ext cx="3149881" cy="4777454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34" name="TextBox 33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812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744432-DEAB-58BD-19A8-1E991446F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43" y="2385433"/>
            <a:ext cx="5967769" cy="3676211"/>
          </a:xfrm>
          <a:prstGeom prst="rect">
            <a:avLst/>
          </a:prstGeom>
        </p:spPr>
      </p:pic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144510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 err="1">
                <a:solidFill>
                  <a:srgbClr val="2B6278"/>
                </a:solidFill>
              </a:rPr>
              <a:t>그레이</a:t>
            </a:r>
            <a:r>
              <a:rPr lang="ko-KR" altLang="en-US" spc="-75" dirty="0">
                <a:solidFill>
                  <a:srgbClr val="2B6278"/>
                </a:solidFill>
              </a:rPr>
              <a:t> 코드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가중치가 없는 코드이기 때문에 연산에는 부적당하지만</a:t>
            </a:r>
            <a:r>
              <a:rPr lang="en-US" altLang="ko-KR" spc="-75" dirty="0"/>
              <a:t>, </a:t>
            </a:r>
            <a:r>
              <a:rPr lang="ko-KR" altLang="en-US" spc="-75" dirty="0"/>
              <a:t>아날로그</a:t>
            </a:r>
            <a:r>
              <a:rPr lang="en-US" altLang="ko-KR" spc="-75" dirty="0"/>
              <a:t>-</a:t>
            </a:r>
            <a:r>
              <a:rPr lang="ko-KR" altLang="en-US" spc="-75" dirty="0"/>
              <a:t>디지털 변환기나 입출력 장치 코드로 주로 쓰인다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연속되는 코드들 간에 하나의 비트만 변화하여 새로운 코드가 된다</a:t>
            </a:r>
            <a:r>
              <a:rPr lang="en-US" altLang="ko-KR" spc="-75" dirty="0"/>
              <a:t>. </a:t>
            </a:r>
          </a:p>
          <a:p>
            <a:pPr marL="285750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en-US" altLang="ko-KR" spc="-75" dirty="0"/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131840" y="4559526"/>
            <a:ext cx="504056" cy="1029714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F34B429-2554-AEE9-3669-825DF755E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300" y="4774529"/>
            <a:ext cx="1093146" cy="1007409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3" name="TextBox 12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3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543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altLang="ko-KR" sz="1350" spc="-75" dirty="0"/>
              <a:t>2</a:t>
            </a:r>
            <a:r>
              <a:rPr lang="ko-KR" altLang="en-US" sz="1350" spc="-75" dirty="0"/>
              <a:t>진 코드와 </a:t>
            </a:r>
            <a:r>
              <a:rPr lang="ko-KR" altLang="en-US" sz="1350" spc="-75" dirty="0" err="1"/>
              <a:t>그레이</a:t>
            </a:r>
            <a:r>
              <a:rPr lang="ko-KR" altLang="en-US" sz="1350" spc="-75" dirty="0"/>
              <a:t> 코드의 상호 변환 방법</a:t>
            </a:r>
            <a:endParaRPr lang="en-US" altLang="ko-KR" sz="1350" spc="-75" dirty="0"/>
          </a:p>
          <a:p>
            <a:pPr marL="141684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None/>
            </a:pPr>
            <a:endParaRPr lang="en-US" altLang="ko-KR" sz="1350" spc="-75" dirty="0"/>
          </a:p>
          <a:p>
            <a:pPr marL="33813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v"/>
            </a:pPr>
            <a:endParaRPr lang="ko-KR" altLang="en-US" sz="1350" spc="-7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70"/>
              <p:cNvSpPr txBox="1">
                <a:spLocks noChangeArrowheads="1"/>
              </p:cNvSpPr>
              <p:nvPr/>
            </p:nvSpPr>
            <p:spPr bwMode="auto">
              <a:xfrm>
                <a:off x="7143274" y="1985980"/>
                <a:ext cx="692818" cy="2654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1125" i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ko-KR" sz="1125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1125" i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ko-KR" sz="1125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/>
                          <a:cs typeface="Times New Roman" panose="02020603050405020304" pitchFamily="18" charset="0"/>
                        </a:rPr>
                        <m:t>⨁</m:t>
                      </m:r>
                      <m:r>
                        <m:rPr>
                          <m:nor/>
                        </m:rPr>
                        <a:rPr lang="en-US" altLang="ko-KR" sz="1125" i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ea typeface="Cambria Math"/>
                          <a:cs typeface="Times New Roman" panose="02020603050405020304" pitchFamily="18" charset="0"/>
                        </a:rPr>
                        <m:t>B</m:t>
                      </m:r>
                    </m:oMath>
                  </m:oMathPara>
                </a14:m>
                <a:endParaRPr lang="ko-KR" altLang="en-US" sz="1125" i="1" dirty="0">
                  <a:solidFill>
                    <a:srgbClr val="7030A0"/>
                  </a:solidFill>
                  <a:latin typeface="Times New Roman" panose="02020603050405020304" pitchFamily="18" charset="0"/>
                  <a:ea typeface="휴먼모음T" panose="02030504000101010101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 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3274" y="1985980"/>
                <a:ext cx="692818" cy="265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A05AAC-887C-EE9B-A86C-523DEF6DE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16" y="1846778"/>
            <a:ext cx="5846309" cy="18866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AB8E0E-FEAC-431D-6F1A-CDBD85244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264" y="2251437"/>
            <a:ext cx="1230802" cy="16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22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144510" y="783378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다양한 </a:t>
            </a:r>
            <a:r>
              <a:rPr lang="en-US" altLang="ko-KR" spc="-75" dirty="0">
                <a:solidFill>
                  <a:srgbClr val="2B6278"/>
                </a:solidFill>
              </a:rPr>
              <a:t>2</a:t>
            </a:r>
            <a:r>
              <a:rPr lang="ko-KR" altLang="en-US" spc="-75" dirty="0">
                <a:solidFill>
                  <a:srgbClr val="2B6278"/>
                </a:solidFill>
              </a:rPr>
              <a:t>진 코드</a:t>
            </a:r>
            <a:endParaRPr lang="en-US" altLang="ko-KR" spc="-75" dirty="0">
              <a:solidFill>
                <a:srgbClr val="2B6278"/>
              </a:solidFill>
            </a:endParaRP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가중치 코드</a:t>
            </a:r>
            <a:r>
              <a:rPr lang="ko-KR" altLang="en-US" spc="-75" dirty="0"/>
              <a:t> </a:t>
            </a:r>
            <a:r>
              <a:rPr lang="en-US" altLang="ko-KR" spc="-75" dirty="0"/>
              <a:t>:</a:t>
            </a:r>
            <a:r>
              <a:rPr lang="ko-KR" altLang="en-US" spc="-75" dirty="0"/>
              <a:t> 각 비트의 위치에 따라 값이 정해진 코드</a:t>
            </a:r>
            <a:r>
              <a:rPr lang="en-US" altLang="ko-KR" spc="-75" dirty="0"/>
              <a:t> </a:t>
            </a:r>
          </a:p>
          <a:p>
            <a:pPr marL="285750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r>
              <a:rPr lang="en-US" altLang="ko-KR" spc="-75" dirty="0"/>
              <a:t> </a:t>
            </a: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206365-5FAF-7EEC-CC31-5927F420C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628800"/>
            <a:ext cx="7473882" cy="4979889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4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4436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b="1" spc="-75" dirty="0">
                <a:solidFill>
                  <a:srgbClr val="00B0F0"/>
                </a:solidFill>
              </a:rPr>
              <a:t>비가중치 코드</a:t>
            </a:r>
            <a:r>
              <a:rPr lang="ko-KR" altLang="en-US" spc="-75" dirty="0"/>
              <a:t> </a:t>
            </a:r>
            <a:r>
              <a:rPr lang="en-US" altLang="ko-KR" spc="-75" dirty="0"/>
              <a:t>:</a:t>
            </a:r>
            <a:r>
              <a:rPr lang="ko-KR" altLang="en-US" spc="-75" dirty="0"/>
              <a:t> 각 위치에 해당하는 값이 없는 코드이며</a:t>
            </a:r>
            <a:r>
              <a:rPr lang="en-US" altLang="ko-KR" spc="-75" dirty="0"/>
              <a:t>, </a:t>
            </a:r>
            <a:r>
              <a:rPr lang="ko-KR" altLang="en-US" spc="-75" dirty="0"/>
              <a:t>이러한 코드들은 데이터 변환 같은 특수한 용도로 사용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894570-1AA9-EC47-E253-D7F5B2C9F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844824"/>
            <a:ext cx="5579095" cy="364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708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859774" y="2389240"/>
            <a:ext cx="5576663" cy="822517"/>
          </a:xfrm>
          <a:prstGeom prst="rect">
            <a:avLst/>
          </a:prstGeom>
          <a:noFill/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81" lvl="1" indent="0" algn="just" fontAlgn="ctr">
              <a:spcAft>
                <a:spcPct val="20000"/>
              </a:spcAft>
              <a:buNone/>
            </a:pPr>
            <a:r>
              <a:rPr kumimoji="0" lang="ko-KR" altLang="en-US" sz="1350" spc="-75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각 자리 별로 변환하면 다음과 같다</a:t>
            </a:r>
            <a:r>
              <a:rPr kumimoji="0" lang="en-US" altLang="ko-KR" sz="1350" spc="-75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kumimoji="0" lang="ko-KR" altLang="en-US" sz="1350" spc="-75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여기서 </a:t>
            </a:r>
            <a:r>
              <a:rPr kumimoji="0" lang="en-US" altLang="ko-KR" sz="1350" spc="-75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3, 6, 4</a:t>
            </a:r>
            <a:r>
              <a:rPr kumimoji="0" lang="ko-KR" altLang="en-US" sz="1350" spc="-75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각각 </a:t>
            </a:r>
            <a:r>
              <a:rPr kumimoji="0" lang="en-US" altLang="ko-KR" sz="1350" spc="-75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kumimoji="0" lang="ko-KR" altLang="en-US" sz="1350" spc="-75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가지 경우가 존재한다</a:t>
            </a:r>
            <a:r>
              <a:rPr kumimoji="0" lang="en-US" altLang="ko-KR" sz="1350" spc="-75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085524"/>
              </p:ext>
            </p:extLst>
          </p:nvPr>
        </p:nvGraphicFramePr>
        <p:xfrm>
          <a:off x="1385646" y="1543357"/>
          <a:ext cx="6318702" cy="28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예제 </a:t>
                      </a:r>
                      <a:r>
                        <a:rPr kumimoji="0" lang="en-US" altLang="ko-KR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2-4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진수 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3864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를 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2421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코드로 변환하여라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517841" y="2114205"/>
            <a:ext cx="588623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350" dirty="0">
                <a:solidFill>
                  <a:srgbClr val="00B0F0"/>
                </a:solidFill>
                <a:latin typeface="HY헤드라인M" pitchFamily="18" charset="-127"/>
                <a:ea typeface="HY헤드라인M" pitchFamily="18" charset="-127"/>
              </a:rPr>
              <a:t>풀이 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603080" y="3846239"/>
            <a:ext cx="613063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99097" y="3846240"/>
            <a:ext cx="1056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Example</a:t>
            </a:r>
            <a:endParaRPr lang="ko-KR" altLang="en-US" sz="10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E85037-2013-E53D-E981-4DABE5ACE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13" y="2742788"/>
            <a:ext cx="5336173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10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54643"/>
              </p:ext>
            </p:extLst>
          </p:nvPr>
        </p:nvGraphicFramePr>
        <p:xfrm>
          <a:off x="1385646" y="1538790"/>
          <a:ext cx="6318702" cy="49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예제 </a:t>
                      </a:r>
                      <a:r>
                        <a:rPr kumimoji="0" lang="en-US" altLang="ko-KR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2-5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74-2-1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코드로 표현한 아래의 수를 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진수로 나타내어라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(a) 0110    (b) 1100    (c</a:t>
                      </a:r>
                      <a:r>
                        <a:rPr lang="en-US" altLang="ko-KR" sz="1400" b="0" baseline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ko-KR" sz="1400" b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 1001    (d) 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1011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679121" y="2348881"/>
            <a:ext cx="588623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350" dirty="0">
                <a:solidFill>
                  <a:srgbClr val="00B0F0"/>
                </a:solidFill>
                <a:latin typeface="HY헤드라인M" pitchFamily="18" charset="-127"/>
                <a:ea typeface="HY헤드라인M" pitchFamily="18" charset="-127"/>
              </a:rPr>
              <a:t>풀이 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1603080" y="4365103"/>
            <a:ext cx="613063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9097" y="4365104"/>
            <a:ext cx="1056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Example</a:t>
            </a:r>
            <a:endParaRPr lang="ko-KR" altLang="en-US" sz="10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EA14F3D-5B5F-4D77-18F4-73E14ABB2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413752"/>
            <a:ext cx="4388275" cy="157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25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144510" y="764704"/>
            <a:ext cx="8963994" cy="566995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 err="1">
                <a:solidFill>
                  <a:srgbClr val="2B6278"/>
                </a:solidFill>
              </a:rPr>
              <a:t>영숫자</a:t>
            </a:r>
            <a:r>
              <a:rPr lang="ko-KR" altLang="en-US" spc="-75" dirty="0">
                <a:solidFill>
                  <a:srgbClr val="2B6278"/>
                </a:solidFill>
              </a:rPr>
              <a:t> 코드</a:t>
            </a:r>
          </a:p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표준 </a:t>
            </a:r>
            <a:r>
              <a:rPr lang="en-US" altLang="ko-KR" sz="1500" b="1" spc="-75" dirty="0"/>
              <a:t>BCD </a:t>
            </a:r>
            <a:r>
              <a:rPr lang="ko-KR" altLang="en-US" sz="1500" b="1" spc="-75" dirty="0"/>
              <a:t>코드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6</a:t>
            </a:r>
            <a:r>
              <a:rPr lang="ko-KR" altLang="en-US" spc="-75" dirty="0"/>
              <a:t>비트로 하나의 문자를 표현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최대 </a:t>
            </a:r>
            <a:r>
              <a:rPr lang="en-US" altLang="ko-KR" spc="-75" dirty="0"/>
              <a:t>64</a:t>
            </a:r>
            <a:r>
              <a:rPr lang="ko-KR" altLang="en-US" spc="-75" dirty="0"/>
              <a:t>문자까지 표현 가능한 코드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E3EC09-DE51-2D75-8190-7AC13B746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85" y="2247252"/>
            <a:ext cx="6265863" cy="4617732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5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300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7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ASCII </a:t>
            </a:r>
            <a:r>
              <a:rPr lang="ko-KR" altLang="en-US" sz="1500" b="1" spc="-75" dirty="0"/>
              <a:t>코드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미국 국립 표준 연구소</a:t>
            </a:r>
            <a:r>
              <a:rPr lang="en-US" altLang="ko-KR" spc="-75" dirty="0"/>
              <a:t>(ANSI)</a:t>
            </a:r>
            <a:r>
              <a:rPr lang="ko-KR" altLang="en-US" spc="-75" dirty="0"/>
              <a:t>가 제정한 정보 교환용 미국 표준 코드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128</a:t>
            </a:r>
            <a:r>
              <a:rPr lang="ko-KR" altLang="en-US" spc="-75" dirty="0"/>
              <a:t>가지의 문자를 표현 가능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8E0A26-796A-3EBC-046C-FB9DAFBC5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1844824"/>
            <a:ext cx="6867919" cy="49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67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en-US" altLang="ko-KR" sz="1500" b="1" spc="-75" dirty="0"/>
              <a:t>EBCDIC </a:t>
            </a:r>
            <a:r>
              <a:rPr lang="ko-KR" altLang="en-US" sz="1500" b="1" spc="-75" dirty="0"/>
              <a:t>코드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대형 컴퓨터와 </a:t>
            </a:r>
            <a:r>
              <a:rPr lang="en-US" altLang="ko-KR" spc="-75" dirty="0"/>
              <a:t>IBM </a:t>
            </a:r>
            <a:r>
              <a:rPr lang="ko-KR" altLang="en-US" spc="-75" dirty="0"/>
              <a:t>계열 컴퓨터에서 많이 사용되고 있는 </a:t>
            </a:r>
            <a:r>
              <a:rPr lang="en-US" altLang="ko-KR" spc="-75" dirty="0"/>
              <a:t>8</a:t>
            </a:r>
            <a:r>
              <a:rPr lang="ko-KR" altLang="en-US" spc="-75" dirty="0"/>
              <a:t>비트 코드</a:t>
            </a:r>
            <a:r>
              <a:rPr lang="en-US" altLang="ko-KR" spc="-75" dirty="0"/>
              <a:t>(IBM</a:t>
            </a:r>
            <a:r>
              <a:rPr lang="ko-KR" altLang="en-US" spc="-75" dirty="0"/>
              <a:t>에서 개발</a:t>
            </a:r>
            <a:r>
              <a:rPr lang="en-US" altLang="ko-KR" spc="-75" dirty="0"/>
              <a:t>)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256</a:t>
            </a:r>
            <a:r>
              <a:rPr lang="ko-KR" altLang="en-US" spc="-75" dirty="0"/>
              <a:t>종류의 문자 코드를 표현할 수 있는 </a:t>
            </a:r>
            <a:r>
              <a:rPr lang="ko-KR" altLang="en-US" spc="-75" dirty="0" err="1"/>
              <a:t>영숫자</a:t>
            </a:r>
            <a:r>
              <a:rPr lang="ko-KR" altLang="en-US" spc="-75" dirty="0"/>
              <a:t> 코드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pic>
        <p:nvPicPr>
          <p:cNvPr id="3" name="그림 2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5115BD-69C9-D76C-6BC4-32C42E4B8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15"/>
          <a:stretch>
            <a:fillRect/>
          </a:stretch>
        </p:blipFill>
        <p:spPr>
          <a:xfrm>
            <a:off x="3059832" y="1784655"/>
            <a:ext cx="5441439" cy="5021202"/>
          </a:xfrm>
          <a:prstGeom prst="rect">
            <a:avLst/>
          </a:prstGeom>
        </p:spPr>
      </p:pic>
      <p:pic>
        <p:nvPicPr>
          <p:cNvPr id="4" name="그림 3" descr="텍스트, 번호, 폰트, 스크린샷이(가) 표시된 사진">
            <a:extLst>
              <a:ext uri="{FF2B5EF4-FFF2-40B4-BE49-F238E27FC236}">
                <a16:creationId xmlns:a16="http://schemas.microsoft.com/office/drawing/2014/main" id="{F0D02539-E860-E1D4-1511-F3CFA94E3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54" b="81161"/>
          <a:stretch>
            <a:fillRect/>
          </a:stretch>
        </p:blipFill>
        <p:spPr>
          <a:xfrm>
            <a:off x="467544" y="1928531"/>
            <a:ext cx="2448247" cy="126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987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  </a:t>
            </a:r>
            <a:r>
              <a:rPr lang="ko-KR" altLang="en-US" dirty="0"/>
              <a:t>디지털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q"/>
            </a:pPr>
            <a:r>
              <a:rPr lang="ko-KR" altLang="en-US" sz="1500" b="1" spc="-75" dirty="0"/>
              <a:t>유니코드</a:t>
            </a:r>
            <a:endParaRPr lang="en-US" altLang="ko-KR" sz="1500" b="1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ASCII </a:t>
            </a:r>
            <a:r>
              <a:rPr lang="ko-KR" altLang="en-US" spc="-75" dirty="0"/>
              <a:t>코드의 한계성을 극복하기 위하여 개발된 인터넷 시대의 표준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유니코드 컨소시엄은 </a:t>
            </a:r>
            <a:r>
              <a:rPr lang="en-US" altLang="ko-KR" dirty="0"/>
              <a:t>UTF-32, UTF-16, UTF-8</a:t>
            </a:r>
            <a:r>
              <a:rPr lang="ko-KR" altLang="en-US" dirty="0"/>
              <a:t>의 세 가지 기본 코드를 제안</a:t>
            </a:r>
            <a:endParaRPr lang="en-US" altLang="ko-KR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1991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월에 </a:t>
            </a:r>
            <a:r>
              <a:rPr lang="en-US" altLang="ko-KR" dirty="0"/>
              <a:t>1.0.0 </a:t>
            </a:r>
            <a:r>
              <a:rPr lang="ko-KR" altLang="en-US" dirty="0"/>
              <a:t>버전이 발표된 후 많은 수정 거듭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다양한 운영체제와 최신의 모든 웹 브라우저 및 기타 많은 제품에서 유니코드 지원</a:t>
            </a:r>
            <a:endParaRPr lang="en-US" altLang="ko-KR" spc="-75" dirty="0"/>
          </a:p>
          <a:p>
            <a:pPr marL="546497" lvl="2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</a:pPr>
            <a:r>
              <a:rPr lang="ko-KR" altLang="en-US" dirty="0"/>
              <a:t>기존 문자셋을 사용할 때보다 상당한 비용 절감 효과</a:t>
            </a:r>
            <a:endParaRPr lang="en-US" altLang="ko-KR" dirty="0"/>
          </a:p>
          <a:p>
            <a:pPr marL="546497" lvl="2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</a:pPr>
            <a:r>
              <a:rPr lang="ko-KR" altLang="en-US" dirty="0"/>
              <a:t>리엔지니어링 없이 여러 플랫폼</a:t>
            </a:r>
            <a:r>
              <a:rPr lang="en-US" altLang="ko-KR" dirty="0"/>
              <a:t>, </a:t>
            </a:r>
            <a:r>
              <a:rPr lang="ko-KR" altLang="en-US" dirty="0"/>
              <a:t>언어 및 국가를 지원</a:t>
            </a:r>
            <a:endParaRPr lang="en-US" altLang="ko-KR" dirty="0"/>
          </a:p>
          <a:p>
            <a:pPr marL="546497" lvl="2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</a:pPr>
            <a:r>
              <a:rPr lang="ko-KR" altLang="en-US" dirty="0"/>
              <a:t>서로 다른 여러 시스템으로 데이터를 손상 없이 전송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유니코드는 총 </a:t>
            </a:r>
            <a:r>
              <a:rPr lang="en-US" altLang="ko-KR" dirty="0"/>
              <a:t>1,117,111</a:t>
            </a:r>
            <a:r>
              <a:rPr lang="ko-KR" altLang="en-US" dirty="0"/>
              <a:t>개의 문자 표현</a:t>
            </a:r>
            <a:endParaRPr lang="en-US" altLang="ko-KR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Plane</a:t>
            </a:r>
            <a:r>
              <a:rPr lang="ko-KR" altLang="en-US" dirty="0"/>
              <a:t>이라 불리는 </a:t>
            </a:r>
            <a:r>
              <a:rPr lang="en-US" altLang="ko-KR" dirty="0"/>
              <a:t>17</a:t>
            </a:r>
            <a:r>
              <a:rPr lang="ko-KR" altLang="en-US" dirty="0"/>
              <a:t>개의 영역이 각각 </a:t>
            </a:r>
            <a:r>
              <a:rPr lang="en-US" altLang="ko-KR" dirty="0"/>
              <a:t>65,536</a:t>
            </a:r>
            <a:r>
              <a:rPr lang="ko-KR" altLang="en-US" dirty="0"/>
              <a:t>개의 문자 표현</a:t>
            </a:r>
            <a:endParaRPr lang="en-US" altLang="ko-KR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미국</a:t>
            </a:r>
            <a:r>
              <a:rPr lang="en-US" altLang="ko-KR" spc="-75" dirty="0"/>
              <a:t>, </a:t>
            </a:r>
            <a:r>
              <a:rPr lang="ko-KR" altLang="en-US" spc="-75" dirty="0"/>
              <a:t>유럽</a:t>
            </a:r>
            <a:r>
              <a:rPr lang="en-US" altLang="ko-KR" spc="-75" dirty="0"/>
              <a:t>, </a:t>
            </a:r>
            <a:r>
              <a:rPr lang="ko-KR" altLang="en-US" spc="-75" dirty="0"/>
              <a:t>동아시아</a:t>
            </a:r>
            <a:r>
              <a:rPr lang="en-US" altLang="ko-KR" spc="-75" dirty="0"/>
              <a:t>, </a:t>
            </a:r>
            <a:r>
              <a:rPr lang="ko-KR" altLang="en-US" spc="-75" dirty="0"/>
              <a:t>아프리카</a:t>
            </a:r>
            <a:r>
              <a:rPr lang="en-US" altLang="ko-KR" spc="-75" dirty="0"/>
              <a:t>, </a:t>
            </a:r>
            <a:r>
              <a:rPr lang="ko-KR" altLang="en-US" spc="-75" dirty="0"/>
              <a:t>아시아 태평양 지역 등의 주요 언어들에 적용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유니코드는 유럽</a:t>
            </a:r>
            <a:r>
              <a:rPr lang="en-US" altLang="ko-KR" spc="-75" dirty="0"/>
              <a:t>, </a:t>
            </a:r>
            <a:r>
              <a:rPr lang="ko-KR" altLang="en-US" spc="-75" dirty="0"/>
              <a:t>중동</a:t>
            </a:r>
            <a:r>
              <a:rPr lang="en-US" altLang="ko-KR" spc="-75" dirty="0"/>
              <a:t>, </a:t>
            </a:r>
            <a:r>
              <a:rPr lang="ko-KR" altLang="en-US" spc="-75" dirty="0"/>
              <a:t>아시아 등 거의 대부분의 문자를 포함하고 있으며</a:t>
            </a:r>
            <a:r>
              <a:rPr lang="en-US" altLang="ko-KR" spc="-75" dirty="0"/>
              <a:t>, 10</a:t>
            </a:r>
            <a:r>
              <a:rPr lang="ko-KR" altLang="en-US" spc="-75" dirty="0"/>
              <a:t>만개 이상의 문자로 구성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한중일 통합 한자</a:t>
            </a:r>
            <a:r>
              <a:rPr lang="en-US" altLang="ko-KR" dirty="0"/>
              <a:t>(CJK Unified Ideographs) 97,680</a:t>
            </a:r>
            <a:r>
              <a:rPr lang="ko-KR" altLang="en-US" dirty="0"/>
              <a:t>개</a:t>
            </a:r>
            <a:endParaRPr lang="en-US" altLang="ko-KR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한글 </a:t>
            </a:r>
            <a:r>
              <a:rPr lang="en-US" altLang="ko-KR" dirty="0"/>
              <a:t>11,172</a:t>
            </a:r>
            <a:r>
              <a:rPr lang="ko-KR" altLang="en-US" dirty="0"/>
              <a:t>개 문자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구두표시</a:t>
            </a:r>
            <a:r>
              <a:rPr lang="en-US" altLang="ko-KR" spc="-75" dirty="0"/>
              <a:t>, </a:t>
            </a:r>
            <a:r>
              <a:rPr lang="ko-KR" altLang="en-US" spc="-75" dirty="0"/>
              <a:t>수학기호</a:t>
            </a:r>
            <a:r>
              <a:rPr lang="en-US" altLang="ko-KR" spc="-75" dirty="0"/>
              <a:t>, </a:t>
            </a:r>
            <a:r>
              <a:rPr lang="ko-KR" altLang="en-US" spc="-75" dirty="0"/>
              <a:t>전문기호</a:t>
            </a:r>
            <a:r>
              <a:rPr lang="en-US" altLang="ko-KR" spc="-75" dirty="0"/>
              <a:t>, </a:t>
            </a:r>
            <a:r>
              <a:rPr lang="ko-KR" altLang="en-US" spc="-75" dirty="0"/>
              <a:t>기하학적 모양</a:t>
            </a:r>
            <a:r>
              <a:rPr lang="en-US" altLang="ko-KR" spc="-75" dirty="0"/>
              <a:t>, </a:t>
            </a:r>
            <a:r>
              <a:rPr lang="ko-KR" altLang="en-US" spc="-75" dirty="0" err="1"/>
              <a:t>이모지</a:t>
            </a:r>
            <a:r>
              <a:rPr lang="ko-KR" altLang="en-US" spc="-75" dirty="0"/>
              <a:t> 기호 등을 포함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12</a:t>
            </a:r>
            <a:r>
              <a:rPr lang="ko-KR" altLang="en-US" dirty="0"/>
              <a:t>일 현재 최신 버전은 </a:t>
            </a:r>
            <a:r>
              <a:rPr lang="en-US" altLang="ko-KR" dirty="0"/>
              <a:t>16.0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지속적으로 </a:t>
            </a:r>
            <a:r>
              <a:rPr lang="ko-KR" altLang="en-US" spc="-75" dirty="0"/>
              <a:t>산업계의 요구나 새로운 문자들 추가</a:t>
            </a:r>
            <a:endParaRPr lang="en-US" altLang="ko-KR" spc="-75" dirty="0"/>
          </a:p>
        </p:txBody>
      </p:sp>
    </p:spTree>
    <p:extLst>
      <p:ext uri="{BB962C8B-B14F-4D97-AF65-F5344CB8AC3E}">
        <p14:creationId xmlns:p14="http://schemas.microsoft.com/office/powerpoint/2010/main" val="27739646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107504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패리티 비트</a:t>
            </a:r>
          </a:p>
          <a:p>
            <a:pPr marL="407194" lvl="1" indent="-121444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짝수패리티</a:t>
            </a:r>
            <a:r>
              <a:rPr lang="en-US" altLang="ko-KR" spc="-75" dirty="0"/>
              <a:t>(even parity) : </a:t>
            </a:r>
            <a:r>
              <a:rPr lang="ko-KR" altLang="en-US" spc="-75" dirty="0"/>
              <a:t>데이터에서 </a:t>
            </a:r>
            <a:r>
              <a:rPr lang="en-US" altLang="ko-KR" spc="-75" dirty="0"/>
              <a:t>1</a:t>
            </a:r>
            <a:r>
              <a:rPr lang="ko-KR" altLang="en-US" spc="-75" dirty="0"/>
              <a:t>의 개수를 짝수 개로 맞춤</a:t>
            </a:r>
          </a:p>
          <a:p>
            <a:pPr marL="407194" lvl="1" indent="-121444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홀수패리티</a:t>
            </a:r>
            <a:r>
              <a:rPr lang="en-US" altLang="ko-KR" spc="-75" dirty="0"/>
              <a:t>(odd parity) : 1</a:t>
            </a:r>
            <a:r>
              <a:rPr lang="ko-KR" altLang="en-US" spc="-75" dirty="0"/>
              <a:t>의 개수를 홀수 개로 맞춤</a:t>
            </a:r>
          </a:p>
          <a:p>
            <a:pPr marL="407194" lvl="1" indent="-121444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패리티 비트는 데이터 전송과정에서 에러 검사를 위한 추가비트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패리티는 단지 에러 검출만 가능하며</a:t>
            </a:r>
            <a:r>
              <a:rPr lang="en-US" altLang="ko-KR" spc="-75" dirty="0"/>
              <a:t>, </a:t>
            </a:r>
            <a:r>
              <a:rPr lang="ko-KR" altLang="en-US" spc="-75" dirty="0"/>
              <a:t>여러 비트에 에러가 발생할 경우에는 검출이 안될 수도 있음</a:t>
            </a:r>
          </a:p>
          <a:p>
            <a:pPr marL="285750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</p:txBody>
      </p:sp>
      <p:grpSp>
        <p:nvGrpSpPr>
          <p:cNvPr id="7" name="그룹 6"/>
          <p:cNvGrpSpPr/>
          <p:nvPr/>
        </p:nvGrpSpPr>
        <p:grpSpPr>
          <a:xfrm>
            <a:off x="116505" y="773705"/>
            <a:ext cx="397190" cy="346249"/>
            <a:chOff x="1454125" y="2542102"/>
            <a:chExt cx="402248" cy="461665"/>
          </a:xfrm>
        </p:grpSpPr>
        <p:sp>
          <p:nvSpPr>
            <p:cNvPr id="8" name="TextBox 7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54125" y="2542102"/>
              <a:ext cx="402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119A3B-8DBF-FEA8-2BAD-D28AAAE75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708920"/>
            <a:ext cx="3619529" cy="290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598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71713" y="2636385"/>
            <a:ext cx="5503664" cy="914401"/>
          </a:xfrm>
          <a:prstGeom prst="rect">
            <a:avLst/>
          </a:prstGeom>
          <a:noFill/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731" indent="-135731" fontAlgn="auto">
              <a:lnSpc>
                <a:spcPts val="2625"/>
              </a:lnSpc>
              <a:spcAft>
                <a:spcPts val="0"/>
              </a:spcAft>
              <a:buClr>
                <a:srgbClr val="00B0F0"/>
              </a:buClr>
            </a:pPr>
            <a:r>
              <a:rPr kumimoji="0" lang="ko-KR" altLang="en-US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짝수 패리티가 필요하므로 </a:t>
            </a:r>
            <a:r>
              <a:rPr kumimoji="0" lang="en-US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1</a:t>
            </a:r>
            <a:r>
              <a:rPr kumimoji="0" lang="ko-KR" altLang="en-US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이 홀수 개인 그룹은 에러 발생</a:t>
            </a:r>
            <a:endParaRPr kumimoji="0" lang="en-US" altLang="ko-KR" sz="1350" dirty="0">
              <a:latin typeface="Times New Roman" panose="02020603050405020304" pitchFamily="18" charset="0"/>
              <a:ea typeface="휴먼모음T" panose="02030504000101010101" pitchFamily="18" charset="-127"/>
              <a:cs typeface="Times New Roman" panose="02020603050405020304" pitchFamily="18" charset="0"/>
            </a:endParaRPr>
          </a:p>
          <a:p>
            <a:pPr marL="135731" indent="-135731" fontAlgn="auto">
              <a:lnSpc>
                <a:spcPts val="2625"/>
              </a:lnSpc>
              <a:spcAft>
                <a:spcPts val="0"/>
              </a:spcAft>
              <a:buClr>
                <a:srgbClr val="00B0F0"/>
              </a:buClr>
            </a:pPr>
            <a:r>
              <a:rPr kumimoji="0" lang="en-US" altLang="ko-KR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10110, 11010, 1100010101011</a:t>
            </a:r>
            <a:r>
              <a:rPr kumimoji="0" lang="ko-KR" altLang="en-US" sz="1350" dirty="0">
                <a:latin typeface="Times New Roman" panose="02020603050405020304" pitchFamily="18" charset="0"/>
                <a:ea typeface="휴먼모음T" panose="02030504000101010101" pitchFamily="18" charset="-127"/>
                <a:cs typeface="Times New Roman" panose="02020603050405020304" pitchFamily="18" charset="0"/>
              </a:rPr>
              <a:t>에 비트 에러가 발생하였음</a:t>
            </a:r>
            <a:endParaRPr kumimoji="0" lang="ko-KR" altLang="ko-KR" sz="1350" dirty="0">
              <a:latin typeface="Times New Roman" panose="02020603050405020304" pitchFamily="18" charset="0"/>
              <a:ea typeface="휴먼모음T" panose="02030504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05173"/>
              </p:ext>
            </p:extLst>
          </p:nvPr>
        </p:nvGraphicFramePr>
        <p:xfrm>
          <a:off x="1385646" y="1592796"/>
          <a:ext cx="6318702" cy="49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예제 </a:t>
                      </a:r>
                      <a:r>
                        <a:rPr kumimoji="0" lang="en-US" altLang="ko-KR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2-6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짝수 패리티 시스템에서 코드 그룹 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10110, 11010, 110011, 10101110100, 1100010101011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을 수신하였다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에러가 발생한 그룹을 찾아보아라</a:t>
                      </a:r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53804" y="2402887"/>
            <a:ext cx="588623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350" dirty="0">
                <a:solidFill>
                  <a:srgbClr val="00B0F0"/>
                </a:solidFill>
                <a:latin typeface="HY헤드라인M" pitchFamily="18" charset="-127"/>
                <a:ea typeface="HY헤드라인M" pitchFamily="18" charset="-127"/>
              </a:rPr>
              <a:t>풀이 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1603080" y="3568714"/>
            <a:ext cx="613063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9097" y="3568715"/>
            <a:ext cx="1056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Example</a:t>
            </a:r>
            <a:endParaRPr lang="ko-KR" altLang="en-US" sz="10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1149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144510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 err="1">
                <a:solidFill>
                  <a:srgbClr val="2B6278"/>
                </a:solidFill>
              </a:rPr>
              <a:t>해밍</a:t>
            </a:r>
            <a:r>
              <a:rPr lang="ko-KR" altLang="en-US" spc="-75" dirty="0">
                <a:solidFill>
                  <a:srgbClr val="2B6278"/>
                </a:solidFill>
              </a:rPr>
              <a:t> 코드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에러를 정정할 수 있는 코드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추가적으로 많은 비트가 필요하므로 많은 양의 데이터 전달이 필요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데이터 비트와 패리티 비트와의 관계</a:t>
            </a: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예를 들어 </a:t>
            </a:r>
            <a:r>
              <a:rPr lang="en-US" altLang="ko-KR" i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ko-KR" spc="-75" dirty="0"/>
              <a:t> = 8</a:t>
            </a:r>
            <a:r>
              <a:rPr lang="ko-KR" altLang="en-US" spc="-75" dirty="0"/>
              <a:t>이면 </a:t>
            </a:r>
            <a:r>
              <a:rPr lang="en-US" altLang="ko-KR" spc="-75" dirty="0"/>
              <a:t>2</a:t>
            </a:r>
            <a:r>
              <a:rPr lang="en-US" altLang="ko-KR" i="1" spc="-75" baseline="4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pc="-75" dirty="0"/>
              <a:t>≥8+</a:t>
            </a:r>
            <a:r>
              <a:rPr lang="en-US" altLang="ko-KR" i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pc="-75" dirty="0"/>
              <a:t>+1</a:t>
            </a:r>
            <a:r>
              <a:rPr lang="ko-KR" altLang="en-US" spc="-75" dirty="0"/>
              <a:t>을 만족하는 </a:t>
            </a:r>
            <a:r>
              <a:rPr lang="en-US" altLang="ko-KR" i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ko-KR" altLang="en-US" spc="-75" dirty="0"/>
              <a:t>를 계산하면 </a:t>
            </a:r>
            <a:r>
              <a:rPr lang="en-US" altLang="ko-KR" spc="-75" dirty="0"/>
              <a:t>4</a:t>
            </a:r>
            <a:r>
              <a:rPr lang="ko-KR" altLang="en-US" spc="-75" dirty="0"/>
              <a:t>가 된다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 err="1"/>
              <a:t>해밍코드에서는</a:t>
            </a:r>
            <a:r>
              <a:rPr lang="ko-KR" altLang="en-US" spc="-75" dirty="0"/>
              <a:t> 짝수 패리티를 사용 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ko-KR" altLang="en-US" spc="-75" dirty="0"/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824801"/>
              </p:ext>
            </p:extLst>
          </p:nvPr>
        </p:nvGraphicFramePr>
        <p:xfrm>
          <a:off x="1835696" y="2276872"/>
          <a:ext cx="1293876" cy="375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228600" progId="Equation.DSMT4">
                  <p:embed/>
                </p:oleObj>
              </mc:Choice>
              <mc:Fallback>
                <p:oleObj name="Equation" r:id="rId2" imgW="787320" imgH="228600" progId="Equation.DSMT4">
                  <p:embed/>
                  <p:pic>
                    <p:nvPicPr>
                      <p:cNvPr id="0" name="개체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276872"/>
                        <a:ext cx="1293876" cy="37564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A36E9D-A6FF-F05B-4B80-C4D2BF9FD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766368"/>
            <a:ext cx="6024451" cy="2348241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97712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5D3548-6C0D-8029-602B-7C088B34C22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0003" y="747568"/>
            <a:ext cx="8963994" cy="5669958"/>
          </a:xfrm>
        </p:spPr>
        <p:txBody>
          <a:bodyPr/>
          <a:lstStyle/>
          <a:p>
            <a:pPr>
              <a:buSzPct val="100000"/>
              <a:buFont typeface="Wingdings" panose="05000000000000000000" pitchFamily="2" charset="2"/>
              <a:buChar char=""/>
            </a:pPr>
            <a:r>
              <a:rPr lang="ko-KR" altLang="en-US" spc="-75" dirty="0"/>
              <a:t> </a:t>
            </a:r>
            <a:r>
              <a:rPr lang="en-US" altLang="ko-KR" spc="-75" dirty="0"/>
              <a:t>8</a:t>
            </a:r>
            <a:r>
              <a:rPr lang="ko-KR" altLang="en-US" spc="-75" dirty="0"/>
              <a:t>비트 데이터의 에러 정정 코드</a:t>
            </a:r>
            <a:endParaRPr lang="en-US" altLang="ko-KR" spc="-75" dirty="0"/>
          </a:p>
          <a:p>
            <a:pPr>
              <a:buSzPct val="100000"/>
              <a:buFont typeface="Wingdings" panose="05000000000000000000" pitchFamily="2" charset="2"/>
              <a:buChar char=""/>
            </a:pPr>
            <a:endParaRPr lang="en-US" altLang="ko-KR" spc="-75" dirty="0"/>
          </a:p>
          <a:p>
            <a:pPr>
              <a:buSzPct val="100000"/>
              <a:buFont typeface="Wingdings" panose="05000000000000000000" pitchFamily="2" charset="2"/>
              <a:buChar char=""/>
            </a:pPr>
            <a:endParaRPr lang="en-US" altLang="ko-KR" spc="-75" dirty="0"/>
          </a:p>
          <a:p>
            <a:pPr>
              <a:buSzPct val="100000"/>
              <a:buFont typeface="Wingdings" panose="05000000000000000000" pitchFamily="2" charset="2"/>
              <a:buChar char=""/>
            </a:pPr>
            <a:endParaRPr lang="en-US" altLang="ko-KR" spc="-75" dirty="0"/>
          </a:p>
          <a:p>
            <a:pPr>
              <a:buSzPct val="100000"/>
              <a:buFont typeface="Wingdings" panose="05000000000000000000" pitchFamily="2" charset="2"/>
              <a:buChar char=""/>
            </a:pPr>
            <a:endParaRPr lang="en-US" altLang="ko-KR" spc="-75" dirty="0"/>
          </a:p>
          <a:p>
            <a:pPr>
              <a:buSzPct val="100000"/>
              <a:buFont typeface="Wingdings" panose="05000000000000000000" pitchFamily="2" charset="2"/>
              <a:buChar char=""/>
            </a:pPr>
            <a:endParaRPr lang="en-US" altLang="ko-KR" spc="-75" dirty="0"/>
          </a:p>
          <a:p>
            <a:pPr>
              <a:buSzPct val="100000"/>
              <a:buFont typeface="Wingdings" panose="05000000000000000000" pitchFamily="2" charset="2"/>
              <a:buChar char=""/>
            </a:pPr>
            <a:r>
              <a:rPr lang="en-US" altLang="ko-KR" dirty="0">
                <a:solidFill>
                  <a:srgbClr val="3333FF"/>
                </a:solidFill>
              </a:rPr>
              <a:t> for example</a:t>
            </a:r>
          </a:p>
          <a:p>
            <a:pPr>
              <a:buSzPct val="100000"/>
              <a:buFont typeface="Wingdings" panose="05000000000000000000" pitchFamily="2" charset="2"/>
              <a:buChar char=""/>
            </a:pPr>
            <a:endParaRPr lang="ko-KR" altLang="en-US" spc="-75" dirty="0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833185"/>
              </p:ext>
            </p:extLst>
          </p:nvPr>
        </p:nvGraphicFramePr>
        <p:xfrm>
          <a:off x="683568" y="1221185"/>
          <a:ext cx="2610469" cy="1244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914400" progId="Equation.3">
                  <p:embed/>
                </p:oleObj>
              </mc:Choice>
              <mc:Fallback>
                <p:oleObj name="Equation" r:id="rId2" imgW="19173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221185"/>
                        <a:ext cx="2610469" cy="12447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463836"/>
              </p:ext>
            </p:extLst>
          </p:nvPr>
        </p:nvGraphicFramePr>
        <p:xfrm>
          <a:off x="711971" y="3582547"/>
          <a:ext cx="4998244" cy="563880"/>
        </p:xfrm>
        <a:graphic>
          <a:graphicData uri="http://schemas.openxmlformats.org/drawingml/2006/table">
            <a:tbl>
              <a:tblPr/>
              <a:tblGrid>
                <a:gridCol w="417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9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1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71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9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9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59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P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1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P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2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3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P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4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5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6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7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P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8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9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10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11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12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  <a:sym typeface="Wingdings 2" pitchFamily="18" charset="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  <a:sym typeface="Wingdings 2" pitchFamily="18" charset="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  <a:sym typeface="Wingdings 2" pitchFamily="18" charset="2"/>
                        </a:rPr>
                        <a:t>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  <a:sym typeface="Wingdings 2" pitchFamily="18" charset="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  <a:sym typeface="Wingdings 2" pitchFamily="18" charset="2"/>
                        </a:rPr>
                        <a:t>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  <a:sym typeface="Wingdings 2" pitchFamily="18" charset="2"/>
                        </a:rPr>
                        <a:t>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굴림" pitchFamily="50" charset="-127"/>
                        <a:cs typeface="Times New Roman" pitchFamily="18" charset="0"/>
                        <a:sym typeface="Wingdings 2" pitchFamily="18" charset="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  <a:sym typeface="Wingdings 2" pitchFamily="18" charset="2"/>
                        </a:rPr>
                        <a:t>1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  <a:sym typeface="Wingdings 2" pitchFamily="18" charset="2"/>
                        </a:rPr>
                        <a:t>1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굴림" pitchFamily="50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Object 1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286421"/>
              </p:ext>
            </p:extLst>
          </p:nvPr>
        </p:nvGraphicFramePr>
        <p:xfrm>
          <a:off x="711971" y="4293096"/>
          <a:ext cx="4622635" cy="1282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960" imgH="774360" progId="Equation.3">
                  <p:embed/>
                </p:oleObj>
              </mc:Choice>
              <mc:Fallback>
                <p:oleObj name="Equation" r:id="rId4" imgW="2793960" imgH="77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971" y="4293096"/>
                        <a:ext cx="4622635" cy="1282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67867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9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27434" indent="-28575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2B6278"/>
              </a:buClr>
              <a:buSzPct val="100000"/>
              <a:buFont typeface="Wingdings" panose="05000000000000000000" pitchFamily="2" charset="2"/>
              <a:buChar char=""/>
            </a:pPr>
            <a:r>
              <a:rPr lang="ko-KR" altLang="en-US" sz="1600" spc="-75" dirty="0" err="1"/>
              <a:t>해밍</a:t>
            </a:r>
            <a:r>
              <a:rPr lang="ko-KR" altLang="en-US" sz="1600" spc="-75" dirty="0"/>
              <a:t> 코드에서 패리티 비트 생성 과정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AB0F35-DE8C-F44B-6E70-28D319143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700808"/>
            <a:ext cx="6056840" cy="162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762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F639F7A-FC4D-C6A0-21B2-C7D0D53D56F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501" y="764704"/>
            <a:ext cx="8963994" cy="5669958"/>
          </a:xfrm>
        </p:spPr>
        <p:txBody>
          <a:bodyPr/>
          <a:lstStyle/>
          <a:p>
            <a:pPr marL="134540" indent="-219075">
              <a:spcAft>
                <a:spcPct val="40000"/>
              </a:spcAft>
              <a:buClr>
                <a:srgbClr val="2B6278"/>
              </a:buClr>
              <a:buSzPct val="110000"/>
              <a:buFont typeface="Wingdings" pitchFamily="2" charset="2"/>
              <a:buChar char="q"/>
            </a:pPr>
            <a:r>
              <a:rPr lang="ko-KR" altLang="en-US" sz="1600" b="1" spc="-75" dirty="0"/>
              <a:t> </a:t>
            </a:r>
            <a:r>
              <a:rPr lang="ko-KR" altLang="en-US" sz="1600" b="1" spc="-75" dirty="0" err="1"/>
              <a:t>해밍</a:t>
            </a:r>
            <a:r>
              <a:rPr lang="ko-KR" altLang="en-US" sz="1600" b="1" spc="-75" dirty="0"/>
              <a:t> 코드에서 패리티 비트 검사 과정</a:t>
            </a:r>
          </a:p>
          <a:p>
            <a:pPr marL="582216" lvl="1" indent="-146447" algn="just">
              <a:spcAft>
                <a:spcPct val="40000"/>
              </a:spcAft>
            </a:pPr>
            <a:r>
              <a:rPr lang="ko-KR" altLang="en-US" sz="1675" dirty="0">
                <a:solidFill>
                  <a:srgbClr val="66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전송된 데이터 :  010111011110</a:t>
            </a:r>
            <a:r>
              <a:rPr lang="ko-KR" altLang="en-US" sz="16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82216" lvl="1" indent="-146447">
              <a:spcAft>
                <a:spcPct val="40000"/>
              </a:spcAft>
            </a:pPr>
            <a:endParaRPr lang="ko-KR" altLang="en-US" sz="1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lvl="1" indent="-219075" algn="just" fontAlgn="ctr">
              <a:spcAft>
                <a:spcPct val="20000"/>
              </a:spcAft>
              <a:buFont typeface="굴림" pitchFamily="50" charset="-127"/>
              <a:buChar char="⊙"/>
            </a:pPr>
            <a:endParaRPr lang="ko-KR" altLang="en-US" sz="13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519" lvl="2" indent="-146447" algn="just" fontAlgn="ctr">
              <a:spcAft>
                <a:spcPct val="20000"/>
              </a:spcAft>
            </a:pPr>
            <a:r>
              <a:rPr lang="ko-KR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</a:t>
            </a:r>
            <a:r>
              <a:rPr lang="en-US" altLang="ko-K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패리티들을 포함하여 검사 </a:t>
            </a:r>
          </a:p>
          <a:p>
            <a:pPr marL="361950" lvl="1" indent="-219075" algn="just" fontAlgn="ctr">
              <a:spcAft>
                <a:spcPct val="20000"/>
              </a:spcAft>
              <a:buFont typeface="Wingdings" pitchFamily="2" charset="2"/>
              <a:buChar char="Ø"/>
            </a:pPr>
            <a:endParaRPr lang="ko-KR" altLang="en-US" sz="13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lvl="1" indent="-219075" algn="just" fontAlgn="ctr">
              <a:spcAft>
                <a:spcPct val="20000"/>
              </a:spcAft>
            </a:pPr>
            <a:endParaRPr lang="ko-KR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lvl="1" indent="-219075" algn="just" fontAlgn="ctr">
              <a:spcAft>
                <a:spcPct val="20000"/>
              </a:spcAft>
            </a:pPr>
            <a:endParaRPr lang="ko-KR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lvl="1" indent="-219075" algn="just" fontAlgn="ctr">
              <a:spcAft>
                <a:spcPct val="20000"/>
              </a:spcAft>
            </a:pPr>
            <a:endParaRPr lang="ko-KR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1" indent="-128588" algn="just" fontAlgn="ctr">
              <a:spcAft>
                <a:spcPct val="20000"/>
              </a:spcAft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검사된 패리티를 </a:t>
            </a:r>
            <a:r>
              <a:rPr lang="en-US" altLang="ko-KR" sz="1275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1275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275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1275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275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1275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275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1275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순서대로 정렬</a:t>
            </a:r>
          </a:p>
          <a:p>
            <a:pPr marL="271463" lvl="1" indent="-128588" algn="just" fontAlgn="ctr">
              <a:spcAft>
                <a:spcPct val="20000"/>
              </a:spcAft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모든 패리티가 0이면 에러 없음</a:t>
            </a:r>
            <a:endParaRPr lang="en-US" altLang="ko-KR" sz="12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1" indent="-128588" algn="just" fontAlgn="ctr">
              <a:spcAft>
                <a:spcPct val="20000"/>
              </a:spcAft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하나라도 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있으면 에러 발생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결과가 0101이므로 에러 있음</a:t>
            </a:r>
            <a:endParaRPr lang="en-US" altLang="ko-KR" sz="127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3" lvl="1" indent="-128588" algn="just" fontAlgn="ctr">
              <a:spcAft>
                <a:spcPct val="20000"/>
              </a:spcAft>
              <a:buClr>
                <a:srgbClr val="0099CC"/>
              </a:buClr>
              <a:buFont typeface="Arial" panose="020B0604020202020204" pitchFamily="34" charset="0"/>
              <a:buChar char="•"/>
            </a:pP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0101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10진수로 바꾸면 5이며, 수신된 데이터에서 앞에서 5번째 비트  0101</a:t>
            </a:r>
            <a:r>
              <a:rPr lang="ko-KR" altLang="en-US" sz="1275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110에 에러가 발생한 것이므로 0101</a:t>
            </a:r>
            <a:r>
              <a:rPr lang="en-US" altLang="ko-KR" sz="1275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1011110</a:t>
            </a:r>
            <a:r>
              <a:rPr lang="ko-KR" altLang="en-US" sz="12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바꾸어 주면 에러가 정정된다. </a:t>
            </a:r>
          </a:p>
          <a:p>
            <a:endParaRPr lang="ko-KR" altLang="en-US" dirty="0"/>
          </a:p>
        </p:txBody>
      </p:sp>
      <p:graphicFrame>
        <p:nvGraphicFramePr>
          <p:cNvPr id="12" name="Group 2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89928"/>
              </p:ext>
            </p:extLst>
          </p:nvPr>
        </p:nvGraphicFramePr>
        <p:xfrm>
          <a:off x="1187624" y="1599720"/>
          <a:ext cx="4958955" cy="563880"/>
        </p:xfrm>
        <a:graphic>
          <a:graphicData uri="http://schemas.openxmlformats.org/drawingml/2006/table">
            <a:tbl>
              <a:tblPr/>
              <a:tblGrid>
                <a:gridCol w="413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1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19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31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1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31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P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1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P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2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3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P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4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5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6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7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P</a:t>
                      </a:r>
                      <a:r>
                        <a:rPr kumimoji="1" lang="en-US" altLang="ko-KR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8</a:t>
                      </a:r>
                      <a:endParaRPr kumimoji="1" lang="ko-KR" altLang="en-US" sz="14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9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10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11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D</a:t>
                      </a:r>
                      <a:r>
                        <a:rPr kumimoji="1" lang="en-US" altLang="ko-KR" sz="1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</a:rPr>
                        <a:t>12</a:t>
                      </a:r>
                      <a:endParaRPr kumimoji="1" lang="ko-KR" altLang="en-US" sz="1400" b="0" i="0" u="none" strike="noStrike" cap="none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휴먼명조" charset="-127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휴먼명조" charset="-127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Object 2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748911"/>
              </p:ext>
            </p:extLst>
          </p:nvPr>
        </p:nvGraphicFramePr>
        <p:xfrm>
          <a:off x="1115616" y="2636912"/>
          <a:ext cx="5032212" cy="1194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3760" imgH="774360" progId="Equation.3">
                  <p:embed/>
                </p:oleObj>
              </mc:Choice>
              <mc:Fallback>
                <p:oleObj name="Equation" r:id="rId2" imgW="3263760" imgH="77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636912"/>
                        <a:ext cx="5032212" cy="11943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6468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E58F76-2F19-2A7A-6169-8E15C28D9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610" y="1700808"/>
            <a:ext cx="6000159" cy="225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200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96350"/>
              </p:ext>
            </p:extLst>
          </p:nvPr>
        </p:nvGraphicFramePr>
        <p:xfrm>
          <a:off x="1385646" y="1538790"/>
          <a:ext cx="6318702" cy="49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예제 </a:t>
                      </a:r>
                      <a:r>
                        <a:rPr kumimoji="0" lang="en-US" altLang="ko-KR" sz="1400" dirty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2-7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다음 </a:t>
                      </a:r>
                      <a:r>
                        <a:rPr lang="ko-KR" altLang="en-US" sz="1400" b="0" i="0" dirty="0" err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해밍</a:t>
                      </a:r>
                      <a:r>
                        <a:rPr lang="ko-KR" altLang="en-US" sz="1400" b="0" i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 코드 중 에러가 있는지 검사하여라</a:t>
                      </a:r>
                      <a:r>
                        <a:rPr lang="en-US" altLang="ko-KR" sz="1400" b="0" i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1 1 1 1 0 1 0 0 1 0 1 0</a:t>
                      </a:r>
                    </a:p>
                  </a:txBody>
                  <a:tcPr marL="68580" marR="68580" marT="34290" marB="34290" anchor="ctr"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655677" y="2282426"/>
            <a:ext cx="588623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350" dirty="0">
                <a:solidFill>
                  <a:srgbClr val="00B0F0"/>
                </a:solidFill>
                <a:latin typeface="HY헤드라인M" pitchFamily="18" charset="-127"/>
                <a:ea typeface="HY헤드라인M" pitchFamily="18" charset="-127"/>
              </a:rPr>
              <a:t>풀이 </a:t>
            </a:r>
          </a:p>
        </p:txBody>
      </p:sp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986797"/>
              </p:ext>
            </p:extLst>
          </p:nvPr>
        </p:nvGraphicFramePr>
        <p:xfrm>
          <a:off x="2466492" y="4378700"/>
          <a:ext cx="134710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25" imgH="203112" progId="Equation.DSMT4">
                  <p:embed/>
                </p:oleObj>
              </mc:Choice>
              <mc:Fallback>
                <p:oleObj name="Equation" r:id="rId2" imgW="86322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492" y="4378700"/>
                        <a:ext cx="1347107" cy="314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742161" y="4410624"/>
            <a:ext cx="137249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이므로 에러 없음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1603080" y="4833156"/>
            <a:ext cx="613063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9097" y="4833157"/>
            <a:ext cx="1056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10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Example</a:t>
            </a:r>
            <a:endParaRPr lang="ko-KR" altLang="en-US" sz="105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55D66CA-B611-7170-6639-DAF111B0A3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883"/>
          <a:stretch>
            <a:fillRect/>
          </a:stretch>
        </p:blipFill>
        <p:spPr>
          <a:xfrm>
            <a:off x="2249742" y="2328884"/>
            <a:ext cx="5118354" cy="191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116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144510" y="764704"/>
            <a:ext cx="8963994" cy="566995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-KR" altLang="en-US" sz="1650" spc="-75" dirty="0">
                <a:solidFill>
                  <a:srgbClr val="2B6278"/>
                </a:solidFill>
              </a:rPr>
              <a:t>     </a:t>
            </a:r>
            <a:r>
              <a:rPr lang="ko-KR" altLang="en-US" spc="-75" dirty="0">
                <a:solidFill>
                  <a:srgbClr val="2B6278"/>
                </a:solidFill>
              </a:rPr>
              <a:t>순환 중복 검사</a:t>
            </a:r>
            <a:r>
              <a:rPr lang="en-US" altLang="ko-KR" spc="-75" dirty="0">
                <a:solidFill>
                  <a:srgbClr val="2B6278"/>
                </a:solidFill>
              </a:rPr>
              <a:t>(CRC)</a:t>
            </a:r>
            <a:endParaRPr lang="ko-KR" altLang="en-US" spc="-75" dirty="0">
              <a:solidFill>
                <a:srgbClr val="2B6278"/>
              </a:solidFill>
            </a:endParaRP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높은 신뢰도를 확보하며 에러 검출을 위한 오버헤드가 적고</a:t>
            </a:r>
            <a:r>
              <a:rPr lang="en-US" altLang="ko-KR" spc="-75" dirty="0"/>
              <a:t>, </a:t>
            </a:r>
            <a:r>
              <a:rPr lang="ko-KR" altLang="en-US" spc="-75" dirty="0"/>
              <a:t>랜덤 에러나 </a:t>
            </a:r>
            <a:r>
              <a:rPr lang="ko-KR" altLang="en-US" spc="-75" dirty="0" err="1"/>
              <a:t>버스트</a:t>
            </a:r>
            <a:r>
              <a:rPr lang="ko-KR" altLang="en-US" spc="-75" dirty="0"/>
              <a:t> 에러를 포함한 에러 검출에 매우 좋은 성능을 갖는다</a:t>
            </a:r>
            <a:r>
              <a:rPr lang="en-US" altLang="ko-KR" spc="-75" dirty="0"/>
              <a:t>.</a:t>
            </a:r>
          </a:p>
          <a:p>
            <a:pPr marL="407194" lvl="1" indent="-121444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CRC </a:t>
            </a:r>
            <a:r>
              <a:rPr lang="ko-KR" altLang="en-US" sz="1350" b="1" spc="-75" dirty="0"/>
              <a:t>발생기 및 검출기</a:t>
            </a:r>
            <a:endParaRPr lang="en-US" altLang="ko-KR" sz="1350" b="1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수신 측에서는 수신된 </a:t>
            </a:r>
            <a:r>
              <a:rPr lang="en-US" altLang="ko-KR" i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ko-KR" spc="-75" dirty="0"/>
              <a:t> + </a:t>
            </a:r>
            <a:r>
              <a:rPr lang="en-US" altLang="ko-KR" i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ko-KR" altLang="en-US" spc="-75" dirty="0"/>
              <a:t>비트의 데이터를 키 값으로 나누었을 때 나머지가 </a:t>
            </a:r>
            <a:r>
              <a:rPr lang="en-US" altLang="ko-KR" spc="-75" dirty="0"/>
              <a:t>0</a:t>
            </a:r>
            <a:r>
              <a:rPr lang="ko-KR" altLang="en-US" spc="-75" dirty="0"/>
              <a:t>이면 에러가 없는 것이지만</a:t>
            </a:r>
            <a:r>
              <a:rPr lang="en-US" altLang="ko-KR" spc="-75" dirty="0"/>
              <a:t>, 0</a:t>
            </a:r>
            <a:r>
              <a:rPr lang="ko-KR" altLang="en-US" spc="-75" dirty="0"/>
              <a:t>이 아니면 에러가 발생한 것으로 판단한다</a:t>
            </a:r>
            <a:r>
              <a:rPr lang="en-US" altLang="ko-KR" spc="-75" dirty="0"/>
              <a:t>.</a:t>
            </a:r>
            <a:endParaRPr lang="ko-KR" altLang="en-US" spc="-75" dirty="0"/>
          </a:p>
        </p:txBody>
      </p:sp>
      <p:pic>
        <p:nvPicPr>
          <p:cNvPr id="3" name="그림 2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84C9E4-55E3-9019-06D8-48B1526EB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284984"/>
            <a:ext cx="7004234" cy="2275364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16505" y="773705"/>
            <a:ext cx="394605" cy="346249"/>
            <a:chOff x="1454127" y="2542102"/>
            <a:chExt cx="402248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1475656" y="2596842"/>
              <a:ext cx="288032" cy="364748"/>
            </a:xfrm>
            <a:prstGeom prst="roundRect">
              <a:avLst/>
            </a:prstGeom>
            <a:solidFill>
              <a:srgbClr val="2B6278"/>
            </a:solidFill>
          </p:spPr>
          <p:txBody>
            <a:bodyPr wrap="square" rtlCol="0">
              <a:spAutoFit/>
            </a:bodyPr>
            <a:lstStyle/>
            <a:p>
              <a:endParaRPr lang="ko-KR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54127" y="2542102"/>
              <a:ext cx="40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50" b="1" dirty="0">
                  <a:solidFill>
                    <a:schemeClr val="bg1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rPr>
                <a:t>3</a:t>
              </a:r>
              <a:endParaRPr lang="ko-KR" altLang="en-US" sz="16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03064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CRC </a:t>
            </a:r>
            <a:r>
              <a:rPr lang="ko-KR" altLang="en-US" sz="1350" b="1" spc="-75" dirty="0"/>
              <a:t>계산에 사용되는 모듈로</a:t>
            </a:r>
            <a:r>
              <a:rPr lang="en-US" altLang="ko-KR" sz="1350" b="1" spc="-75" dirty="0"/>
              <a:t>-2 </a:t>
            </a:r>
            <a:r>
              <a:rPr lang="ko-KR" altLang="en-US" sz="1350" b="1" spc="-75" dirty="0"/>
              <a:t>연산</a:t>
            </a:r>
            <a:endParaRPr lang="en-US" altLang="ko-KR" sz="1350" b="1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사칙 연산에서 </a:t>
            </a:r>
            <a:r>
              <a:rPr lang="ko-KR" altLang="en-US" spc="-75" dirty="0" err="1"/>
              <a:t>캐리는</a:t>
            </a:r>
            <a:r>
              <a:rPr lang="ko-KR" altLang="en-US" spc="-75" dirty="0"/>
              <a:t> 고려하지 않는다</a:t>
            </a:r>
            <a:r>
              <a:rPr lang="en-US" altLang="ko-KR" spc="-75" dirty="0"/>
              <a:t>. </a:t>
            </a:r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덧셈 연산은 뺄셈 연산과 결과가 같으며 </a:t>
            </a:r>
            <a:r>
              <a:rPr lang="en-US" altLang="ko-KR" spc="-75" dirty="0"/>
              <a:t>XOR </a:t>
            </a:r>
            <a:r>
              <a:rPr lang="ko-KR" altLang="en-US" spc="-75" dirty="0"/>
              <a:t>연산과도 같다</a:t>
            </a:r>
            <a:r>
              <a:rPr lang="en-US" altLang="ko-KR" spc="-75" dirty="0"/>
              <a:t>.</a:t>
            </a:r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데이터가 </a:t>
            </a:r>
            <a:r>
              <a:rPr lang="en-US" altLang="ko-KR" spc="-75" dirty="0"/>
              <a:t>100100</a:t>
            </a:r>
            <a:r>
              <a:rPr lang="ko-KR" altLang="en-US" spc="-75" dirty="0"/>
              <a:t>이고</a:t>
            </a:r>
            <a:r>
              <a:rPr lang="en-US" altLang="ko-KR" spc="-75" dirty="0"/>
              <a:t>, </a:t>
            </a:r>
            <a:r>
              <a:rPr lang="ko-KR" altLang="en-US" spc="-75" dirty="0"/>
              <a:t>키 값이 </a:t>
            </a:r>
            <a:r>
              <a:rPr lang="en-US" altLang="ko-KR" spc="-75" dirty="0"/>
              <a:t>1101</a:t>
            </a:r>
            <a:r>
              <a:rPr lang="ko-KR" altLang="en-US" spc="-75" dirty="0"/>
              <a:t>인 경우 </a:t>
            </a:r>
            <a:r>
              <a:rPr lang="en-US" altLang="ko-KR" spc="-75" dirty="0"/>
              <a:t>FCS</a:t>
            </a:r>
            <a:r>
              <a:rPr lang="ko-KR" altLang="en-US" spc="-75" dirty="0"/>
              <a:t>를 계산하는 예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556" y="1833652"/>
            <a:ext cx="3949425" cy="668958"/>
          </a:xfrm>
          <a:prstGeom prst="rect">
            <a:avLst/>
          </a:prstGeom>
          <a:noFill/>
          <a:ln w="12700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6D6856-68B4-BD1A-2E30-867CD6D09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31" y="3095099"/>
            <a:ext cx="5819911" cy="371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629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CRC </a:t>
            </a:r>
            <a:r>
              <a:rPr lang="ko-KR" altLang="en-US" sz="1350" b="1" spc="-75" dirty="0"/>
              <a:t>하드웨어</a:t>
            </a:r>
            <a:endParaRPr lang="en-US" altLang="ko-KR" sz="1350" b="1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시프트 레지스터와 </a:t>
            </a:r>
            <a:r>
              <a:rPr lang="en-US" altLang="ko-KR" spc="-75" dirty="0"/>
              <a:t>XOR </a:t>
            </a:r>
            <a:r>
              <a:rPr lang="ko-KR" altLang="en-US" spc="-75" dirty="0" err="1"/>
              <a:t>게이트</a:t>
            </a:r>
            <a:r>
              <a:rPr lang="en-US" altLang="ko-KR" spc="-75" dirty="0"/>
              <a:t>(⊕)</a:t>
            </a:r>
            <a:r>
              <a:rPr lang="ko-KR" altLang="en-US" spc="-75" dirty="0"/>
              <a:t>를 사용하여 구성할 수 있다</a:t>
            </a:r>
            <a:r>
              <a:rPr lang="en-US" altLang="ko-KR" spc="-75" dirty="0"/>
              <a:t>.</a:t>
            </a:r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26431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데이터 </a:t>
            </a:r>
            <a:r>
              <a:rPr lang="en-US" altLang="ko-KR" spc="-75" dirty="0"/>
              <a:t>100100</a:t>
            </a:r>
            <a:r>
              <a:rPr lang="ko-KR" altLang="en-US" spc="-75" dirty="0"/>
              <a:t>을 </a:t>
            </a:r>
            <a:r>
              <a:rPr lang="en-US" altLang="ko-KR" spc="-75" dirty="0"/>
              <a:t>MSB</a:t>
            </a:r>
            <a:r>
              <a:rPr lang="ko-KR" altLang="en-US" spc="-75" dirty="0"/>
              <a:t>부터 차례로</a:t>
            </a:r>
            <a:r>
              <a:rPr lang="en-US" altLang="ko-KR" spc="-75" dirty="0"/>
              <a:t> </a:t>
            </a:r>
            <a:r>
              <a:rPr lang="ko-KR" altLang="en-US" spc="-75" dirty="0"/>
              <a:t>입력하면</a:t>
            </a:r>
            <a:r>
              <a:rPr lang="en-US" altLang="ko-KR" spc="-75" dirty="0"/>
              <a:t>, FCS = 001</a:t>
            </a:r>
            <a:r>
              <a:rPr lang="ko-KR" altLang="en-US" spc="-75" dirty="0"/>
              <a:t>이 된다</a:t>
            </a:r>
            <a:r>
              <a:rPr lang="en-US" altLang="ko-KR" spc="-75" dirty="0"/>
              <a:t>.</a:t>
            </a:r>
            <a:endParaRPr lang="ko-KR" altLang="en-US" spc="-75" dirty="0"/>
          </a:p>
        </p:txBody>
      </p:sp>
      <p:pic>
        <p:nvPicPr>
          <p:cNvPr id="3" name="그림 2" descr="도표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418A7-E8CE-4011-0214-BB4BA9F02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61018"/>
            <a:ext cx="3791026" cy="130139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A862972-7B08-201A-1CCD-4CAE8752D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926" y="3478370"/>
            <a:ext cx="3627627" cy="252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056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  </a:t>
            </a:r>
            <a:r>
              <a:rPr lang="ko-KR" altLang="en-US" dirty="0"/>
              <a:t>에러 검출 코드</a:t>
            </a:r>
          </a:p>
        </p:txBody>
      </p:sp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en-US" altLang="ko-KR" sz="1350" b="1" spc="-75" dirty="0"/>
              <a:t>CRC </a:t>
            </a:r>
            <a:r>
              <a:rPr lang="ko-KR" altLang="en-US" sz="1350" b="1" spc="-75" dirty="0"/>
              <a:t>테이블 기법</a:t>
            </a:r>
            <a:endParaRPr lang="en-US" altLang="ko-KR" sz="1350" b="1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pc="-75" dirty="0"/>
              <a:t>[</a:t>
            </a:r>
            <a:r>
              <a:rPr lang="ko-KR" altLang="en-US" spc="-75" dirty="0"/>
              <a:t>그림 </a:t>
            </a:r>
            <a:r>
              <a:rPr lang="en-US" altLang="ko-KR" spc="-75" dirty="0"/>
              <a:t>2-10]</a:t>
            </a:r>
            <a:r>
              <a:rPr lang="ko-KR" altLang="en-US" spc="-75" dirty="0"/>
              <a:t>과 같이 비트 단위로 </a:t>
            </a:r>
            <a:r>
              <a:rPr lang="en-US" altLang="ko-KR" spc="-75" dirty="0"/>
              <a:t>CRC</a:t>
            </a:r>
            <a:r>
              <a:rPr lang="ko-KR" altLang="en-US" spc="-75" dirty="0"/>
              <a:t>를 계산하면 회로는 간단하지만 처리 속도에 문제가 있다</a:t>
            </a:r>
            <a:r>
              <a:rPr lang="en-US" altLang="ko-KR" spc="-75" dirty="0"/>
              <a:t>.</a:t>
            </a:r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이를 위해 미리 </a:t>
            </a:r>
            <a:r>
              <a:rPr lang="en-US" altLang="ko-KR" spc="-75" dirty="0"/>
              <a:t>CRC</a:t>
            </a:r>
            <a:r>
              <a:rPr lang="ko-KR" altLang="en-US" spc="-75" dirty="0"/>
              <a:t>를 계산하여 메모리에 저장해 놓고 사용한다</a:t>
            </a:r>
            <a:r>
              <a:rPr lang="en-US" altLang="ko-KR" spc="-75" dirty="0"/>
              <a:t>.</a:t>
            </a:r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pc="-75" dirty="0"/>
          </a:p>
          <a:p>
            <a:pPr marL="335756" lvl="1" indent="-214313">
              <a:lnSpc>
                <a:spcPct val="110000"/>
              </a:lnSpc>
              <a:spcAft>
                <a:spcPts val="150"/>
              </a:spcAft>
              <a:buClr>
                <a:srgbClr val="2B6278"/>
              </a:buClr>
              <a:buFont typeface="Wingdings" panose="05000000000000000000" pitchFamily="2" charset="2"/>
              <a:buChar char="v"/>
            </a:pPr>
            <a:r>
              <a:rPr lang="ko-KR" altLang="en-US" sz="1350" b="1" spc="-75" dirty="0"/>
              <a:t>생성 다항식</a:t>
            </a:r>
            <a:endParaRPr lang="en-US" altLang="ko-KR" sz="1350" b="1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en-US" altLang="ko-KR" sz="1050" spc="-75" dirty="0"/>
          </a:p>
          <a:p>
            <a:pPr marL="264319" lvl="1" indent="0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None/>
            </a:pPr>
            <a:endParaRPr lang="en-US" altLang="ko-KR" sz="1050" spc="-75" dirty="0"/>
          </a:p>
          <a:p>
            <a:pPr marL="407194" lvl="1" indent="-142875">
              <a:lnSpc>
                <a:spcPct val="110000"/>
              </a:lnSpc>
              <a:spcAft>
                <a:spcPts val="150"/>
              </a:spcAft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ko-KR" altLang="en-US" spc="-75" dirty="0"/>
              <a:t>생성 다항식은 에러 검출 능력을 고려하여 결정되는데</a:t>
            </a:r>
            <a:r>
              <a:rPr lang="en-US" altLang="ko-KR" spc="-75" dirty="0"/>
              <a:t>, </a:t>
            </a:r>
            <a:r>
              <a:rPr lang="ko-KR" altLang="en-US" spc="-75" dirty="0"/>
              <a:t>현재 다음 유형이 사용된다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67FECAE-EAA8-F992-B937-D61CB148C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316" y="1988840"/>
            <a:ext cx="2817889" cy="124699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1E8E46-6B9F-BFE3-1143-E37FCCDCA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63" y="4161810"/>
            <a:ext cx="7401005" cy="10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536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LBiWEQYdFTOe9rzf4UG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A7ftul0JWsMpeaCqdWE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3049</TotalTime>
  <Words>2468</Words>
  <Application>Microsoft Office PowerPoint</Application>
  <PresentationFormat>화면 슬라이드 쇼(4:3)</PresentationFormat>
  <Paragraphs>519</Paragraphs>
  <Slides>57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71" baseType="lpstr">
      <vt:lpstr>DFKai-SB</vt:lpstr>
      <vt:lpstr>HY견고딕</vt:lpstr>
      <vt:lpstr>HY견명조</vt:lpstr>
      <vt:lpstr>HY헤드라인M</vt:lpstr>
      <vt:lpstr>굴림</vt:lpstr>
      <vt:lpstr>돋움</vt:lpstr>
      <vt:lpstr>맑은 고딕</vt:lpstr>
      <vt:lpstr>휴먼모음T</vt:lpstr>
      <vt:lpstr>Arial</vt:lpstr>
      <vt:lpstr>Times New Roman</vt:lpstr>
      <vt:lpstr>Verdana</vt:lpstr>
      <vt:lpstr>Wingdings</vt:lpstr>
      <vt:lpstr>1_Office 테마</vt:lpstr>
      <vt:lpstr>Equation</vt:lpstr>
      <vt:lpstr>Chapter 02. 데이터의 표현</vt:lpstr>
      <vt:lpstr>Contents</vt:lpstr>
      <vt:lpstr>2.1  진법과 진법 변환</vt:lpstr>
      <vt:lpstr>2.1  진법과 진법 변환</vt:lpstr>
      <vt:lpstr>2.1  진법과 진법 변환</vt:lpstr>
      <vt:lpstr>2.1  진법과 진법 변환</vt:lpstr>
      <vt:lpstr>2.1  진법과 진법 변환</vt:lpstr>
      <vt:lpstr>2.1  진법과 진법 변환</vt:lpstr>
      <vt:lpstr>2.1  진법과 진법 변환</vt:lpstr>
      <vt:lpstr>2.1  진법과 진법 변환</vt:lpstr>
      <vt:lpstr>2.1  진법과 진법 변환</vt:lpstr>
      <vt:lpstr>2.1  진법과 진법 변환</vt:lpstr>
      <vt:lpstr>2.1  진법과 진법 변환</vt:lpstr>
      <vt:lpstr>2.1  진법과 진법 변환</vt:lpstr>
      <vt:lpstr>2.2  정수 표현</vt:lpstr>
      <vt:lpstr>2.2  정수 표현</vt:lpstr>
      <vt:lpstr>2.2  정수 표현</vt:lpstr>
      <vt:lpstr>2.2  정수 표현</vt:lpstr>
      <vt:lpstr>2.2  정수 표현</vt:lpstr>
      <vt:lpstr>2.2  정수 표현</vt:lpstr>
      <vt:lpstr>2.2  정수 표현</vt:lpstr>
      <vt:lpstr>2.2  정수 표현</vt:lpstr>
      <vt:lpstr>2.2  정수 표현</vt:lpstr>
      <vt:lpstr>2.2  정수 표현</vt:lpstr>
      <vt:lpstr>2.2  정수 표현</vt:lpstr>
      <vt:lpstr>2.2  정수 표현</vt:lpstr>
      <vt:lpstr>2.3  실수 표현</vt:lpstr>
      <vt:lpstr>2.3  실수 표현</vt:lpstr>
      <vt:lpstr>2.3  실수 표현</vt:lpstr>
      <vt:lpstr>2.3  실수 표현</vt:lpstr>
      <vt:lpstr>2.3  실수 표현</vt:lpstr>
      <vt:lpstr>2.4  디지털 코드</vt:lpstr>
      <vt:lpstr>2.4  디지털 코드</vt:lpstr>
      <vt:lpstr>2.4  디지털 코드</vt:lpstr>
      <vt:lpstr>2.4  디지털 코드</vt:lpstr>
      <vt:lpstr>2.4  디지털 코드</vt:lpstr>
      <vt:lpstr>2.4  디지털 코드</vt:lpstr>
      <vt:lpstr>2.4  디지털 코드</vt:lpstr>
      <vt:lpstr>2.4  디지털 코드</vt:lpstr>
      <vt:lpstr>2.4  디지털 코드</vt:lpstr>
      <vt:lpstr>2.4  디지털 코드</vt:lpstr>
      <vt:lpstr>2.4  디지털 코드</vt:lpstr>
      <vt:lpstr>2.4  디지털 코드</vt:lpstr>
      <vt:lpstr>2.4  디지털 코드</vt:lpstr>
      <vt:lpstr>2.5  에러 검출 코드</vt:lpstr>
      <vt:lpstr>2.5  에러 검출 코드</vt:lpstr>
      <vt:lpstr>2.5  에러 검출 코드</vt:lpstr>
      <vt:lpstr>2.5  에러 검출 코드</vt:lpstr>
      <vt:lpstr>2.5  에러 검출 코드</vt:lpstr>
      <vt:lpstr>2.5  에러 검출 코드</vt:lpstr>
      <vt:lpstr>2.5  에러 검출 코드</vt:lpstr>
      <vt:lpstr>2.5  에러 검출 코드</vt:lpstr>
      <vt:lpstr>2.5  에러 검출 코드</vt:lpstr>
      <vt:lpstr>2.5  에러 검출 코드</vt:lpstr>
      <vt:lpstr>2.5  에러 검출 코드</vt:lpstr>
      <vt:lpstr>2.5  에러 검출 코드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Seungan Woo</cp:lastModifiedBy>
  <cp:revision>372</cp:revision>
  <cp:lastPrinted>2019-08-26T00:30:36Z</cp:lastPrinted>
  <dcterms:created xsi:type="dcterms:W3CDTF">2011-01-05T15:14:06Z</dcterms:created>
  <dcterms:modified xsi:type="dcterms:W3CDTF">2026-09-16T12:49:30Z</dcterms:modified>
</cp:coreProperties>
</file>