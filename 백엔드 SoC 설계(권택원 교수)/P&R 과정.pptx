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25534B-8A5B-E0CC-A43C-60F02D0B24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AC89134-77AB-EE00-6383-566367A72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07020D-CC4C-B8DF-039E-0ACC6435B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3AEE2-19DA-49BD-8143-F84ABCB5F6B2}" type="datetimeFigureOut">
              <a:rPr lang="ko-KR" altLang="en-US" smtClean="0"/>
              <a:t>2026년 10월 6일 Tuesday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FA9874-E595-544C-283A-6594A55D9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6FAA0A-3F9E-15CA-8BEB-D8D0F133D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DC84-4F67-4C1C-8141-C8FDBB344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167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4CAC5-286A-F225-E815-AC1324FE1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2C89C8-3DF7-2995-A7C6-324E03D94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397499-B7DD-72E1-6F58-4D05CD95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3AEE2-19DA-49BD-8143-F84ABCB5F6B2}" type="datetimeFigureOut">
              <a:rPr lang="ko-KR" altLang="en-US" smtClean="0"/>
              <a:t>2026년 10월 6일 Tuesday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96CEED-07ED-ED82-05BD-35D1EB01A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63D3F6-4F58-EB37-1D38-58E5BDCEA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DC84-4F67-4C1C-8141-C8FDBB344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4221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CBFA3D-4245-26CA-CA40-B81BAF29C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A23BCA-AF97-8CCC-390F-49F151181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570694-2E97-5C62-F412-77A163C6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3AEE2-19DA-49BD-8143-F84ABCB5F6B2}" type="datetimeFigureOut">
              <a:rPr lang="ko-KR" altLang="en-US" smtClean="0"/>
              <a:t>2026년 10월 6일 Tuesday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5A7E69-8C79-B673-1F5C-8230DD45E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682137-A1E6-588D-8202-9D16C323D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DC84-4F67-4C1C-8141-C8FDBB344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423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700B5B-212C-14F9-3F8C-EA4F1E48E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4D96D5-D44C-DA42-6005-FC7F2AA8E9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7A4155-8167-6DE4-6D38-6AD44BE63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34029E1-467C-84BD-B31E-6DC934D29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3AEE2-19DA-49BD-8143-F84ABCB5F6B2}" type="datetimeFigureOut">
              <a:rPr lang="ko-KR" altLang="en-US" smtClean="0"/>
              <a:t>2026년 10월 6일 Tuesday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C22D67-9D95-E684-A181-37FFD1B97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ECB190-8D2C-F909-3502-73F291070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DC84-4F67-4C1C-8141-C8FDBB344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52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CE4987-6A82-9F46-11A0-5553836AE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0CF23E-215A-97AA-7CE2-CAA3FE789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48896B1-79CF-C1D7-C6D2-20DB4B61A2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FCD119B-9A8E-D301-262E-ABF0C20C32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A492638-309F-9869-666D-AF70F34105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FDEF8A6-D772-4FD6-05BD-018D48E9A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3AEE2-19DA-49BD-8143-F84ABCB5F6B2}" type="datetimeFigureOut">
              <a:rPr lang="ko-KR" altLang="en-US" smtClean="0"/>
              <a:t>2026년 10월 6일 Tuesday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F024F3D-3BC8-0A7A-9BDD-172C05AB1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55B52A3-69E5-DB80-9ECB-EC9EBCD84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DC84-4F67-4C1C-8141-C8FDBB344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723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EC19EE-8765-CF4A-91D9-09925C265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E3DEB61-8CAC-5F2F-4BAD-CEC872B61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3AEE2-19DA-49BD-8143-F84ABCB5F6B2}" type="datetimeFigureOut">
              <a:rPr lang="ko-KR" altLang="en-US" smtClean="0"/>
              <a:t>2026년 10월 6일 Tuesday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F50B381-D59F-D0C4-DC17-3D4540A16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1D4AEDF-D79A-1240-8EA1-80F54733A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DC84-4F67-4C1C-8141-C8FDBB344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1135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A79B831-F42B-C879-4FC7-37416FC61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3AEE2-19DA-49BD-8143-F84ABCB5F6B2}" type="datetimeFigureOut">
              <a:rPr lang="ko-KR" altLang="en-US" smtClean="0"/>
              <a:t>2026년 10월 6일 Tuesday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1824295-9684-1DA9-1E6E-1A55A0423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628BEC-E09A-0EE4-C780-022947A70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DC84-4F67-4C1C-8141-C8FDBB344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609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A82EFC-D30A-F57C-5E02-2ED5F3B73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D8E0D7-C438-D1C1-DD5D-D23738E1A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52750D-383C-AC1A-D723-3C6F95FE48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829452-901E-3168-2A66-607D1BAE4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3AEE2-19DA-49BD-8143-F84ABCB5F6B2}" type="datetimeFigureOut">
              <a:rPr lang="ko-KR" altLang="en-US" smtClean="0"/>
              <a:t>2026년 10월 6일 Tuesday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28D44C-4275-6C79-9D90-1E039A1FA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CC4AC0-D845-181C-8D5C-47DC530A4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DC84-4F67-4C1C-8141-C8FDBB344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81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47AD16-1027-D502-4ABC-5166274F0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C53171-80D3-7EE2-4C9F-06F1E2E108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4F1DD98-BEC3-B616-D86F-326EAC233F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E582077-A531-248B-FADA-A6BA4B214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3AEE2-19DA-49BD-8143-F84ABCB5F6B2}" type="datetimeFigureOut">
              <a:rPr lang="ko-KR" altLang="en-US" smtClean="0"/>
              <a:t>2026년 10월 6일 Tuesday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3E77DF-6291-EB4E-CD56-FCBE21837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93702D-D88B-C686-39D2-8EB7C33B7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DC84-4F67-4C1C-8141-C8FDBB344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250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4A0C46-047E-8FCB-7307-74E40769A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688EF7B-F51C-73BD-07BB-487A9C703F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FE417A-5179-3796-1124-B0F4D21FA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3AEE2-19DA-49BD-8143-F84ABCB5F6B2}" type="datetimeFigureOut">
              <a:rPr lang="ko-KR" altLang="en-US" smtClean="0"/>
              <a:t>2026년 10월 6일 Tuesday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C51F0A-8575-40B6-7BB5-D3939D317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2F0496-5DE8-2AE5-7CAC-D00169D89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DC84-4F67-4C1C-8141-C8FDBB344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522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FE870B9-114E-441A-49A1-7A0D062C2B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BCCFEC-36CE-6895-77AE-13A94353A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4BB4F0-B94D-FE82-0505-EE099AF28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3AEE2-19DA-49BD-8143-F84ABCB5F6B2}" type="datetimeFigureOut">
              <a:rPr lang="ko-KR" altLang="en-US" smtClean="0"/>
              <a:t>2026년 10월 6일 Tuesday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EA9196-6F8A-1C01-0F26-3D665B6A9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59D671-5C1E-49B5-037F-C68BAFA98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8DC84-4F67-4C1C-8141-C8FDBB344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508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B21A6E4-F46E-BFC8-D8DE-5E4F2A79E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418E8A-DCED-2B2F-F52E-CC9A98B1C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C749B2-E4C1-B1CD-97D9-3829DF32F2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F3AEE2-19DA-49BD-8143-F84ABCB5F6B2}" type="datetimeFigureOut">
              <a:rPr lang="ko-KR" altLang="en-US" smtClean="0"/>
              <a:t>2026년 10월 6일 Tuesday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A6AAF8-AE5F-4140-91B5-A52473462B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C6E434-8297-CD5B-2444-15DECAE269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B8DC84-4F67-4C1C-8141-C8FDBB344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2430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F4F0F-3FA0-F143-148A-C94B653CB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ko-KR" sz="5400" dirty="0"/>
              <a:t>P&amp;R </a:t>
            </a:r>
            <a:r>
              <a:rPr lang="ko-KR" altLang="en-US" sz="5400" dirty="0"/>
              <a:t>과정의 </a:t>
            </a:r>
            <a:r>
              <a:rPr lang="en-US" altLang="ko-KR" sz="5400" dirty="0"/>
              <a:t>Flow Map</a:t>
            </a:r>
            <a:endParaRPr lang="ko-KR" altLang="en-US" sz="54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831AA79-5D2C-483C-052C-532642BD37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9696" y="2087608"/>
            <a:ext cx="5954624" cy="4283903"/>
          </a:xfrm>
        </p:spPr>
      </p:pic>
    </p:spTree>
    <p:extLst>
      <p:ext uri="{BB962C8B-B14F-4D97-AF65-F5344CB8AC3E}">
        <p14:creationId xmlns:p14="http://schemas.microsoft.com/office/powerpoint/2010/main" val="2966296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D228B-00A9-1D2B-CC8D-5626DD30A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Floor planning (</a:t>
            </a:r>
            <a:r>
              <a:rPr lang="ko-KR" altLang="en-US" dirty="0"/>
              <a:t>계층 설계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DFB08E-1D99-C865-58CF-AF5A5CCF7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칩 내부의 전체적인 구조적 틀과 공간을 배치하는 단계이다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sz="2400" dirty="0"/>
              <a:t>주요 작업</a:t>
            </a:r>
            <a:r>
              <a:rPr lang="en-US" altLang="ko-KR" sz="2400" dirty="0"/>
              <a:t>:</a:t>
            </a:r>
          </a:p>
          <a:p>
            <a:pPr marL="0" indent="0">
              <a:buNone/>
            </a:pPr>
            <a:r>
              <a:rPr lang="en-US" altLang="ko-KR" sz="2400" dirty="0"/>
              <a:t> 1. </a:t>
            </a:r>
            <a:r>
              <a:rPr lang="ko-KR" altLang="en-US" sz="2400" dirty="0"/>
              <a:t>칩의 크기</a:t>
            </a:r>
            <a:r>
              <a:rPr lang="en-US" altLang="ko-KR" sz="2400" dirty="0"/>
              <a:t>(Area)</a:t>
            </a:r>
            <a:r>
              <a:rPr lang="ko-KR" altLang="en-US" sz="2400" dirty="0"/>
              <a:t>와 모양</a:t>
            </a:r>
            <a:r>
              <a:rPr lang="en-US" altLang="ko-KR" sz="2400" dirty="0"/>
              <a:t>, </a:t>
            </a:r>
            <a:r>
              <a:rPr lang="ko-KR" altLang="en-US" sz="2400" dirty="0"/>
              <a:t>가로세로 비율</a:t>
            </a:r>
            <a:r>
              <a:rPr lang="en-US" altLang="ko-KR" sz="2400" dirty="0"/>
              <a:t>(Aspect Ratio) </a:t>
            </a:r>
            <a:r>
              <a:rPr lang="ko-KR" altLang="en-US" sz="2400" dirty="0"/>
              <a:t>결정</a:t>
            </a:r>
          </a:p>
          <a:p>
            <a:pPr marL="0" indent="0">
              <a:buNone/>
            </a:pPr>
            <a:r>
              <a:rPr lang="en-US" altLang="ko-KR" sz="2400" dirty="0"/>
              <a:t> 2. </a:t>
            </a:r>
            <a:r>
              <a:rPr lang="ko-KR" altLang="en-US" sz="2400" dirty="0"/>
              <a:t>외부 신호가 들어오고 나가는 </a:t>
            </a:r>
            <a:r>
              <a:rPr lang="en-US" altLang="ko-KR" sz="2400" dirty="0"/>
              <a:t>I/O </a:t>
            </a:r>
            <a:r>
              <a:rPr lang="ko-KR" altLang="en-US" sz="2400" dirty="0"/>
              <a:t>패드</a:t>
            </a:r>
            <a:r>
              <a:rPr lang="en-US" altLang="ko-KR" sz="2400" dirty="0"/>
              <a:t>(Pad) </a:t>
            </a:r>
            <a:r>
              <a:rPr lang="ko-KR" altLang="en-US" sz="2400" dirty="0"/>
              <a:t>배치</a:t>
            </a:r>
          </a:p>
          <a:p>
            <a:pPr marL="0" indent="0">
              <a:buNone/>
            </a:pPr>
            <a:r>
              <a:rPr lang="en-US" altLang="ko-KR" sz="2400" dirty="0"/>
              <a:t> 3. </a:t>
            </a:r>
            <a:r>
              <a:rPr lang="ko-KR" altLang="en-US" sz="2400" dirty="0"/>
              <a:t>큰 메모리 블록</a:t>
            </a:r>
            <a:r>
              <a:rPr lang="en-US" altLang="ko-KR" sz="2400" dirty="0"/>
              <a:t>(SRAM, ROM </a:t>
            </a:r>
            <a:r>
              <a:rPr lang="ko-KR" altLang="en-US" sz="2400" dirty="0"/>
              <a:t>등</a:t>
            </a:r>
            <a:r>
              <a:rPr lang="en-US" altLang="ko-KR" sz="2400" dirty="0"/>
              <a:t>)</a:t>
            </a:r>
            <a:r>
              <a:rPr lang="ko-KR" altLang="en-US" sz="2400" dirty="0"/>
              <a:t>이나 </a:t>
            </a:r>
            <a:r>
              <a:rPr lang="en-US" altLang="ko-KR" sz="2400" dirty="0"/>
              <a:t>IP </a:t>
            </a:r>
            <a:r>
              <a:rPr lang="ko-KR" altLang="en-US" sz="2400" dirty="0"/>
              <a:t>블록</a:t>
            </a:r>
            <a:r>
              <a:rPr lang="en-US" altLang="ko-KR" sz="2400" dirty="0"/>
              <a:t>(Macro)</a:t>
            </a:r>
            <a:r>
              <a:rPr lang="ko-KR" altLang="en-US" sz="2400" dirty="0"/>
              <a:t>의 위치 결정</a:t>
            </a:r>
          </a:p>
          <a:p>
            <a:pPr marL="0" indent="0">
              <a:buNone/>
            </a:pPr>
            <a:r>
              <a:rPr lang="en-US" altLang="ko-KR" sz="2400" dirty="0"/>
              <a:t> 4. </a:t>
            </a:r>
            <a:r>
              <a:rPr lang="ko-KR" altLang="en-US" sz="2400" dirty="0"/>
              <a:t>주요 전원선</a:t>
            </a:r>
            <a:r>
              <a:rPr lang="en-US" altLang="ko-KR" sz="2400" dirty="0"/>
              <a:t>(Power Grid: VDD, VSS) </a:t>
            </a:r>
            <a:r>
              <a:rPr lang="ko-KR" altLang="en-US" sz="2400" dirty="0"/>
              <a:t>및 전력 분배 망</a:t>
            </a:r>
            <a:r>
              <a:rPr lang="en-US" altLang="ko-KR" sz="2400" dirty="0"/>
              <a:t>(PDN) </a:t>
            </a:r>
            <a:r>
              <a:rPr lang="ko-KR" altLang="en-US" sz="2400" dirty="0"/>
              <a:t>설계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1752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D228B-00A9-1D2B-CC8D-5626DD30A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Placement (</a:t>
            </a:r>
            <a:r>
              <a:rPr lang="ko-KR" altLang="en-US" dirty="0"/>
              <a:t>배치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DFB08E-1D99-C865-58CF-AF5A5CCF7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계층 설계 과정에서 만들어진 빈 공간에 수십만</a:t>
            </a:r>
            <a:r>
              <a:rPr lang="en-US" altLang="ko-KR" dirty="0"/>
              <a:t>~</a:t>
            </a:r>
            <a:r>
              <a:rPr lang="ko-KR" altLang="en-US" dirty="0"/>
              <a:t>수억 개의 표준 셀</a:t>
            </a:r>
            <a:r>
              <a:rPr lang="en-US" altLang="ko-KR" dirty="0"/>
              <a:t>(Standard Cell: AND, OR, Flip-Flop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을 실제로 배치하는 단계이다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sz="2400" dirty="0"/>
              <a:t>주요 작업</a:t>
            </a:r>
            <a:r>
              <a:rPr lang="en-US" altLang="ko-KR" sz="2400" dirty="0"/>
              <a:t>:</a:t>
            </a:r>
          </a:p>
          <a:p>
            <a:pPr marL="0" indent="0">
              <a:buNone/>
            </a:pPr>
            <a:r>
              <a:rPr lang="en-US" altLang="ko-KR" sz="2400" dirty="0"/>
              <a:t>1. </a:t>
            </a:r>
            <a:r>
              <a:rPr lang="ko-KR" altLang="en-US" sz="2400" dirty="0"/>
              <a:t>로직 합성</a:t>
            </a:r>
            <a:r>
              <a:rPr lang="en-US" altLang="ko-KR" sz="2400" dirty="0"/>
              <a:t>(Gate level design)</a:t>
            </a:r>
            <a:r>
              <a:rPr lang="ko-KR" altLang="en-US" sz="2400" dirty="0"/>
              <a:t>으로 생성된 회로 요소들을 최적의 위치에 고정   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2. </a:t>
            </a:r>
            <a:r>
              <a:rPr lang="ko-KR" altLang="en-US" sz="2400" dirty="0"/>
              <a:t>셀 간 신호 전달 지연</a:t>
            </a:r>
            <a:r>
              <a:rPr lang="en-US" altLang="ko-KR" sz="2400" dirty="0"/>
              <a:t>(Delay) </a:t>
            </a:r>
            <a:r>
              <a:rPr lang="ko-KR" altLang="en-US" sz="2400" dirty="0"/>
              <a:t>및 칩 면적 최소화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3. </a:t>
            </a:r>
            <a:r>
              <a:rPr lang="ko-KR" altLang="en-US" sz="2400" dirty="0"/>
              <a:t>신호선이 꼬이거나 혼잡해지는 현상</a:t>
            </a:r>
            <a:r>
              <a:rPr lang="en-US" altLang="ko-KR" sz="2400" dirty="0"/>
              <a:t>(Congestion) </a:t>
            </a:r>
            <a:r>
              <a:rPr lang="ko-KR" altLang="en-US" sz="2400" dirty="0"/>
              <a:t>방지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4021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C6701-9B36-CBAF-AF17-864C237B2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Clock Tree Synthesis </a:t>
            </a:r>
            <a:r>
              <a:rPr lang="en-US" altLang="ko-KR" sz="3600" dirty="0"/>
              <a:t>(CTS, </a:t>
            </a:r>
            <a:r>
              <a:rPr lang="ko-KR" altLang="en-US" sz="3600" dirty="0" err="1"/>
              <a:t>클록</a:t>
            </a:r>
            <a:r>
              <a:rPr lang="ko-KR" altLang="en-US" sz="3600" dirty="0"/>
              <a:t> 트리 합성</a:t>
            </a:r>
            <a:r>
              <a:rPr lang="en-US" altLang="ko-KR" sz="3600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543DA0-9DA3-81C3-A4CC-804956E7C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칩 전체의 플립플롭</a:t>
            </a:r>
            <a:r>
              <a:rPr lang="en-US" altLang="ko-KR" dirty="0"/>
              <a:t>(Flip-Flop) </a:t>
            </a:r>
            <a:r>
              <a:rPr lang="ko-KR" altLang="en-US" dirty="0"/>
              <a:t>등 동기화 소자에 </a:t>
            </a:r>
            <a:r>
              <a:rPr lang="ko-KR" altLang="en-US" dirty="0" err="1"/>
              <a:t>클록</a:t>
            </a:r>
            <a:r>
              <a:rPr lang="en-US" altLang="ko-KR" dirty="0"/>
              <a:t>(Clock) </a:t>
            </a:r>
            <a:r>
              <a:rPr lang="ko-KR" altLang="en-US" dirty="0"/>
              <a:t>신호를 균일하게 전달하는 네트워크를 구축하는 단계이다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sz="2400" dirty="0"/>
              <a:t>주요 작업</a:t>
            </a:r>
            <a:r>
              <a:rPr lang="en-US" altLang="ko-KR" sz="2400" dirty="0"/>
              <a:t>:</a:t>
            </a:r>
          </a:p>
          <a:p>
            <a:pPr marL="0" indent="0">
              <a:buNone/>
            </a:pPr>
            <a:r>
              <a:rPr lang="en-US" altLang="ko-KR" sz="2400" dirty="0"/>
              <a:t> 1. </a:t>
            </a:r>
            <a:r>
              <a:rPr lang="ko-KR" altLang="en-US" sz="2400" dirty="0" err="1"/>
              <a:t>클록</a:t>
            </a:r>
            <a:r>
              <a:rPr lang="ko-KR" altLang="en-US" sz="2400" dirty="0"/>
              <a:t> 버퍼</a:t>
            </a:r>
            <a:r>
              <a:rPr lang="en-US" altLang="ko-KR" sz="2400" dirty="0"/>
              <a:t>(Clock Buffer) </a:t>
            </a:r>
            <a:r>
              <a:rPr lang="ko-KR" altLang="en-US" sz="2400" dirty="0"/>
              <a:t>및 인버터</a:t>
            </a:r>
            <a:r>
              <a:rPr lang="en-US" altLang="ko-KR" sz="2400" dirty="0"/>
              <a:t>(Inverter)</a:t>
            </a:r>
            <a:r>
              <a:rPr lang="ko-KR" altLang="en-US" sz="2400" dirty="0"/>
              <a:t>를 배치하여 </a:t>
            </a:r>
            <a:r>
              <a:rPr lang="ko-KR" altLang="en-US" sz="2400" dirty="0" err="1"/>
              <a:t>클록</a:t>
            </a:r>
            <a:r>
              <a:rPr lang="ko-KR" altLang="en-US" sz="2400" dirty="0"/>
              <a:t> 트리를 생성</a:t>
            </a:r>
          </a:p>
          <a:p>
            <a:pPr marL="0" indent="0">
              <a:buNone/>
            </a:pPr>
            <a:r>
              <a:rPr lang="en-US" altLang="ko-KR" sz="2400" dirty="0"/>
              <a:t> 2. </a:t>
            </a:r>
            <a:r>
              <a:rPr lang="ko-KR" altLang="en-US" sz="2400" dirty="0"/>
              <a:t>신호 도달 시간의 차이인 </a:t>
            </a:r>
            <a:r>
              <a:rPr lang="en-US" altLang="ko-KR" sz="2400" dirty="0"/>
              <a:t>Clock Skew(</a:t>
            </a:r>
            <a:r>
              <a:rPr lang="ko-KR" altLang="en-US" sz="2400" dirty="0" err="1"/>
              <a:t>클록</a:t>
            </a:r>
            <a:r>
              <a:rPr lang="ko-KR" altLang="en-US" sz="2400" dirty="0"/>
              <a:t> </a:t>
            </a:r>
            <a:r>
              <a:rPr lang="ko-KR" altLang="en-US" sz="2400" dirty="0" err="1"/>
              <a:t>스큐</a:t>
            </a:r>
            <a:r>
              <a:rPr lang="en-US" altLang="ko-KR" sz="2400" dirty="0"/>
              <a:t>)</a:t>
            </a:r>
            <a:r>
              <a:rPr lang="ko-KR" altLang="en-US" sz="2400" dirty="0"/>
              <a:t>를 최소화</a:t>
            </a:r>
          </a:p>
          <a:p>
            <a:pPr marL="0" indent="0">
              <a:buNone/>
            </a:pPr>
            <a:r>
              <a:rPr lang="en-US" altLang="ko-KR" sz="2400" dirty="0"/>
              <a:t> 3. </a:t>
            </a:r>
            <a:r>
              <a:rPr lang="ko-KR" altLang="en-US" sz="2400" dirty="0" err="1"/>
              <a:t>클록</a:t>
            </a:r>
            <a:r>
              <a:rPr lang="ko-KR" altLang="en-US" sz="2400" dirty="0"/>
              <a:t> 신호의 지연 시간</a:t>
            </a:r>
            <a:r>
              <a:rPr lang="en-US" altLang="ko-KR" sz="2400" dirty="0"/>
              <a:t>(Latency) </a:t>
            </a:r>
            <a:r>
              <a:rPr lang="ko-KR" altLang="en-US" sz="2400" dirty="0"/>
              <a:t>및 전력 소모 최적화</a:t>
            </a:r>
          </a:p>
        </p:txBody>
      </p:sp>
    </p:spTree>
    <p:extLst>
      <p:ext uri="{BB962C8B-B14F-4D97-AF65-F5344CB8AC3E}">
        <p14:creationId xmlns:p14="http://schemas.microsoft.com/office/powerpoint/2010/main" val="2881285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38E882-983C-66B3-8E73-37DD28E88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Routing (</a:t>
            </a:r>
            <a:r>
              <a:rPr lang="ko-KR" altLang="en-US" dirty="0"/>
              <a:t>라우팅 </a:t>
            </a:r>
            <a:r>
              <a:rPr lang="en-US" altLang="ko-KR" dirty="0"/>
              <a:t>/ </a:t>
            </a:r>
            <a:r>
              <a:rPr lang="ko-KR" altLang="en-US" dirty="0"/>
              <a:t>배선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6DCB6F-5265-361D-F5E7-D6F7AF256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배치된 셀들과 </a:t>
            </a:r>
            <a:r>
              <a:rPr lang="ko-KR" altLang="en-US" dirty="0" err="1"/>
              <a:t>클록</a:t>
            </a:r>
            <a:r>
              <a:rPr lang="ko-KR" altLang="en-US" dirty="0"/>
              <a:t> 트리 간에 금속 선</a:t>
            </a:r>
            <a:r>
              <a:rPr lang="en-US" altLang="ko-KR" dirty="0"/>
              <a:t>(Metal Line)</a:t>
            </a:r>
            <a:r>
              <a:rPr lang="ko-KR" altLang="en-US" dirty="0"/>
              <a:t>을 사용하여 실제 전기적 연결을 수행하는 단계이다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주요 목적</a:t>
            </a:r>
            <a:r>
              <a:rPr lang="en-US" altLang="ko-KR" dirty="0"/>
              <a:t>: </a:t>
            </a:r>
            <a:r>
              <a:rPr lang="ko-KR" altLang="en-US" dirty="0"/>
              <a:t>신호 간 간섭</a:t>
            </a:r>
            <a:r>
              <a:rPr lang="en-US" altLang="ko-KR" dirty="0"/>
              <a:t>(Crosstalk)</a:t>
            </a:r>
            <a:r>
              <a:rPr lang="ko-KR" altLang="en-US" dirty="0"/>
              <a:t>을 줄이고 타이밍 제약 조건</a:t>
            </a:r>
            <a:r>
              <a:rPr lang="en-US" altLang="ko-KR" dirty="0"/>
              <a:t>(Timing Constraints) </a:t>
            </a:r>
            <a:r>
              <a:rPr lang="ko-KR" altLang="en-US" dirty="0"/>
              <a:t>만족</a:t>
            </a:r>
            <a:endParaRPr lang="en-US" altLang="ko-KR" dirty="0"/>
          </a:p>
          <a:p>
            <a:endParaRPr lang="ko-KR" altLang="en-US" dirty="0"/>
          </a:p>
          <a:p>
            <a:r>
              <a:rPr lang="ko-KR" altLang="en-US" sz="2400" dirty="0"/>
              <a:t>주요 작업</a:t>
            </a:r>
            <a:r>
              <a:rPr lang="en-US" altLang="ko-KR" sz="2400" dirty="0"/>
              <a:t>: </a:t>
            </a:r>
          </a:p>
          <a:p>
            <a:pPr marL="0" indent="0">
              <a:buNone/>
            </a:pPr>
            <a:r>
              <a:rPr lang="en-US" altLang="ko-KR" sz="2400" dirty="0"/>
              <a:t> 1. Global Routing: </a:t>
            </a:r>
            <a:r>
              <a:rPr lang="ko-KR" altLang="en-US" sz="2400" dirty="0"/>
              <a:t>전체적인 신호 이동 경로를 대략적으로 계획</a:t>
            </a:r>
          </a:p>
          <a:p>
            <a:pPr marL="0" indent="0">
              <a:buNone/>
            </a:pPr>
            <a:r>
              <a:rPr lang="en-US" altLang="ko-KR" sz="2400" dirty="0"/>
              <a:t> 2. Detail Routing: </a:t>
            </a:r>
            <a:r>
              <a:rPr lang="ko-KR" altLang="en-US" sz="2400" dirty="0"/>
              <a:t>대략적으로 계획된 신호 이동 경로를 금속 레이어</a:t>
            </a:r>
            <a:r>
              <a:rPr lang="en-US" altLang="ko-KR" sz="2400" dirty="0"/>
              <a:t>(Metal Layer)</a:t>
            </a:r>
            <a:r>
              <a:rPr lang="ko-KR" altLang="en-US" sz="2400" dirty="0"/>
              <a:t>를 활용해 핀과 핀 사이의 물리적 전선을 연결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0023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5A5E81-7A50-D450-5AE5-0E0A3E714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Signoff (</a:t>
            </a:r>
            <a:r>
              <a:rPr lang="ko-KR" altLang="en-US" dirty="0"/>
              <a:t>최종 검증 및 최종 승인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9D9D3D-1CB1-D51A-A447-246106E78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ko-KR" altLang="en-US" dirty="0"/>
              <a:t>제조</a:t>
            </a:r>
            <a:r>
              <a:rPr lang="en-US" altLang="ko-KR" dirty="0"/>
              <a:t>(Tape-out) </a:t>
            </a:r>
            <a:r>
              <a:rPr lang="ko-KR" altLang="en-US" dirty="0"/>
              <a:t>단계로 넘어가기 전</a:t>
            </a:r>
            <a:r>
              <a:rPr lang="en-US" altLang="ko-KR" dirty="0"/>
              <a:t>, </a:t>
            </a:r>
            <a:r>
              <a:rPr lang="ko-KR" altLang="en-US" dirty="0"/>
              <a:t>설계에 오류나 규칙 위반이 없는지 최종 검증하는 단계이다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Physical Verification (</a:t>
            </a:r>
            <a:r>
              <a:rPr lang="ko-KR" altLang="en-US" dirty="0"/>
              <a:t>물리적 검증</a:t>
            </a:r>
            <a:r>
              <a:rPr lang="en-US" altLang="ko-KR" dirty="0"/>
              <a:t>): </a:t>
            </a:r>
          </a:p>
          <a:p>
            <a:r>
              <a:rPr lang="en-US" altLang="ko-KR" sz="2000" dirty="0"/>
              <a:t>DRC (Design Rule Check): </a:t>
            </a:r>
            <a:r>
              <a:rPr lang="ko-KR" altLang="en-US" sz="2000" dirty="0"/>
              <a:t>파운드리 공정 규격에 맞게 기하학적 패턴이 작성되었는지 확인</a:t>
            </a:r>
          </a:p>
          <a:p>
            <a:r>
              <a:rPr lang="en-US" altLang="ko-KR" sz="2000" dirty="0"/>
              <a:t>LVS (Layout Versus Schematic): </a:t>
            </a:r>
            <a:r>
              <a:rPr lang="ko-KR" altLang="en-US" sz="2000" dirty="0"/>
              <a:t>최종 배치 및 라우팅 된 레이아웃이 원래 회로도</a:t>
            </a:r>
            <a:r>
              <a:rPr lang="en-US" altLang="ko-KR" sz="2000" dirty="0"/>
              <a:t>(Schematic)</a:t>
            </a:r>
            <a:r>
              <a:rPr lang="ko-KR" altLang="en-US" sz="2000" dirty="0"/>
              <a:t>와 동일한지 비교</a:t>
            </a:r>
            <a:endParaRPr lang="en-US" altLang="ko-KR" sz="2000" dirty="0"/>
          </a:p>
          <a:p>
            <a:endParaRPr lang="ko-KR" altLang="en-US" dirty="0"/>
          </a:p>
          <a:p>
            <a:r>
              <a:rPr lang="en-US" altLang="ko-KR" dirty="0"/>
              <a:t>Static Timing Analysis (STA, </a:t>
            </a:r>
            <a:r>
              <a:rPr lang="ko-KR" altLang="en-US" dirty="0"/>
              <a:t>정적 타이밍 분석</a:t>
            </a:r>
            <a:r>
              <a:rPr lang="en-US" altLang="ko-KR" dirty="0"/>
              <a:t>): </a:t>
            </a:r>
            <a:r>
              <a:rPr lang="ko-KR" altLang="en-US" sz="2400" dirty="0"/>
              <a:t>칩이 목표 동작 주파수</a:t>
            </a:r>
            <a:r>
              <a:rPr lang="en-US" altLang="ko-KR" sz="2400" dirty="0"/>
              <a:t>(Clock Speed)</a:t>
            </a:r>
            <a:r>
              <a:rPr lang="ko-KR" altLang="en-US" sz="2400" dirty="0"/>
              <a:t>에서 동작할 수 있는지 </a:t>
            </a:r>
            <a:r>
              <a:rPr lang="en-US" altLang="ko-KR" sz="2400" dirty="0"/>
              <a:t>Setup/Hold Time </a:t>
            </a:r>
            <a:r>
              <a:rPr lang="ko-KR" altLang="en-US" sz="2400" dirty="0"/>
              <a:t>등을 엄격하게 검증</a:t>
            </a:r>
          </a:p>
          <a:p>
            <a:endParaRPr lang="ko-KR" altLang="en-US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06625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443</Words>
  <Application>Microsoft Office PowerPoint</Application>
  <PresentationFormat>와이드스크린</PresentationFormat>
  <Paragraphs>40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P&amp;R 과정의 Flow Map</vt:lpstr>
      <vt:lpstr>1. Floor planning (계층 설계)</vt:lpstr>
      <vt:lpstr>2. Placement (배치)</vt:lpstr>
      <vt:lpstr>3. Clock Tree Synthesis (CTS, 클록 트리 합성)</vt:lpstr>
      <vt:lpstr>4. Routing (라우팅 / 배선)</vt:lpstr>
      <vt:lpstr>5. Signoff (최종 검증 및 최종 승인)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konyang</dc:creator>
  <cp:lastModifiedBy>konyang</cp:lastModifiedBy>
  <cp:revision>6</cp:revision>
  <dcterms:created xsi:type="dcterms:W3CDTF">2026-10-06T01:48:55Z</dcterms:created>
  <dcterms:modified xsi:type="dcterms:W3CDTF">2026-10-06T02:04:06Z</dcterms:modified>
</cp:coreProperties>
</file>